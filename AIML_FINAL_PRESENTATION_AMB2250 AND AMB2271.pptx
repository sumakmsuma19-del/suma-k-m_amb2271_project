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71" r:id="rId12"/>
    <p:sldId id="272" r:id="rId13"/>
    <p:sldId id="267" r:id="rId14"/>
    <p:sldId id="275" r:id="rId15"/>
    <p:sldId id="266" r:id="rId16"/>
    <p:sldId id="268" r:id="rId17"/>
    <p:sldId id="269"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11"/>
    <p:restoredTop sz="94610"/>
  </p:normalViewPr>
  <p:slideViewPr>
    <p:cSldViewPr snapToGrid="0" snapToObjects="1">
      <p:cViewPr varScale="1">
        <p:scale>
          <a:sx n="118" d="100"/>
          <a:sy n="118" d="100"/>
        </p:scale>
        <p:origin x="-594" y="630"/>
      </p:cViewPr>
      <p:guideLst>
        <p:guide orient="horz" pos="162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pPr/>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548640" y="-548640"/>
            <a:ext cx="2560320" cy="2560320"/>
          </a:xfrm>
          <a:prstGeom prst="ellipse">
            <a:avLst/>
          </a:prstGeom>
          <a:solidFill>
            <a:srgbClr val="276749">
              <a:alpha val="50000"/>
            </a:srgbClr>
          </a:solidFill>
        </p:spPr>
      </p:sp>
      <p:sp>
        <p:nvSpPr>
          <p:cNvPr id="3" name="Shape 1"/>
          <p:cNvSpPr/>
          <p:nvPr/>
        </p:nvSpPr>
        <p:spPr>
          <a:xfrm>
            <a:off x="7132320" y="3200400"/>
            <a:ext cx="3200400" cy="3200400"/>
          </a:xfrm>
          <a:prstGeom prst="ellipse">
            <a:avLst/>
          </a:prstGeom>
          <a:solidFill>
            <a:srgbClr val="276749">
              <a:alpha val="40000"/>
            </a:srgbClr>
          </a:solidFill>
        </p:spPr>
      </p:sp>
      <p:sp>
        <p:nvSpPr>
          <p:cNvPr id="4" name="Shape 2"/>
          <p:cNvSpPr/>
          <p:nvPr/>
        </p:nvSpPr>
        <p:spPr>
          <a:xfrm>
            <a:off x="7772400" y="3840480"/>
            <a:ext cx="2011680" cy="2011680"/>
          </a:xfrm>
          <a:prstGeom prst="ellipse">
            <a:avLst/>
          </a:prstGeom>
          <a:solidFill>
            <a:srgbClr val="4CAF7A">
              <a:alpha val="45000"/>
            </a:srgbClr>
          </a:solidFill>
        </p:spPr>
      </p:sp>
      <p:sp>
        <p:nvSpPr>
          <p:cNvPr id="5" name="Shape 3"/>
          <p:cNvSpPr/>
          <p:nvPr/>
        </p:nvSpPr>
        <p:spPr>
          <a:xfrm>
            <a:off x="0" y="0"/>
            <a:ext cx="9144000" cy="548640"/>
          </a:xfrm>
          <a:prstGeom prst="rect">
            <a:avLst/>
          </a:prstGeom>
          <a:solidFill>
            <a:srgbClr val="276749"/>
          </a:solidFill>
        </p:spPr>
      </p:sp>
      <p:sp>
        <p:nvSpPr>
          <p:cNvPr id="6" name="Text 4"/>
          <p:cNvSpPr/>
          <p:nvPr/>
        </p:nvSpPr>
        <p:spPr>
          <a:xfrm>
            <a:off x="182880" y="0"/>
            <a:ext cx="8778240" cy="548640"/>
          </a:xfrm>
          <a:prstGeom prst="rect">
            <a:avLst/>
          </a:prstGeom>
          <a:noFill/>
        </p:spPr>
        <p:txBody>
          <a:bodyPr wrap="square" rtlCol="0" anchor="ctr"/>
          <a:lstStyle/>
          <a:p>
            <a:pPr marL="0" indent="0" algn="ctr">
              <a:buNone/>
            </a:pPr>
            <a:r>
              <a:rPr lang="en-US" sz="950" b="1" kern="0" spc="100" dirty="0">
                <a:solidFill>
                  <a:srgbClr val="A8D5B5"/>
                </a:solidFill>
                <a:latin typeface="Calibri" panose="020F0502020204030204" pitchFamily="34" charset="0"/>
                <a:ea typeface="Calibri" panose="020F0502020204030204" pitchFamily="34" charset="-122"/>
                <a:cs typeface="Calibri" panose="020F0502020204030204" pitchFamily="34" charset="-120"/>
              </a:rPr>
              <a:t>UNIVERSITY OF AGRICULTURAL SCIENCES, BANGALORE — COLLEGE OF AGRICULTURE, GKVK</a:t>
            </a:r>
            <a:endParaRPr lang="en-US" sz="950" dirty="0"/>
          </a:p>
        </p:txBody>
      </p:sp>
      <p:sp>
        <p:nvSpPr>
          <p:cNvPr id="7" name="Text 5"/>
          <p:cNvSpPr/>
          <p:nvPr/>
        </p:nvSpPr>
        <p:spPr>
          <a:xfrm>
            <a:off x="966470" y="2545715"/>
            <a:ext cx="7315200" cy="368935"/>
          </a:xfrm>
          <a:prstGeom prst="rect">
            <a:avLst/>
          </a:prstGeom>
          <a:noFill/>
        </p:spPr>
        <p:txBody>
          <a:bodyPr wrap="square" rtlCol="0" anchor="ctr"/>
          <a:lstStyle/>
          <a:p>
            <a:pPr marL="0" indent="0" algn="ctr">
              <a:buNone/>
            </a:pPr>
            <a:r>
              <a:rPr lang="en-US" sz="1000" dirty="0">
                <a:solidFill>
                  <a:srgbClr val="A8D5B5"/>
                </a:solidFill>
                <a:latin typeface="Calibri" panose="020F0502020204030204" pitchFamily="34" charset="0"/>
                <a:ea typeface="Calibri" panose="020F0502020204030204" pitchFamily="34" charset="-122"/>
                <a:cs typeface="Calibri" panose="020F0502020204030204" pitchFamily="34" charset="-120"/>
              </a:rPr>
              <a:t>EAI421 — APPLICATION OF ARTIFICIAL INTELLIGENCE AND MACHINE LEARNING</a:t>
            </a:r>
            <a:endParaRPr lang="en-US" sz="1000" dirty="0"/>
          </a:p>
        </p:txBody>
      </p:sp>
      <p:sp>
        <p:nvSpPr>
          <p:cNvPr id="8" name="Shape 6"/>
          <p:cNvSpPr/>
          <p:nvPr/>
        </p:nvSpPr>
        <p:spPr>
          <a:xfrm>
            <a:off x="457200" y="2933700"/>
            <a:ext cx="8083550" cy="648335"/>
          </a:xfrm>
          <a:prstGeom prst="rect">
            <a:avLst/>
          </a:prstGeom>
          <a:solidFill>
            <a:srgbClr val="FFFFFF">
              <a:alpha val="92000"/>
            </a:srgbClr>
          </a:solidFill>
          <a:effectLst>
            <a:outerShdw blurRad="101600" dist="38100" dir="8100000" algn="bl" rotWithShape="0">
              <a:srgbClr val="000000">
                <a:alpha val="12000"/>
              </a:srgbClr>
            </a:outerShdw>
          </a:effectLst>
        </p:spPr>
        <p:txBody>
          <a:bodyPr/>
          <a:lstStyle/>
          <a:p>
            <a:endParaRPr lang="en-US"/>
          </a:p>
          <a:p>
            <a:endParaRPr lang="en-US"/>
          </a:p>
          <a:p>
            <a:endParaRPr lang="en-US"/>
          </a:p>
        </p:txBody>
      </p:sp>
      <p:sp>
        <p:nvSpPr>
          <p:cNvPr id="9" name="Text 7"/>
          <p:cNvSpPr/>
          <p:nvPr/>
        </p:nvSpPr>
        <p:spPr>
          <a:xfrm>
            <a:off x="457200" y="1158875"/>
            <a:ext cx="8229600" cy="2807970"/>
          </a:xfrm>
          <a:prstGeom prst="rect">
            <a:avLst/>
          </a:prstGeom>
          <a:noFill/>
        </p:spPr>
        <p:txBody>
          <a:bodyPr wrap="square" rtlCol="0" anchor="ctr"/>
          <a:lstStyle/>
          <a:p>
            <a:pPr marL="0" indent="0" algn="just">
              <a:buNone/>
            </a:pPr>
            <a:r>
              <a:rPr lang="en-IN" altLang="en-US" sz="1400" b="1" dirty="0">
                <a:solidFill>
                  <a:srgbClr val="1A4731"/>
                </a:solidFill>
                <a:latin typeface="Georgia" panose="02040502050405020303" pitchFamily="34" charset="0"/>
                <a:ea typeface="Georgia" panose="02040502050405020303" pitchFamily="34" charset="-122"/>
                <a:cs typeface="Georgia" panose="02040502050405020303" pitchFamily="34" charset="-120"/>
              </a:rPr>
              <a:t>  </a:t>
            </a:r>
          </a:p>
          <a:p>
            <a:pPr marL="0" indent="0" algn="just">
              <a:buNone/>
            </a:pPr>
            <a:endParaRPr lang="en-IN" altLang="en-US" sz="1400" b="1" dirty="0">
              <a:solidFill>
                <a:srgbClr val="1A4731"/>
              </a:solidFill>
              <a:latin typeface="Georgia" panose="02040502050405020303" pitchFamily="34" charset="0"/>
              <a:ea typeface="Georgia" panose="02040502050405020303" pitchFamily="34" charset="-122"/>
              <a:cs typeface="Georgia" panose="02040502050405020303" pitchFamily="34" charset="-120"/>
            </a:endParaRPr>
          </a:p>
          <a:p>
            <a:pPr marL="0" indent="0" algn="just">
              <a:buNone/>
            </a:pPr>
            <a:endParaRPr lang="en-IN" altLang="en-US" sz="1400" b="1" dirty="0">
              <a:solidFill>
                <a:srgbClr val="1A4731"/>
              </a:solidFill>
              <a:latin typeface="Georgia" panose="02040502050405020303" pitchFamily="34" charset="0"/>
              <a:ea typeface="Georgia" panose="02040502050405020303" pitchFamily="34" charset="-122"/>
              <a:cs typeface="Georgia" panose="02040502050405020303" pitchFamily="34" charset="-120"/>
            </a:endParaRPr>
          </a:p>
          <a:p>
            <a:pPr marL="0" indent="0" algn="just">
              <a:buNone/>
            </a:pPr>
            <a:endParaRPr lang="en-US" sz="1400" b="1" dirty="0">
              <a:solidFill>
                <a:srgbClr val="1A4731"/>
              </a:solidFill>
              <a:latin typeface="Georgia" panose="02040502050405020303" pitchFamily="34" charset="0"/>
              <a:ea typeface="Georgia" panose="02040502050405020303" pitchFamily="34" charset="-122"/>
              <a:cs typeface="Georgia" panose="02040502050405020303" pitchFamily="34" charset="-120"/>
            </a:endParaRPr>
          </a:p>
          <a:p>
            <a:pPr marL="0" indent="0" algn="just">
              <a:buNone/>
            </a:pPr>
            <a:endParaRPr lang="en-US" sz="1400" b="1" dirty="0">
              <a:solidFill>
                <a:srgbClr val="1A4731"/>
              </a:solidFill>
              <a:latin typeface="Georgia" panose="02040502050405020303" pitchFamily="34" charset="0"/>
              <a:ea typeface="Georgia" panose="02040502050405020303" pitchFamily="34" charset="-122"/>
              <a:cs typeface="Georgia" panose="02040502050405020303" pitchFamily="34" charset="-120"/>
            </a:endParaRPr>
          </a:p>
          <a:p>
            <a:pPr marL="0" indent="0" algn="just">
              <a:buNone/>
            </a:pPr>
            <a:endParaRPr lang="en-US" sz="1400" b="1" dirty="0">
              <a:solidFill>
                <a:srgbClr val="1A4731"/>
              </a:solidFill>
              <a:latin typeface="Georgia" panose="02040502050405020303" pitchFamily="34" charset="0"/>
              <a:ea typeface="Georgia" panose="02040502050405020303" pitchFamily="34" charset="-122"/>
              <a:cs typeface="Georgia" panose="02040502050405020303" pitchFamily="34" charset="-120"/>
            </a:endParaRPr>
          </a:p>
          <a:p>
            <a:pPr marL="0" indent="0" algn="just">
              <a:buNone/>
            </a:pPr>
            <a:r>
              <a:rPr lang="en-US" sz="1400" b="1" dirty="0">
                <a:solidFill>
                  <a:srgbClr val="1A4731"/>
                </a:solidFill>
                <a:latin typeface="Georgia" panose="02040502050405020303" pitchFamily="34" charset="0"/>
                <a:ea typeface="Georgia" panose="02040502050405020303" pitchFamily="34" charset="-122"/>
                <a:cs typeface="Georgia" panose="02040502050405020303" pitchFamily="34" charset="-120"/>
              </a:rPr>
              <a:t>Fertilizer Recommendation</a:t>
            </a:r>
            <a:r>
              <a:rPr lang="en-IN" altLang="en-US" sz="1400" b="1" dirty="0">
                <a:solidFill>
                  <a:srgbClr val="1A4731"/>
                </a:solidFill>
                <a:latin typeface="Georgia" panose="02040502050405020303" pitchFamily="34" charset="0"/>
                <a:ea typeface="Georgia" panose="02040502050405020303" pitchFamily="34" charset="-122"/>
                <a:cs typeface="Georgia" panose="02040502050405020303" pitchFamily="34" charset="-120"/>
              </a:rPr>
              <a:t> </a:t>
            </a:r>
            <a:r>
              <a:rPr lang="en-US" sz="1400" b="1" dirty="0">
                <a:solidFill>
                  <a:srgbClr val="1A4731"/>
                </a:solidFill>
                <a:latin typeface="Georgia" panose="02040502050405020303" pitchFamily="34" charset="0"/>
                <a:ea typeface="Georgia" panose="02040502050405020303" pitchFamily="34" charset="-122"/>
                <a:cs typeface="Georgia" panose="02040502050405020303" pitchFamily="34" charset="-120"/>
              </a:rPr>
              <a:t>Based on </a:t>
            </a:r>
            <a:r>
              <a:rPr lang="en-US" sz="1400" b="1">
                <a:solidFill>
                  <a:srgbClr val="1A4731"/>
                </a:solidFill>
                <a:latin typeface="Georgia" panose="02040502050405020303" pitchFamily="34" charset="0"/>
                <a:ea typeface="Georgia" panose="02040502050405020303" pitchFamily="34" charset="-122"/>
                <a:cs typeface="Georgia" panose="02040502050405020303" pitchFamily="34" charset="-120"/>
              </a:rPr>
              <a:t>Temperature,Humidity</a:t>
            </a:r>
            <a:r>
              <a:rPr lang="en-IN" sz="1400" b="1" dirty="0">
                <a:solidFill>
                  <a:srgbClr val="1A4731"/>
                </a:solidFill>
                <a:latin typeface="Georgia" panose="02040502050405020303" pitchFamily="34" charset="0"/>
                <a:ea typeface="Georgia" panose="02040502050405020303" pitchFamily="34" charset="-122"/>
                <a:cs typeface="Georgia" panose="02040502050405020303" pitchFamily="34" charset="-120"/>
              </a:rPr>
              <a:t>,Soil moisture</a:t>
            </a:r>
            <a:r>
              <a:rPr lang="en-US" sz="1400" b="1" dirty="0">
                <a:solidFill>
                  <a:srgbClr val="1A4731"/>
                </a:solidFill>
                <a:latin typeface="Georgia" panose="02040502050405020303" pitchFamily="34" charset="0"/>
                <a:ea typeface="Georgia" panose="02040502050405020303" pitchFamily="34" charset="-122"/>
                <a:cs typeface="Georgia" panose="02040502050405020303" pitchFamily="34" charset="-120"/>
              </a:rPr>
              <a:t>,Soil Type, </a:t>
            </a:r>
          </a:p>
          <a:p>
            <a:pPr marL="0" indent="0" algn="ctr">
              <a:buNone/>
            </a:pPr>
            <a:r>
              <a:rPr lang="en-US" sz="1400" b="1" dirty="0">
                <a:solidFill>
                  <a:srgbClr val="1A4731"/>
                </a:solidFill>
                <a:latin typeface="Georgia" panose="02040502050405020303" pitchFamily="34" charset="0"/>
                <a:ea typeface="Georgia" panose="02040502050405020303" pitchFamily="34" charset="-122"/>
                <a:cs typeface="Georgia" panose="02040502050405020303" pitchFamily="34" charset="-120"/>
              </a:rPr>
              <a:t>Crop Type and NPK</a:t>
            </a:r>
            <a:endParaRPr lang="en-US" sz="1400" dirty="0"/>
          </a:p>
        </p:txBody>
      </p:sp>
      <p:sp>
        <p:nvSpPr>
          <p:cNvPr id="11" name="Text 9"/>
          <p:cNvSpPr/>
          <p:nvPr/>
        </p:nvSpPr>
        <p:spPr>
          <a:xfrm>
            <a:off x="914400" y="3512820"/>
            <a:ext cx="7315200" cy="46609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Sindhushree K  (AMB2250)   |   Suma K M  (AMB2271)</a:t>
            </a:r>
            <a:endParaRPr lang="en-US" sz="1400" dirty="0"/>
          </a:p>
        </p:txBody>
      </p:sp>
      <p:sp>
        <p:nvSpPr>
          <p:cNvPr id="12" name="Text 10"/>
          <p:cNvSpPr/>
          <p:nvPr/>
        </p:nvSpPr>
        <p:spPr>
          <a:xfrm>
            <a:off x="914400" y="3938905"/>
            <a:ext cx="7315200" cy="379730"/>
          </a:xfrm>
          <a:prstGeom prst="rect">
            <a:avLst/>
          </a:prstGeom>
          <a:noFill/>
        </p:spPr>
        <p:txBody>
          <a:bodyPr wrap="square" rtlCol="0" anchor="ctr"/>
          <a:lstStyle/>
          <a:p>
            <a:pPr marL="0" indent="0" algn="ctr">
              <a:buNone/>
            </a:pPr>
            <a:r>
              <a:rPr lang="en-US" sz="1100" dirty="0">
                <a:solidFill>
                  <a:srgbClr val="A8D5B5"/>
                </a:solidFill>
                <a:latin typeface="Calibri" panose="020F0502020204030204" pitchFamily="34" charset="0"/>
                <a:ea typeface="Calibri" panose="020F0502020204030204" pitchFamily="34" charset="-122"/>
                <a:cs typeface="Calibri" panose="020F0502020204030204" pitchFamily="34" charset="-120"/>
              </a:rPr>
              <a:t>VI B.Sc. (Hons.) Agriculture  —  COA, GKVK, Bangalore-65</a:t>
            </a:r>
            <a:endParaRPr lang="en-US" sz="1100" dirty="0"/>
          </a:p>
        </p:txBody>
      </p:sp>
      <p:sp>
        <p:nvSpPr>
          <p:cNvPr id="13" name="Shape 11"/>
          <p:cNvSpPr/>
          <p:nvPr/>
        </p:nvSpPr>
        <p:spPr>
          <a:xfrm>
            <a:off x="2743200" y="4389755"/>
            <a:ext cx="3657600" cy="292100"/>
          </a:xfrm>
          <a:prstGeom prst="rect">
            <a:avLst/>
          </a:prstGeom>
          <a:solidFill>
            <a:srgbClr val="276749"/>
          </a:solidFill>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2743200" y="4377690"/>
            <a:ext cx="3657600" cy="615950"/>
          </a:xfrm>
          <a:prstGeom prst="rect">
            <a:avLst/>
          </a:prstGeom>
          <a:noFill/>
        </p:spPr>
        <p:txBody>
          <a:bodyPr wrap="square"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Guide: Dr. Sailaja Thota</a:t>
            </a:r>
            <a:endParaRPr lang="en-US" sz="1000" dirty="0"/>
          </a:p>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Course Teacher — Application of AI &amp; ML</a:t>
            </a:r>
            <a:endParaRPr lang="en-US" sz="1000" dirty="0"/>
          </a:p>
        </p:txBody>
      </p:sp>
      <p:pic>
        <p:nvPicPr>
          <p:cNvPr id="15" name="Picture 14"/>
          <p:cNvPicPr/>
          <p:nvPr/>
        </p:nvPicPr>
        <p:blipFill>
          <a:blip r:embed="rId3"/>
          <a:stretch>
            <a:fillRect/>
          </a:stretch>
        </p:blipFill>
        <p:spPr>
          <a:xfrm>
            <a:off x="3531870" y="751205"/>
            <a:ext cx="2214245" cy="17754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9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76749"/>
          </a:solidFill>
        </p:spPr>
      </p:sp>
      <p:sp>
        <p:nvSpPr>
          <p:cNvPr id="3" name="Text 1"/>
          <p:cNvSpPr/>
          <p:nvPr/>
        </p:nvSpPr>
        <p:spPr>
          <a:xfrm>
            <a:off x="320040" y="0"/>
            <a:ext cx="8229600" cy="658368"/>
          </a:xfrm>
          <a:prstGeom prst="rect">
            <a:avLst/>
          </a:prstGeom>
          <a:noFill/>
        </p:spPr>
        <p:txBody>
          <a:bodyPr wrap="square" lIns="0" tIns="0" rIns="0" bIns="0"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Agenda</a:t>
            </a:r>
            <a:endParaRPr lang="en-US" sz="2200" dirty="0"/>
          </a:p>
        </p:txBody>
      </p:sp>
      <p:sp>
        <p:nvSpPr>
          <p:cNvPr id="4" name="Shape 2"/>
          <p:cNvSpPr/>
          <p:nvPr/>
        </p:nvSpPr>
        <p:spPr>
          <a:xfrm>
            <a:off x="0" y="4983480"/>
            <a:ext cx="9144000" cy="164592"/>
          </a:xfrm>
          <a:prstGeom prst="rect">
            <a:avLst/>
          </a:prstGeom>
          <a:solidFill>
            <a:srgbClr val="1A4731"/>
          </a:solidFill>
        </p:spPr>
      </p:sp>
      <p:sp>
        <p:nvSpPr>
          <p:cNvPr id="5" name="Text 3"/>
          <p:cNvSpPr/>
          <p:nvPr/>
        </p:nvSpPr>
        <p:spPr>
          <a:xfrm>
            <a:off x="182880" y="4974336"/>
            <a:ext cx="8778240" cy="164592"/>
          </a:xfrm>
          <a:prstGeom prst="rect">
            <a:avLst/>
          </a:prstGeom>
          <a:noFill/>
        </p:spPr>
        <p:txBody>
          <a:bodyPr wrap="square" rtlCol="0" anchor="ctr"/>
          <a:lstStyle/>
          <a:p>
            <a:pPr marL="0" indent="0">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EAI421 – Application of AI &amp; ML  |  UAS Bangalore-560065</a:t>
            </a:r>
            <a:endParaRPr lang="en-US" sz="800" dirty="0"/>
          </a:p>
        </p:txBody>
      </p:sp>
      <p:sp>
        <p:nvSpPr>
          <p:cNvPr id="6" name="Shape 4"/>
          <p:cNvSpPr/>
          <p:nvPr/>
        </p:nvSpPr>
        <p:spPr>
          <a:xfrm>
            <a:off x="320040" y="1051560"/>
            <a:ext cx="411480" cy="384048"/>
          </a:xfrm>
          <a:prstGeom prst="rect">
            <a:avLst/>
          </a:prstGeom>
          <a:solidFill>
            <a:srgbClr val="276749"/>
          </a:solidFill>
          <a:effectLst>
            <a:outerShdw blurRad="101600" dist="38100" dir="8100000" algn="bl" rotWithShape="0">
              <a:srgbClr val="000000">
                <a:alpha val="12000"/>
              </a:srgbClr>
            </a:outerShdw>
          </a:effectLst>
        </p:spPr>
      </p:sp>
      <p:sp>
        <p:nvSpPr>
          <p:cNvPr id="7" name="Text 5"/>
          <p:cNvSpPr/>
          <p:nvPr/>
        </p:nvSpPr>
        <p:spPr>
          <a:xfrm>
            <a:off x="320040" y="1051560"/>
            <a:ext cx="411480" cy="3840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100" dirty="0"/>
          </a:p>
        </p:txBody>
      </p:sp>
      <p:sp>
        <p:nvSpPr>
          <p:cNvPr id="8" name="Text 6"/>
          <p:cNvSpPr/>
          <p:nvPr/>
        </p:nvSpPr>
        <p:spPr>
          <a:xfrm>
            <a:off x="804672" y="1069848"/>
            <a:ext cx="3383280" cy="347472"/>
          </a:xfrm>
          <a:prstGeom prst="rect">
            <a:avLst/>
          </a:prstGeom>
          <a:noFill/>
        </p:spPr>
        <p:txBody>
          <a:bodyPr wrap="square" rtlCol="0" anchor="ctr"/>
          <a:lstStyle/>
          <a:p>
            <a:pPr marL="0" indent="0">
              <a:buNone/>
            </a:pPr>
            <a:r>
              <a:rPr lang="en-US" sz="1300" dirty="0">
                <a:solidFill>
                  <a:srgbClr val="1C2C24"/>
                </a:solidFill>
                <a:latin typeface="Calibri" panose="020F0502020204030204" pitchFamily="34" charset="0"/>
                <a:ea typeface="Calibri" panose="020F0502020204030204" pitchFamily="34" charset="-122"/>
                <a:cs typeface="Calibri" panose="020F0502020204030204" pitchFamily="34" charset="-120"/>
              </a:rPr>
              <a:t>Introduction</a:t>
            </a:r>
            <a:endParaRPr lang="en-US" sz="1300" dirty="0"/>
          </a:p>
        </p:txBody>
      </p:sp>
      <p:sp>
        <p:nvSpPr>
          <p:cNvPr id="9" name="Shape 7"/>
          <p:cNvSpPr/>
          <p:nvPr/>
        </p:nvSpPr>
        <p:spPr>
          <a:xfrm>
            <a:off x="320040" y="1664208"/>
            <a:ext cx="411480" cy="384048"/>
          </a:xfrm>
          <a:prstGeom prst="rect">
            <a:avLst/>
          </a:prstGeom>
          <a:solidFill>
            <a:srgbClr val="276749"/>
          </a:solidFill>
          <a:effectLst>
            <a:outerShdw blurRad="101600" dist="38100" dir="8100000" algn="bl" rotWithShape="0">
              <a:srgbClr val="000000">
                <a:alpha val="12000"/>
              </a:srgbClr>
            </a:outerShdw>
          </a:effectLst>
        </p:spPr>
      </p:sp>
      <p:sp>
        <p:nvSpPr>
          <p:cNvPr id="10" name="Text 8"/>
          <p:cNvSpPr/>
          <p:nvPr/>
        </p:nvSpPr>
        <p:spPr>
          <a:xfrm>
            <a:off x="320040" y="1664208"/>
            <a:ext cx="411480" cy="3840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100" dirty="0"/>
          </a:p>
        </p:txBody>
      </p:sp>
      <p:sp>
        <p:nvSpPr>
          <p:cNvPr id="11" name="Text 9"/>
          <p:cNvSpPr/>
          <p:nvPr/>
        </p:nvSpPr>
        <p:spPr>
          <a:xfrm>
            <a:off x="804672" y="1682496"/>
            <a:ext cx="3383280" cy="347472"/>
          </a:xfrm>
          <a:prstGeom prst="rect">
            <a:avLst/>
          </a:prstGeom>
          <a:noFill/>
        </p:spPr>
        <p:txBody>
          <a:bodyPr wrap="square" rtlCol="0" anchor="ctr"/>
          <a:lstStyle/>
          <a:p>
            <a:pPr marL="0" indent="0">
              <a:buNone/>
            </a:pPr>
            <a:r>
              <a:rPr lang="en-US" sz="1300" dirty="0">
                <a:solidFill>
                  <a:srgbClr val="1C2C24"/>
                </a:solidFill>
                <a:latin typeface="Calibri" panose="020F0502020204030204" pitchFamily="34" charset="0"/>
                <a:ea typeface="Calibri" panose="020F0502020204030204" pitchFamily="34" charset="-122"/>
                <a:cs typeface="Calibri" panose="020F0502020204030204" pitchFamily="34" charset="-120"/>
              </a:rPr>
              <a:t>Objective</a:t>
            </a:r>
            <a:endParaRPr lang="en-US" sz="1300" dirty="0"/>
          </a:p>
        </p:txBody>
      </p:sp>
      <p:sp>
        <p:nvSpPr>
          <p:cNvPr id="12" name="Shape 10"/>
          <p:cNvSpPr/>
          <p:nvPr/>
        </p:nvSpPr>
        <p:spPr>
          <a:xfrm>
            <a:off x="320040" y="2276856"/>
            <a:ext cx="411480" cy="384048"/>
          </a:xfrm>
          <a:prstGeom prst="rect">
            <a:avLst/>
          </a:prstGeom>
          <a:solidFill>
            <a:srgbClr val="276749"/>
          </a:solidFill>
          <a:effectLst>
            <a:outerShdw blurRad="101600" dist="38100" dir="8100000" algn="bl" rotWithShape="0">
              <a:srgbClr val="000000">
                <a:alpha val="12000"/>
              </a:srgbClr>
            </a:outerShdw>
          </a:effectLst>
        </p:spPr>
      </p:sp>
      <p:sp>
        <p:nvSpPr>
          <p:cNvPr id="13" name="Text 11"/>
          <p:cNvSpPr/>
          <p:nvPr/>
        </p:nvSpPr>
        <p:spPr>
          <a:xfrm>
            <a:off x="320040" y="2276856"/>
            <a:ext cx="411480" cy="3840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100" dirty="0"/>
          </a:p>
        </p:txBody>
      </p:sp>
      <p:sp>
        <p:nvSpPr>
          <p:cNvPr id="14" name="Text 12"/>
          <p:cNvSpPr/>
          <p:nvPr/>
        </p:nvSpPr>
        <p:spPr>
          <a:xfrm>
            <a:off x="804672" y="2295144"/>
            <a:ext cx="3383280" cy="347472"/>
          </a:xfrm>
          <a:prstGeom prst="rect">
            <a:avLst/>
          </a:prstGeom>
          <a:noFill/>
        </p:spPr>
        <p:txBody>
          <a:bodyPr wrap="square" rtlCol="0" anchor="ctr"/>
          <a:lstStyle/>
          <a:p>
            <a:pPr marL="0" indent="0">
              <a:buNone/>
            </a:pPr>
            <a:r>
              <a:rPr lang="en-US" sz="1300" dirty="0">
                <a:solidFill>
                  <a:srgbClr val="1C2C24"/>
                </a:solidFill>
                <a:latin typeface="Calibri" panose="020F0502020204030204" pitchFamily="34" charset="0"/>
                <a:ea typeface="Calibri" panose="020F0502020204030204" pitchFamily="34" charset="-122"/>
                <a:cs typeface="Calibri" panose="020F0502020204030204" pitchFamily="34" charset="-120"/>
              </a:rPr>
              <a:t>Literature Review</a:t>
            </a:r>
            <a:endParaRPr lang="en-US" sz="1300" dirty="0"/>
          </a:p>
        </p:txBody>
      </p:sp>
      <p:sp>
        <p:nvSpPr>
          <p:cNvPr id="15" name="Shape 13"/>
          <p:cNvSpPr/>
          <p:nvPr/>
        </p:nvSpPr>
        <p:spPr>
          <a:xfrm>
            <a:off x="320040" y="2889504"/>
            <a:ext cx="411480" cy="384048"/>
          </a:xfrm>
          <a:prstGeom prst="rect">
            <a:avLst/>
          </a:prstGeom>
          <a:solidFill>
            <a:srgbClr val="276749"/>
          </a:solidFill>
          <a:effectLst>
            <a:outerShdw blurRad="101600" dist="38100" dir="8100000" algn="bl" rotWithShape="0">
              <a:srgbClr val="000000">
                <a:alpha val="12000"/>
              </a:srgbClr>
            </a:outerShdw>
          </a:effectLst>
        </p:spPr>
      </p:sp>
      <p:sp>
        <p:nvSpPr>
          <p:cNvPr id="16" name="Text 14"/>
          <p:cNvSpPr/>
          <p:nvPr/>
        </p:nvSpPr>
        <p:spPr>
          <a:xfrm>
            <a:off x="320040" y="2889504"/>
            <a:ext cx="411480" cy="3840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100" dirty="0"/>
          </a:p>
        </p:txBody>
      </p:sp>
      <p:sp>
        <p:nvSpPr>
          <p:cNvPr id="17" name="Text 15"/>
          <p:cNvSpPr/>
          <p:nvPr/>
        </p:nvSpPr>
        <p:spPr>
          <a:xfrm>
            <a:off x="804672" y="2907792"/>
            <a:ext cx="3383280" cy="347472"/>
          </a:xfrm>
          <a:prstGeom prst="rect">
            <a:avLst/>
          </a:prstGeom>
          <a:noFill/>
        </p:spPr>
        <p:txBody>
          <a:bodyPr wrap="square" rtlCol="0" anchor="ctr"/>
          <a:lstStyle/>
          <a:p>
            <a:pPr marL="0" indent="0">
              <a:buNone/>
            </a:pPr>
            <a:r>
              <a:rPr lang="en-US" sz="1300" dirty="0">
                <a:solidFill>
                  <a:srgbClr val="1C2C24"/>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1300" dirty="0"/>
          </a:p>
        </p:txBody>
      </p:sp>
      <p:sp>
        <p:nvSpPr>
          <p:cNvPr id="18" name="Shape 16"/>
          <p:cNvSpPr/>
          <p:nvPr/>
        </p:nvSpPr>
        <p:spPr>
          <a:xfrm>
            <a:off x="320040" y="3502152"/>
            <a:ext cx="411480" cy="384048"/>
          </a:xfrm>
          <a:prstGeom prst="rect">
            <a:avLst/>
          </a:prstGeom>
          <a:solidFill>
            <a:srgbClr val="276749"/>
          </a:solidFill>
          <a:effectLst>
            <a:outerShdw blurRad="101600" dist="38100" dir="8100000" algn="bl" rotWithShape="0">
              <a:srgbClr val="000000">
                <a:alpha val="12000"/>
              </a:srgbClr>
            </a:outerShdw>
          </a:effectLst>
        </p:spPr>
      </p:sp>
      <p:sp>
        <p:nvSpPr>
          <p:cNvPr id="19" name="Text 17"/>
          <p:cNvSpPr/>
          <p:nvPr/>
        </p:nvSpPr>
        <p:spPr>
          <a:xfrm>
            <a:off x="320040" y="3502152"/>
            <a:ext cx="411480" cy="3840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100" dirty="0"/>
          </a:p>
        </p:txBody>
      </p:sp>
      <p:sp>
        <p:nvSpPr>
          <p:cNvPr id="20" name="Text 18"/>
          <p:cNvSpPr/>
          <p:nvPr/>
        </p:nvSpPr>
        <p:spPr>
          <a:xfrm>
            <a:off x="804672" y="3520440"/>
            <a:ext cx="3383280" cy="347472"/>
          </a:xfrm>
          <a:prstGeom prst="rect">
            <a:avLst/>
          </a:prstGeom>
          <a:noFill/>
        </p:spPr>
        <p:txBody>
          <a:bodyPr wrap="square" rtlCol="0" anchor="ctr"/>
          <a:lstStyle/>
          <a:p>
            <a:pPr marL="0" indent="0">
              <a:buNone/>
            </a:pPr>
            <a:r>
              <a:rPr lang="en-US" sz="1300" dirty="0">
                <a:solidFill>
                  <a:srgbClr val="1C2C24"/>
                </a:solidFill>
                <a:latin typeface="Calibri" panose="020F0502020204030204" pitchFamily="34" charset="0"/>
                <a:ea typeface="Calibri" panose="020F0502020204030204" pitchFamily="34" charset="-122"/>
                <a:cs typeface="Calibri" panose="020F0502020204030204" pitchFamily="34" charset="-120"/>
              </a:rPr>
              <a:t>Dataset Description</a:t>
            </a:r>
            <a:endParaRPr lang="en-US" sz="1300" dirty="0"/>
          </a:p>
        </p:txBody>
      </p:sp>
      <p:sp>
        <p:nvSpPr>
          <p:cNvPr id="21" name="Shape 19"/>
          <p:cNvSpPr/>
          <p:nvPr/>
        </p:nvSpPr>
        <p:spPr>
          <a:xfrm>
            <a:off x="320040" y="4114800"/>
            <a:ext cx="411480" cy="384048"/>
          </a:xfrm>
          <a:prstGeom prst="rect">
            <a:avLst/>
          </a:prstGeom>
          <a:solidFill>
            <a:srgbClr val="276749"/>
          </a:solidFill>
          <a:effectLst>
            <a:outerShdw blurRad="101600" dist="38100" dir="8100000" algn="bl" rotWithShape="0">
              <a:srgbClr val="000000">
                <a:alpha val="12000"/>
              </a:srgbClr>
            </a:outerShdw>
          </a:effectLst>
        </p:spPr>
      </p:sp>
      <p:sp>
        <p:nvSpPr>
          <p:cNvPr id="22" name="Text 20"/>
          <p:cNvSpPr/>
          <p:nvPr/>
        </p:nvSpPr>
        <p:spPr>
          <a:xfrm>
            <a:off x="320040" y="4114800"/>
            <a:ext cx="411480" cy="3840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a:t>
            </a:r>
            <a:endParaRPr lang="en-US" sz="1100" dirty="0"/>
          </a:p>
        </p:txBody>
      </p:sp>
      <p:sp>
        <p:nvSpPr>
          <p:cNvPr id="23" name="Text 21"/>
          <p:cNvSpPr/>
          <p:nvPr/>
        </p:nvSpPr>
        <p:spPr>
          <a:xfrm>
            <a:off x="804672" y="4133088"/>
            <a:ext cx="3383280" cy="347472"/>
          </a:xfrm>
          <a:prstGeom prst="rect">
            <a:avLst/>
          </a:prstGeom>
          <a:noFill/>
        </p:spPr>
        <p:txBody>
          <a:bodyPr wrap="square" rtlCol="0" anchor="ctr"/>
          <a:lstStyle/>
          <a:p>
            <a:pPr marL="0" indent="0">
              <a:buNone/>
            </a:pPr>
            <a:r>
              <a:rPr lang="en-US" sz="1300" dirty="0">
                <a:solidFill>
                  <a:srgbClr val="1C2C24"/>
                </a:solidFill>
                <a:latin typeface="Calibri" panose="020F0502020204030204" pitchFamily="34" charset="0"/>
                <a:ea typeface="Calibri" panose="020F0502020204030204" pitchFamily="34" charset="-122"/>
                <a:cs typeface="Calibri" panose="020F0502020204030204" pitchFamily="34" charset="-120"/>
              </a:rPr>
              <a:t>Methodology</a:t>
            </a:r>
            <a:endParaRPr lang="en-US" sz="1300" dirty="0"/>
          </a:p>
        </p:txBody>
      </p:sp>
      <p:sp>
        <p:nvSpPr>
          <p:cNvPr id="24" name="Shape 22"/>
          <p:cNvSpPr/>
          <p:nvPr/>
        </p:nvSpPr>
        <p:spPr>
          <a:xfrm>
            <a:off x="4754880" y="1051560"/>
            <a:ext cx="411480" cy="384048"/>
          </a:xfrm>
          <a:prstGeom prst="rect">
            <a:avLst/>
          </a:prstGeom>
          <a:solidFill>
            <a:srgbClr val="4CAF7A"/>
          </a:solidFill>
          <a:effectLst>
            <a:outerShdw blurRad="101600" dist="38100" dir="8100000" algn="bl" rotWithShape="0">
              <a:srgbClr val="000000">
                <a:alpha val="12000"/>
              </a:srgbClr>
            </a:outerShdw>
          </a:effectLst>
        </p:spPr>
      </p:sp>
      <p:sp>
        <p:nvSpPr>
          <p:cNvPr id="25" name="Text 23"/>
          <p:cNvSpPr/>
          <p:nvPr/>
        </p:nvSpPr>
        <p:spPr>
          <a:xfrm>
            <a:off x="4754880" y="1051560"/>
            <a:ext cx="411480" cy="3840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07</a:t>
            </a:r>
            <a:endParaRPr lang="en-US" sz="1100" dirty="0"/>
          </a:p>
        </p:txBody>
      </p:sp>
      <p:sp>
        <p:nvSpPr>
          <p:cNvPr id="26" name="Text 24"/>
          <p:cNvSpPr/>
          <p:nvPr/>
        </p:nvSpPr>
        <p:spPr>
          <a:xfrm>
            <a:off x="5239512" y="1069848"/>
            <a:ext cx="3566160" cy="347472"/>
          </a:xfrm>
          <a:prstGeom prst="rect">
            <a:avLst/>
          </a:prstGeom>
          <a:noFill/>
        </p:spPr>
        <p:txBody>
          <a:bodyPr wrap="square" rtlCol="0" anchor="ctr"/>
          <a:lstStyle/>
          <a:p>
            <a:pPr marL="0" indent="0">
              <a:buNone/>
            </a:pPr>
            <a:r>
              <a:rPr lang="en-US" sz="1300" dirty="0">
                <a:solidFill>
                  <a:srgbClr val="1C2C24"/>
                </a:solidFill>
                <a:latin typeface="Calibri" panose="020F0502020204030204" pitchFamily="34" charset="0"/>
                <a:ea typeface="Calibri" panose="020F0502020204030204" pitchFamily="34" charset="-122"/>
                <a:cs typeface="Calibri" panose="020F0502020204030204" pitchFamily="34" charset="-120"/>
              </a:rPr>
              <a:t>Data Preprocessing &amp; Feature Scaling</a:t>
            </a:r>
            <a:endParaRPr lang="en-US" sz="1300" dirty="0"/>
          </a:p>
        </p:txBody>
      </p:sp>
      <p:sp>
        <p:nvSpPr>
          <p:cNvPr id="27" name="Shape 25"/>
          <p:cNvSpPr/>
          <p:nvPr/>
        </p:nvSpPr>
        <p:spPr>
          <a:xfrm>
            <a:off x="4754880" y="1664208"/>
            <a:ext cx="411480" cy="384048"/>
          </a:xfrm>
          <a:prstGeom prst="rect">
            <a:avLst/>
          </a:prstGeom>
          <a:solidFill>
            <a:srgbClr val="4CAF7A"/>
          </a:solidFill>
          <a:effectLst>
            <a:outerShdw blurRad="101600" dist="38100" dir="8100000" algn="bl" rotWithShape="0">
              <a:srgbClr val="000000">
                <a:alpha val="12000"/>
              </a:srgbClr>
            </a:outerShdw>
          </a:effectLst>
        </p:spPr>
      </p:sp>
      <p:sp>
        <p:nvSpPr>
          <p:cNvPr id="28" name="Text 26"/>
          <p:cNvSpPr/>
          <p:nvPr/>
        </p:nvSpPr>
        <p:spPr>
          <a:xfrm>
            <a:off x="4754880" y="1664208"/>
            <a:ext cx="411480" cy="3840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08</a:t>
            </a:r>
            <a:endParaRPr lang="en-US" sz="1100" dirty="0"/>
          </a:p>
        </p:txBody>
      </p:sp>
      <p:sp>
        <p:nvSpPr>
          <p:cNvPr id="29" name="Text 27"/>
          <p:cNvSpPr/>
          <p:nvPr/>
        </p:nvSpPr>
        <p:spPr>
          <a:xfrm>
            <a:off x="5239512" y="1682496"/>
            <a:ext cx="3566160" cy="347472"/>
          </a:xfrm>
          <a:prstGeom prst="rect">
            <a:avLst/>
          </a:prstGeom>
          <a:noFill/>
        </p:spPr>
        <p:txBody>
          <a:bodyPr wrap="square" rtlCol="0" anchor="ctr"/>
          <a:lstStyle/>
          <a:p>
            <a:pPr marL="0" indent="0">
              <a:buNone/>
            </a:pPr>
            <a:r>
              <a:rPr lang="en-US" sz="1300" dirty="0">
                <a:solidFill>
                  <a:srgbClr val="1C2C24"/>
                </a:solidFill>
                <a:latin typeface="Calibri" panose="020F0502020204030204" pitchFamily="34" charset="0"/>
                <a:ea typeface="Calibri" panose="020F0502020204030204" pitchFamily="34" charset="-122"/>
                <a:cs typeface="Calibri" panose="020F0502020204030204" pitchFamily="34" charset="-120"/>
              </a:rPr>
              <a:t>Algorithms Used</a:t>
            </a:r>
            <a:endParaRPr lang="en-US" sz="1300" dirty="0"/>
          </a:p>
        </p:txBody>
      </p:sp>
      <p:sp>
        <p:nvSpPr>
          <p:cNvPr id="30" name="Shape 28"/>
          <p:cNvSpPr/>
          <p:nvPr/>
        </p:nvSpPr>
        <p:spPr>
          <a:xfrm>
            <a:off x="4754880" y="2276856"/>
            <a:ext cx="411480" cy="384048"/>
          </a:xfrm>
          <a:prstGeom prst="rect">
            <a:avLst/>
          </a:prstGeom>
          <a:solidFill>
            <a:srgbClr val="4CAF7A"/>
          </a:solidFill>
          <a:effectLst>
            <a:outerShdw blurRad="101600" dist="38100" dir="8100000" algn="bl" rotWithShape="0">
              <a:srgbClr val="000000">
                <a:alpha val="12000"/>
              </a:srgbClr>
            </a:outerShdw>
          </a:effectLst>
        </p:spPr>
      </p:sp>
      <p:sp>
        <p:nvSpPr>
          <p:cNvPr id="31" name="Text 29"/>
          <p:cNvSpPr/>
          <p:nvPr/>
        </p:nvSpPr>
        <p:spPr>
          <a:xfrm>
            <a:off x="4754880" y="2276856"/>
            <a:ext cx="411480" cy="3840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09</a:t>
            </a:r>
            <a:endParaRPr lang="en-US" sz="1100" dirty="0"/>
          </a:p>
        </p:txBody>
      </p:sp>
      <p:sp>
        <p:nvSpPr>
          <p:cNvPr id="32" name="Text 30"/>
          <p:cNvSpPr/>
          <p:nvPr/>
        </p:nvSpPr>
        <p:spPr>
          <a:xfrm>
            <a:off x="5239512" y="2295144"/>
            <a:ext cx="3566160" cy="347472"/>
          </a:xfrm>
          <a:prstGeom prst="rect">
            <a:avLst/>
          </a:prstGeom>
          <a:noFill/>
        </p:spPr>
        <p:txBody>
          <a:bodyPr wrap="square" rtlCol="0" anchor="ctr"/>
          <a:lstStyle/>
          <a:p>
            <a:pPr marL="0" indent="0">
              <a:buNone/>
            </a:pPr>
            <a:r>
              <a:rPr lang="en-US" sz="1300" dirty="0">
                <a:solidFill>
                  <a:srgbClr val="1C2C24"/>
                </a:solidFill>
                <a:latin typeface="Calibri" panose="020F0502020204030204" pitchFamily="34" charset="0"/>
                <a:ea typeface="Calibri" panose="020F0502020204030204" pitchFamily="34" charset="-122"/>
                <a:cs typeface="Calibri" panose="020F0502020204030204" pitchFamily="34" charset="-120"/>
              </a:rPr>
              <a:t>Results &amp; Model Evaluation</a:t>
            </a:r>
            <a:endParaRPr lang="en-US" sz="1300" dirty="0"/>
          </a:p>
        </p:txBody>
      </p:sp>
      <p:sp>
        <p:nvSpPr>
          <p:cNvPr id="33" name="Shape 31"/>
          <p:cNvSpPr/>
          <p:nvPr/>
        </p:nvSpPr>
        <p:spPr>
          <a:xfrm>
            <a:off x="4754880" y="2889504"/>
            <a:ext cx="411480" cy="384048"/>
          </a:xfrm>
          <a:prstGeom prst="rect">
            <a:avLst/>
          </a:prstGeom>
          <a:solidFill>
            <a:srgbClr val="4CAF7A"/>
          </a:solidFill>
          <a:effectLst>
            <a:outerShdw blurRad="101600" dist="38100" dir="8100000" algn="bl" rotWithShape="0">
              <a:srgbClr val="000000">
                <a:alpha val="12000"/>
              </a:srgbClr>
            </a:outerShdw>
          </a:effectLst>
        </p:spPr>
      </p:sp>
      <p:sp>
        <p:nvSpPr>
          <p:cNvPr id="34" name="Text 32"/>
          <p:cNvSpPr/>
          <p:nvPr/>
        </p:nvSpPr>
        <p:spPr>
          <a:xfrm>
            <a:off x="4754880" y="2889504"/>
            <a:ext cx="411480" cy="3840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a:t>
            </a:r>
            <a:endParaRPr lang="en-US" sz="1100" dirty="0"/>
          </a:p>
        </p:txBody>
      </p:sp>
      <p:sp>
        <p:nvSpPr>
          <p:cNvPr id="35" name="Text 33"/>
          <p:cNvSpPr/>
          <p:nvPr/>
        </p:nvSpPr>
        <p:spPr>
          <a:xfrm>
            <a:off x="5239512" y="2907792"/>
            <a:ext cx="3566160" cy="347472"/>
          </a:xfrm>
          <a:prstGeom prst="rect">
            <a:avLst/>
          </a:prstGeom>
          <a:noFill/>
        </p:spPr>
        <p:txBody>
          <a:bodyPr wrap="square" rtlCol="0" anchor="ctr"/>
          <a:lstStyle/>
          <a:p>
            <a:pPr marL="0" indent="0">
              <a:buNone/>
            </a:pPr>
            <a:r>
              <a:rPr lang="en-US" sz="1300" dirty="0">
                <a:solidFill>
                  <a:srgbClr val="1C2C24"/>
                </a:solidFill>
                <a:latin typeface="Calibri" panose="020F0502020204030204" pitchFamily="34" charset="0"/>
                <a:ea typeface="Calibri" panose="020F0502020204030204" pitchFamily="34" charset="-122"/>
                <a:cs typeface="Calibri" panose="020F0502020204030204" pitchFamily="34" charset="-120"/>
              </a:rPr>
              <a:t>Visualization &amp; Confusion Matrix</a:t>
            </a:r>
            <a:endParaRPr lang="en-US" sz="1300" dirty="0"/>
          </a:p>
        </p:txBody>
      </p:sp>
      <p:sp>
        <p:nvSpPr>
          <p:cNvPr id="36" name="Shape 34"/>
          <p:cNvSpPr/>
          <p:nvPr/>
        </p:nvSpPr>
        <p:spPr>
          <a:xfrm>
            <a:off x="4754880" y="3502152"/>
            <a:ext cx="411480" cy="384048"/>
          </a:xfrm>
          <a:prstGeom prst="rect">
            <a:avLst/>
          </a:prstGeom>
          <a:solidFill>
            <a:srgbClr val="4CAF7A"/>
          </a:solidFill>
          <a:effectLst>
            <a:outerShdw blurRad="101600" dist="38100" dir="8100000" algn="bl" rotWithShape="0">
              <a:srgbClr val="000000">
                <a:alpha val="12000"/>
              </a:srgbClr>
            </a:outerShdw>
          </a:effectLst>
        </p:spPr>
      </p:sp>
      <p:sp>
        <p:nvSpPr>
          <p:cNvPr id="37" name="Text 35"/>
          <p:cNvSpPr/>
          <p:nvPr/>
        </p:nvSpPr>
        <p:spPr>
          <a:xfrm>
            <a:off x="4754880" y="3502152"/>
            <a:ext cx="411480" cy="3840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11</a:t>
            </a:r>
            <a:endParaRPr lang="en-US" sz="1100" dirty="0"/>
          </a:p>
        </p:txBody>
      </p:sp>
      <p:sp>
        <p:nvSpPr>
          <p:cNvPr id="38" name="Text 36"/>
          <p:cNvSpPr/>
          <p:nvPr/>
        </p:nvSpPr>
        <p:spPr>
          <a:xfrm>
            <a:off x="5239512" y="3520440"/>
            <a:ext cx="3566160" cy="347472"/>
          </a:xfrm>
          <a:prstGeom prst="rect">
            <a:avLst/>
          </a:prstGeom>
          <a:noFill/>
        </p:spPr>
        <p:txBody>
          <a:bodyPr wrap="square" rtlCol="0" anchor="ctr"/>
          <a:lstStyle/>
          <a:p>
            <a:pPr marL="0" indent="0">
              <a:buNone/>
            </a:pPr>
            <a:r>
              <a:rPr lang="en-US" sz="1300" dirty="0">
                <a:solidFill>
                  <a:srgbClr val="1C2C24"/>
                </a:solidFill>
                <a:latin typeface="Calibri" panose="020F0502020204030204" pitchFamily="34" charset="0"/>
                <a:ea typeface="Calibri" panose="020F0502020204030204" pitchFamily="34" charset="-122"/>
                <a:cs typeface="Calibri" panose="020F0502020204030204" pitchFamily="34" charset="-120"/>
              </a:rPr>
              <a:t>Limitations &amp; Conclusion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9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76749"/>
          </a:solidFill>
        </p:spPr>
      </p:sp>
      <p:sp>
        <p:nvSpPr>
          <p:cNvPr id="3" name="Text 1"/>
          <p:cNvSpPr/>
          <p:nvPr/>
        </p:nvSpPr>
        <p:spPr>
          <a:xfrm>
            <a:off x="320040" y="0"/>
            <a:ext cx="8229600" cy="658368"/>
          </a:xfrm>
          <a:prstGeom prst="rect">
            <a:avLst/>
          </a:prstGeom>
          <a:noFill/>
        </p:spPr>
        <p:txBody>
          <a:bodyPr wrap="square" lIns="0" tIns="0" rIns="0" bIns="0"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Chapter 1: Introduction</a:t>
            </a:r>
            <a:endParaRPr lang="en-US" sz="2200" dirty="0"/>
          </a:p>
        </p:txBody>
      </p:sp>
      <p:sp>
        <p:nvSpPr>
          <p:cNvPr id="4" name="Shape 2"/>
          <p:cNvSpPr/>
          <p:nvPr/>
        </p:nvSpPr>
        <p:spPr>
          <a:xfrm>
            <a:off x="0" y="4983480"/>
            <a:ext cx="9144000" cy="164592"/>
          </a:xfrm>
          <a:prstGeom prst="rect">
            <a:avLst/>
          </a:prstGeom>
          <a:solidFill>
            <a:srgbClr val="1A4731"/>
          </a:solidFill>
        </p:spPr>
      </p:sp>
      <p:sp>
        <p:nvSpPr>
          <p:cNvPr id="5" name="Text 3"/>
          <p:cNvSpPr/>
          <p:nvPr/>
        </p:nvSpPr>
        <p:spPr>
          <a:xfrm>
            <a:off x="182880" y="4974336"/>
            <a:ext cx="8778240" cy="164592"/>
          </a:xfrm>
          <a:prstGeom prst="rect">
            <a:avLst/>
          </a:prstGeom>
          <a:noFill/>
        </p:spPr>
        <p:txBody>
          <a:bodyPr wrap="square" rtlCol="0" anchor="ctr"/>
          <a:lstStyle/>
          <a:p>
            <a:pPr marL="0" indent="0">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EAI421 – Application of AI &amp; ML  |  UAS Bangalore-560065</a:t>
            </a:r>
            <a:endParaRPr lang="en-US" sz="800" dirty="0"/>
          </a:p>
        </p:txBody>
      </p:sp>
      <p:sp>
        <p:nvSpPr>
          <p:cNvPr id="6" name="Shape 4"/>
          <p:cNvSpPr/>
          <p:nvPr/>
        </p:nvSpPr>
        <p:spPr>
          <a:xfrm>
            <a:off x="274320" y="1051560"/>
            <a:ext cx="3840480" cy="3611880"/>
          </a:xfrm>
          <a:prstGeom prst="rect">
            <a:avLst/>
          </a:prstGeom>
          <a:solidFill>
            <a:srgbClr val="FFFFFF"/>
          </a:solidFill>
          <a:effectLst>
            <a:outerShdw blurRad="101600" dist="38100" dir="8100000" algn="bl" rotWithShape="0">
              <a:srgbClr val="000000">
                <a:alpha val="12000"/>
              </a:srgbClr>
            </a:outerShdw>
          </a:effectLst>
        </p:spPr>
      </p:sp>
      <p:sp>
        <p:nvSpPr>
          <p:cNvPr id="7" name="Shape 5"/>
          <p:cNvSpPr/>
          <p:nvPr/>
        </p:nvSpPr>
        <p:spPr>
          <a:xfrm>
            <a:off x="274320" y="1051560"/>
            <a:ext cx="3840480" cy="347472"/>
          </a:xfrm>
          <a:prstGeom prst="rect">
            <a:avLst/>
          </a:prstGeom>
          <a:solidFill>
            <a:srgbClr val="276749"/>
          </a:solidFill>
        </p:spPr>
      </p:sp>
      <p:sp>
        <p:nvSpPr>
          <p:cNvPr id="8" name="Text 6"/>
          <p:cNvSpPr/>
          <p:nvPr/>
        </p:nvSpPr>
        <p:spPr>
          <a:xfrm>
            <a:off x="274320" y="1051560"/>
            <a:ext cx="3840480" cy="347472"/>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Why This Project?</a:t>
            </a:r>
            <a:endParaRPr lang="en-US" sz="1300" dirty="0"/>
          </a:p>
        </p:txBody>
      </p:sp>
      <p:sp>
        <p:nvSpPr>
          <p:cNvPr id="9" name="Text 7"/>
          <p:cNvSpPr/>
          <p:nvPr/>
        </p:nvSpPr>
        <p:spPr>
          <a:xfrm>
            <a:off x="411480" y="1463040"/>
            <a:ext cx="3611880" cy="3090672"/>
          </a:xfrm>
          <a:prstGeom prst="rect">
            <a:avLst/>
          </a:prstGeom>
          <a:noFill/>
        </p:spPr>
        <p:txBody>
          <a:bodyPr wrap="square" rtlCol="0" anchor="t"/>
          <a:lstStyle/>
          <a:p>
            <a:pPr marL="342900" indent="-342900">
              <a:buSzPct val="100000"/>
              <a:buChar char="•"/>
            </a:pPr>
            <a:r>
              <a:rPr lang="en-US" sz="1200" dirty="0">
                <a:solidFill>
                  <a:srgbClr val="1C2C24"/>
                </a:solidFill>
                <a:latin typeface="Calibri" panose="020F0502020204030204" pitchFamily="34" charset="0"/>
                <a:ea typeface="Calibri" panose="020F0502020204030204" pitchFamily="34" charset="-122"/>
                <a:cs typeface="Calibri" panose="020F0502020204030204" pitchFamily="34" charset="-120"/>
              </a:rPr>
              <a:t>Agriculture is critical to global food security and developing economies.</a:t>
            </a:r>
            <a:endParaRPr lang="en-US" sz="1200" dirty="0"/>
          </a:p>
          <a:p>
            <a:pPr marL="342900" indent="-342900">
              <a:buSzPct val="100000"/>
              <a:buChar char="•"/>
            </a:pPr>
            <a:r>
              <a:rPr lang="en-US" sz="1200" dirty="0">
                <a:solidFill>
                  <a:srgbClr val="1C2C24"/>
                </a:solidFill>
                <a:latin typeface="Calibri" panose="020F0502020204030204" pitchFamily="34" charset="0"/>
                <a:ea typeface="Calibri" panose="020F0502020204030204" pitchFamily="34" charset="-122"/>
                <a:cs typeface="Calibri" panose="020F0502020204030204" pitchFamily="34" charset="-120"/>
              </a:rPr>
              <a:t>Overuse / misuse of fertilizers leads to soil degradation, water pollution &amp; high costs.</a:t>
            </a:r>
            <a:endParaRPr lang="en-US" sz="1200" dirty="0"/>
          </a:p>
          <a:p>
            <a:pPr marL="342900" indent="-342900">
              <a:buSzPct val="100000"/>
              <a:buChar char="•"/>
            </a:pPr>
            <a:r>
              <a:rPr lang="en-US" sz="1200" dirty="0">
                <a:solidFill>
                  <a:srgbClr val="1C2C24"/>
                </a:solidFill>
                <a:latin typeface="Calibri" panose="020F0502020204030204" pitchFamily="34" charset="0"/>
                <a:ea typeface="Calibri" panose="020F0502020204030204" pitchFamily="34" charset="-122"/>
                <a:cs typeface="Calibri" panose="020F0502020204030204" pitchFamily="34" charset="-120"/>
              </a:rPr>
              <a:t>World population projected to reach 10 billion by 2050 — demand for food is unprecedented.</a:t>
            </a:r>
            <a:endParaRPr lang="en-US" sz="1200" dirty="0"/>
          </a:p>
          <a:p>
            <a:pPr marL="342900" indent="-342900">
              <a:buSzPct val="100000"/>
              <a:buChar char="•"/>
            </a:pPr>
            <a:r>
              <a:rPr lang="en-US" sz="1200" dirty="0">
                <a:solidFill>
                  <a:srgbClr val="1C2C24"/>
                </a:solidFill>
                <a:latin typeface="Calibri" panose="020F0502020204030204" pitchFamily="34" charset="0"/>
                <a:ea typeface="Calibri" panose="020F0502020204030204" pitchFamily="34" charset="-122"/>
                <a:cs typeface="Calibri" panose="020F0502020204030204" pitchFamily="34" charset="-120"/>
              </a:rPr>
              <a:t>Farmers lack precise guidance on soil-specific nutrient requirements.</a:t>
            </a:r>
            <a:endParaRPr lang="en-US" sz="1200" dirty="0"/>
          </a:p>
          <a:p>
            <a:pPr marL="342900" indent="-342900">
              <a:buSzPct val="100000"/>
              <a:buChar char="•"/>
            </a:pPr>
            <a:r>
              <a:rPr lang="en-US" sz="1200" dirty="0">
                <a:solidFill>
                  <a:srgbClr val="1C2C24"/>
                </a:solidFill>
                <a:latin typeface="Calibri" panose="020F0502020204030204" pitchFamily="34" charset="0"/>
                <a:ea typeface="Calibri" panose="020F0502020204030204" pitchFamily="34" charset="-122"/>
                <a:cs typeface="Calibri" panose="020F0502020204030204" pitchFamily="34" charset="-120"/>
              </a:rPr>
              <a:t>Machine Learning can analyse multiple variables simultaneously for smarter decisions.</a:t>
            </a:r>
            <a:endParaRPr lang="en-US" sz="1200" dirty="0"/>
          </a:p>
        </p:txBody>
      </p:sp>
      <p:sp>
        <p:nvSpPr>
          <p:cNvPr id="10" name="Shape 8"/>
          <p:cNvSpPr/>
          <p:nvPr/>
        </p:nvSpPr>
        <p:spPr>
          <a:xfrm>
            <a:off x="4572000" y="1051560"/>
            <a:ext cx="4251960" cy="3611880"/>
          </a:xfrm>
          <a:prstGeom prst="rect">
            <a:avLst/>
          </a:prstGeom>
          <a:solidFill>
            <a:srgbClr val="FFFFFF"/>
          </a:solidFill>
          <a:effectLst>
            <a:outerShdw blurRad="101600" dist="38100" dir="8100000" algn="bl" rotWithShape="0">
              <a:srgbClr val="000000">
                <a:alpha val="12000"/>
              </a:srgbClr>
            </a:outerShdw>
          </a:effectLst>
        </p:spPr>
      </p:sp>
      <p:sp>
        <p:nvSpPr>
          <p:cNvPr id="11" name="Shape 9"/>
          <p:cNvSpPr/>
          <p:nvPr/>
        </p:nvSpPr>
        <p:spPr>
          <a:xfrm>
            <a:off x="4572000" y="1051560"/>
            <a:ext cx="4251960" cy="347472"/>
          </a:xfrm>
          <a:prstGeom prst="rect">
            <a:avLst/>
          </a:prstGeom>
          <a:solidFill>
            <a:srgbClr val="1A4731"/>
          </a:solidFill>
        </p:spPr>
      </p:sp>
      <p:sp>
        <p:nvSpPr>
          <p:cNvPr id="12" name="Text 10"/>
          <p:cNvSpPr/>
          <p:nvPr/>
        </p:nvSpPr>
        <p:spPr>
          <a:xfrm>
            <a:off x="4572000" y="1051560"/>
            <a:ext cx="4251960" cy="347472"/>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System At a Glance</a:t>
            </a:r>
            <a:endParaRPr lang="en-US" sz="1300" dirty="0"/>
          </a:p>
        </p:txBody>
      </p:sp>
      <p:sp>
        <p:nvSpPr>
          <p:cNvPr id="13" name="Shape 11"/>
          <p:cNvSpPr/>
          <p:nvPr/>
        </p:nvSpPr>
        <p:spPr>
          <a:xfrm>
            <a:off x="4892040" y="1554480"/>
            <a:ext cx="3611880" cy="804672"/>
          </a:xfrm>
          <a:prstGeom prst="rect">
            <a:avLst/>
          </a:prstGeom>
          <a:solidFill>
            <a:srgbClr val="276749"/>
          </a:solidFill>
          <a:effectLst>
            <a:outerShdw blurRad="101600" dist="38100" dir="8100000" algn="bl" rotWithShape="0">
              <a:srgbClr val="000000">
                <a:alpha val="12000"/>
              </a:srgbClr>
            </a:outerShdw>
          </a:effectLst>
        </p:spPr>
      </p:sp>
      <p:sp>
        <p:nvSpPr>
          <p:cNvPr id="14" name="Text 12"/>
          <p:cNvSpPr/>
          <p:nvPr/>
        </p:nvSpPr>
        <p:spPr>
          <a:xfrm>
            <a:off x="4892040" y="1554480"/>
            <a:ext cx="1005840" cy="804672"/>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INPUT</a:t>
            </a:r>
            <a:endParaRPr lang="en-US" sz="1000" dirty="0"/>
          </a:p>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FEATURES</a:t>
            </a:r>
            <a:endParaRPr lang="en-US" sz="1000" dirty="0"/>
          </a:p>
        </p:txBody>
      </p:sp>
      <p:sp>
        <p:nvSpPr>
          <p:cNvPr id="15" name="Shape 13"/>
          <p:cNvSpPr/>
          <p:nvPr/>
        </p:nvSpPr>
        <p:spPr>
          <a:xfrm>
            <a:off x="5897880" y="1554480"/>
            <a:ext cx="27432" cy="804672"/>
          </a:xfrm>
          <a:prstGeom prst="rect">
            <a:avLst/>
          </a:prstGeom>
          <a:solidFill>
            <a:srgbClr val="FFFFFF">
              <a:alpha val="60000"/>
            </a:srgbClr>
          </a:solidFill>
        </p:spPr>
      </p:sp>
      <p:sp>
        <p:nvSpPr>
          <p:cNvPr id="16" name="Text 14"/>
          <p:cNvSpPr/>
          <p:nvPr/>
        </p:nvSpPr>
        <p:spPr>
          <a:xfrm>
            <a:off x="5989320" y="1554480"/>
            <a:ext cx="2423160" cy="804672"/>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Temp · Humidity · Moisture</a:t>
            </a:r>
            <a:endParaRPr lang="en-US" sz="1000" dirty="0"/>
          </a:p>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Soil Type · Crop Type</a:t>
            </a:r>
            <a:endParaRPr lang="en-US" sz="1000" dirty="0"/>
          </a:p>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N, P, K Levels</a:t>
            </a:r>
            <a:endParaRPr lang="en-US" sz="1000" dirty="0"/>
          </a:p>
        </p:txBody>
      </p:sp>
      <p:sp>
        <p:nvSpPr>
          <p:cNvPr id="17" name="Shape 15"/>
          <p:cNvSpPr/>
          <p:nvPr/>
        </p:nvSpPr>
        <p:spPr>
          <a:xfrm>
            <a:off x="6492240" y="2359152"/>
            <a:ext cx="54864" cy="292608"/>
          </a:xfrm>
          <a:prstGeom prst="rect">
            <a:avLst/>
          </a:prstGeom>
          <a:solidFill>
            <a:srgbClr val="E8B84B"/>
          </a:solidFill>
        </p:spPr>
      </p:sp>
      <p:sp>
        <p:nvSpPr>
          <p:cNvPr id="18" name="Shape 16"/>
          <p:cNvSpPr/>
          <p:nvPr/>
        </p:nvSpPr>
        <p:spPr>
          <a:xfrm>
            <a:off x="4892040" y="2651760"/>
            <a:ext cx="3611880" cy="804672"/>
          </a:xfrm>
          <a:prstGeom prst="rect">
            <a:avLst/>
          </a:prstGeom>
          <a:solidFill>
            <a:srgbClr val="4CAF7A"/>
          </a:solidFill>
          <a:effectLst>
            <a:outerShdw blurRad="101600" dist="38100" dir="8100000" algn="bl" rotWithShape="0">
              <a:srgbClr val="000000">
                <a:alpha val="12000"/>
              </a:srgbClr>
            </a:outerShdw>
          </a:effectLst>
        </p:spPr>
      </p:sp>
      <p:sp>
        <p:nvSpPr>
          <p:cNvPr id="19" name="Text 17"/>
          <p:cNvSpPr/>
          <p:nvPr/>
        </p:nvSpPr>
        <p:spPr>
          <a:xfrm>
            <a:off x="4892040" y="2651760"/>
            <a:ext cx="1005840" cy="804672"/>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ML</a:t>
            </a:r>
            <a:endParaRPr lang="en-US" sz="1000" dirty="0"/>
          </a:p>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MODELS</a:t>
            </a:r>
            <a:endParaRPr lang="en-US" sz="1000" dirty="0"/>
          </a:p>
        </p:txBody>
      </p:sp>
      <p:sp>
        <p:nvSpPr>
          <p:cNvPr id="20" name="Shape 18"/>
          <p:cNvSpPr/>
          <p:nvPr/>
        </p:nvSpPr>
        <p:spPr>
          <a:xfrm>
            <a:off x="5897880" y="2651760"/>
            <a:ext cx="27432" cy="804672"/>
          </a:xfrm>
          <a:prstGeom prst="rect">
            <a:avLst/>
          </a:prstGeom>
          <a:solidFill>
            <a:srgbClr val="FFFFFF">
              <a:alpha val="60000"/>
            </a:srgbClr>
          </a:solidFill>
        </p:spPr>
      </p:sp>
      <p:sp>
        <p:nvSpPr>
          <p:cNvPr id="21" name="Text 19"/>
          <p:cNvSpPr/>
          <p:nvPr/>
        </p:nvSpPr>
        <p:spPr>
          <a:xfrm>
            <a:off x="5989320" y="2651760"/>
            <a:ext cx="2423160" cy="804672"/>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Decision Tree · Random Forest</a:t>
            </a:r>
            <a:endParaRPr lang="en-US" sz="1000" dirty="0"/>
          </a:p>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Logistic Regression · ANN</a:t>
            </a:r>
            <a:endParaRPr lang="en-US" sz="1000" dirty="0"/>
          </a:p>
        </p:txBody>
      </p:sp>
      <p:sp>
        <p:nvSpPr>
          <p:cNvPr id="22" name="Shape 20"/>
          <p:cNvSpPr/>
          <p:nvPr/>
        </p:nvSpPr>
        <p:spPr>
          <a:xfrm>
            <a:off x="6492240" y="3456432"/>
            <a:ext cx="54864" cy="292608"/>
          </a:xfrm>
          <a:prstGeom prst="rect">
            <a:avLst/>
          </a:prstGeom>
          <a:solidFill>
            <a:srgbClr val="E8B84B"/>
          </a:solidFill>
        </p:spPr>
      </p:sp>
      <p:sp>
        <p:nvSpPr>
          <p:cNvPr id="23" name="Shape 21"/>
          <p:cNvSpPr/>
          <p:nvPr/>
        </p:nvSpPr>
        <p:spPr>
          <a:xfrm>
            <a:off x="4892040" y="3749040"/>
            <a:ext cx="3611880" cy="804672"/>
          </a:xfrm>
          <a:prstGeom prst="rect">
            <a:avLst/>
          </a:prstGeom>
          <a:solidFill>
            <a:srgbClr val="1A4731"/>
          </a:solidFill>
          <a:effectLst>
            <a:outerShdw blurRad="101600" dist="38100" dir="8100000" algn="bl" rotWithShape="0">
              <a:srgbClr val="000000">
                <a:alpha val="12000"/>
              </a:srgbClr>
            </a:outerShdw>
          </a:effectLst>
        </p:spPr>
      </p:sp>
      <p:sp>
        <p:nvSpPr>
          <p:cNvPr id="24" name="Text 22"/>
          <p:cNvSpPr/>
          <p:nvPr/>
        </p:nvSpPr>
        <p:spPr>
          <a:xfrm>
            <a:off x="4892040" y="3749040"/>
            <a:ext cx="1005840" cy="804672"/>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OUTPUT</a:t>
            </a:r>
            <a:endParaRPr lang="en-US" sz="1000" dirty="0"/>
          </a:p>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FERTILIZER</a:t>
            </a:r>
            <a:endParaRPr lang="en-US" sz="1000" dirty="0"/>
          </a:p>
        </p:txBody>
      </p:sp>
      <p:sp>
        <p:nvSpPr>
          <p:cNvPr id="25" name="Shape 23"/>
          <p:cNvSpPr/>
          <p:nvPr/>
        </p:nvSpPr>
        <p:spPr>
          <a:xfrm>
            <a:off x="5897880" y="3749040"/>
            <a:ext cx="27432" cy="804672"/>
          </a:xfrm>
          <a:prstGeom prst="rect">
            <a:avLst/>
          </a:prstGeom>
          <a:solidFill>
            <a:srgbClr val="FFFFFF">
              <a:alpha val="60000"/>
            </a:srgbClr>
          </a:solidFill>
        </p:spPr>
      </p:sp>
      <p:sp>
        <p:nvSpPr>
          <p:cNvPr id="26" name="Text 24"/>
          <p:cNvSpPr/>
          <p:nvPr/>
        </p:nvSpPr>
        <p:spPr>
          <a:xfrm>
            <a:off x="5989320" y="3749040"/>
            <a:ext cx="2423160" cy="804672"/>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Urea 46-0-0 · DAP · MOP</a:t>
            </a:r>
            <a:endParaRPr lang="en-US" sz="1000" dirty="0"/>
          </a:p>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10-26-26 · 14-35-14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9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76749"/>
          </a:solidFill>
        </p:spPr>
      </p:sp>
      <p:sp>
        <p:nvSpPr>
          <p:cNvPr id="3" name="Text 1"/>
          <p:cNvSpPr/>
          <p:nvPr/>
        </p:nvSpPr>
        <p:spPr>
          <a:xfrm>
            <a:off x="320040" y="0"/>
            <a:ext cx="8229600" cy="658368"/>
          </a:xfrm>
          <a:prstGeom prst="rect">
            <a:avLst/>
          </a:prstGeom>
          <a:noFill/>
        </p:spPr>
        <p:txBody>
          <a:bodyPr wrap="square" lIns="0" tIns="0" rIns="0" bIns="0"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Chapter 2: Objective</a:t>
            </a:r>
            <a:endParaRPr lang="en-US" sz="2200" dirty="0"/>
          </a:p>
        </p:txBody>
      </p:sp>
      <p:sp>
        <p:nvSpPr>
          <p:cNvPr id="4" name="Shape 2"/>
          <p:cNvSpPr/>
          <p:nvPr/>
        </p:nvSpPr>
        <p:spPr>
          <a:xfrm>
            <a:off x="0" y="4983480"/>
            <a:ext cx="9144000" cy="164592"/>
          </a:xfrm>
          <a:prstGeom prst="rect">
            <a:avLst/>
          </a:prstGeom>
          <a:solidFill>
            <a:srgbClr val="1A4731"/>
          </a:solidFill>
        </p:spPr>
      </p:sp>
      <p:sp>
        <p:nvSpPr>
          <p:cNvPr id="5" name="Text 3"/>
          <p:cNvSpPr/>
          <p:nvPr/>
        </p:nvSpPr>
        <p:spPr>
          <a:xfrm>
            <a:off x="182880" y="4974336"/>
            <a:ext cx="8778240" cy="164592"/>
          </a:xfrm>
          <a:prstGeom prst="rect">
            <a:avLst/>
          </a:prstGeom>
          <a:noFill/>
        </p:spPr>
        <p:txBody>
          <a:bodyPr wrap="square" rtlCol="0" anchor="ctr"/>
          <a:lstStyle/>
          <a:p>
            <a:pPr marL="0" indent="0">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EAI421 – Application of AI &amp; ML  |  UAS Bangalore-560065</a:t>
            </a:r>
            <a:endParaRPr lang="en-US" sz="800" dirty="0"/>
          </a:p>
        </p:txBody>
      </p:sp>
      <p:sp>
        <p:nvSpPr>
          <p:cNvPr id="6" name="Shape 4"/>
          <p:cNvSpPr/>
          <p:nvPr/>
        </p:nvSpPr>
        <p:spPr>
          <a:xfrm>
            <a:off x="320040" y="1005840"/>
            <a:ext cx="8503920" cy="1325880"/>
          </a:xfrm>
          <a:prstGeom prst="rect">
            <a:avLst/>
          </a:prstGeom>
          <a:solidFill>
            <a:srgbClr val="1A4731"/>
          </a:solidFill>
          <a:effectLst>
            <a:outerShdw blurRad="101600" dist="38100" dir="8100000" algn="bl" rotWithShape="0">
              <a:srgbClr val="000000">
                <a:alpha val="12000"/>
              </a:srgbClr>
            </a:outerShdw>
          </a:effectLst>
        </p:spPr>
      </p:sp>
      <p:sp>
        <p:nvSpPr>
          <p:cNvPr id="7" name="Text 5"/>
          <p:cNvSpPr/>
          <p:nvPr/>
        </p:nvSpPr>
        <p:spPr>
          <a:xfrm>
            <a:off x="320040" y="1005840"/>
            <a:ext cx="8503920" cy="347472"/>
          </a:xfrm>
          <a:prstGeom prst="rect">
            <a:avLst/>
          </a:prstGeom>
          <a:noFill/>
        </p:spPr>
        <p:txBody>
          <a:bodyPr wrap="square" rtlCol="0" anchor="ctr"/>
          <a:lstStyle/>
          <a:p>
            <a:pPr marL="0" indent="0" algn="ctr">
              <a:buNone/>
            </a:pPr>
            <a:r>
              <a:rPr lang="en-US" sz="1300" b="1" dirty="0">
                <a:solidFill>
                  <a:srgbClr val="E8B84B"/>
                </a:solidFill>
                <a:latin typeface="Georgia" panose="02040502050405020303" pitchFamily="34" charset="0"/>
                <a:ea typeface="Georgia" panose="02040502050405020303" pitchFamily="34" charset="-122"/>
                <a:cs typeface="Georgia" panose="02040502050405020303" pitchFamily="34" charset="-120"/>
              </a:rPr>
              <a:t>Primary Objective</a:t>
            </a:r>
            <a:endParaRPr lang="en-US" sz="1300" dirty="0"/>
          </a:p>
        </p:txBody>
      </p:sp>
      <p:sp>
        <p:nvSpPr>
          <p:cNvPr id="8" name="Text 6"/>
          <p:cNvSpPr/>
          <p:nvPr/>
        </p:nvSpPr>
        <p:spPr>
          <a:xfrm>
            <a:off x="502920" y="1353312"/>
            <a:ext cx="8138160" cy="914400"/>
          </a:xfrm>
          <a:prstGeom prst="rect">
            <a:avLst/>
          </a:prstGeom>
          <a:noFill/>
        </p:spPr>
        <p:txBody>
          <a:bodyPr wrap="square" rtlCol="0" anchor="t"/>
          <a:lstStyle/>
          <a:p>
            <a:pPr marL="0" indent="0" algn="ctr">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Design and implement a machine learning-based Fertilizer Recommendation System that accurately predicts the most suitable fertilizer type by analysing key soil and environmental parameters, enabling precision agriculture practices that maximise crop yield and support sustainable farming.</a:t>
            </a:r>
            <a:endParaRPr lang="en-US" sz="1250" dirty="0"/>
          </a:p>
        </p:txBody>
      </p:sp>
      <p:sp>
        <p:nvSpPr>
          <p:cNvPr id="9" name="Shape 7"/>
          <p:cNvSpPr/>
          <p:nvPr/>
        </p:nvSpPr>
        <p:spPr>
          <a:xfrm>
            <a:off x="320040" y="2487168"/>
            <a:ext cx="2761488" cy="841248"/>
          </a:xfrm>
          <a:prstGeom prst="rect">
            <a:avLst/>
          </a:prstGeom>
          <a:solidFill>
            <a:srgbClr val="FFFFFF"/>
          </a:solidFill>
          <a:effectLst>
            <a:outerShdw blurRad="101600" dist="38100" dir="8100000" algn="bl" rotWithShape="0">
              <a:srgbClr val="000000">
                <a:alpha val="12000"/>
              </a:srgbClr>
            </a:outerShdw>
          </a:effectLst>
        </p:spPr>
      </p:sp>
      <p:sp>
        <p:nvSpPr>
          <p:cNvPr id="10" name="Shape 8"/>
          <p:cNvSpPr/>
          <p:nvPr/>
        </p:nvSpPr>
        <p:spPr>
          <a:xfrm>
            <a:off x="320040" y="2487168"/>
            <a:ext cx="384048" cy="841248"/>
          </a:xfrm>
          <a:prstGeom prst="rect">
            <a:avLst/>
          </a:prstGeom>
          <a:solidFill>
            <a:srgbClr val="4CAF7A"/>
          </a:solidFill>
        </p:spPr>
      </p:sp>
      <p:sp>
        <p:nvSpPr>
          <p:cNvPr id="11" name="Text 9"/>
          <p:cNvSpPr/>
          <p:nvPr/>
        </p:nvSpPr>
        <p:spPr>
          <a:xfrm>
            <a:off x="320040" y="2487168"/>
            <a:ext cx="384048" cy="8412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100" dirty="0"/>
          </a:p>
        </p:txBody>
      </p:sp>
      <p:sp>
        <p:nvSpPr>
          <p:cNvPr id="12" name="Text 10"/>
          <p:cNvSpPr/>
          <p:nvPr/>
        </p:nvSpPr>
        <p:spPr>
          <a:xfrm>
            <a:off x="758952" y="2532888"/>
            <a:ext cx="2267712" cy="749808"/>
          </a:xfrm>
          <a:prstGeom prst="rect">
            <a:avLst/>
          </a:prstGeom>
          <a:noFill/>
        </p:spPr>
        <p:txBody>
          <a:bodyPr wrap="square" rtlCol="0" anchor="ctr"/>
          <a:lstStyle/>
          <a:p>
            <a:pPr marL="0" indent="0">
              <a:buNone/>
            </a:pPr>
            <a:r>
              <a:rPr lang="en-US" sz="1050" dirty="0">
                <a:solidFill>
                  <a:srgbClr val="1C2C24"/>
                </a:solidFill>
                <a:latin typeface="Calibri" panose="020F0502020204030204" pitchFamily="34" charset="0"/>
                <a:ea typeface="Calibri" panose="020F0502020204030204" pitchFamily="34" charset="-122"/>
                <a:cs typeface="Calibri" panose="020F0502020204030204" pitchFamily="34" charset="-120"/>
              </a:rPr>
              <a:t>Compare 4 ML algorithms on the same dataset to identify the best-performing model</a:t>
            </a:r>
            <a:endParaRPr lang="en-US" sz="1050" dirty="0"/>
          </a:p>
        </p:txBody>
      </p:sp>
      <p:sp>
        <p:nvSpPr>
          <p:cNvPr id="13" name="Shape 11"/>
          <p:cNvSpPr/>
          <p:nvPr/>
        </p:nvSpPr>
        <p:spPr>
          <a:xfrm>
            <a:off x="3172968" y="2487168"/>
            <a:ext cx="2761488" cy="841248"/>
          </a:xfrm>
          <a:prstGeom prst="rect">
            <a:avLst/>
          </a:prstGeom>
          <a:solidFill>
            <a:srgbClr val="FFFFFF"/>
          </a:solidFill>
          <a:effectLst>
            <a:outerShdw blurRad="101600" dist="38100" dir="8100000" algn="bl" rotWithShape="0">
              <a:srgbClr val="000000">
                <a:alpha val="12000"/>
              </a:srgbClr>
            </a:outerShdw>
          </a:effectLst>
        </p:spPr>
      </p:sp>
      <p:sp>
        <p:nvSpPr>
          <p:cNvPr id="14" name="Shape 12"/>
          <p:cNvSpPr/>
          <p:nvPr/>
        </p:nvSpPr>
        <p:spPr>
          <a:xfrm>
            <a:off x="3172968" y="2487168"/>
            <a:ext cx="384048" cy="841248"/>
          </a:xfrm>
          <a:prstGeom prst="rect">
            <a:avLst/>
          </a:prstGeom>
          <a:solidFill>
            <a:srgbClr val="4CAF7A"/>
          </a:solidFill>
        </p:spPr>
      </p:sp>
      <p:sp>
        <p:nvSpPr>
          <p:cNvPr id="15" name="Text 13"/>
          <p:cNvSpPr/>
          <p:nvPr/>
        </p:nvSpPr>
        <p:spPr>
          <a:xfrm>
            <a:off x="3172968" y="2487168"/>
            <a:ext cx="384048" cy="8412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100" dirty="0"/>
          </a:p>
        </p:txBody>
      </p:sp>
      <p:sp>
        <p:nvSpPr>
          <p:cNvPr id="16" name="Text 14"/>
          <p:cNvSpPr/>
          <p:nvPr/>
        </p:nvSpPr>
        <p:spPr>
          <a:xfrm>
            <a:off x="3611880" y="2532888"/>
            <a:ext cx="2267712" cy="749808"/>
          </a:xfrm>
          <a:prstGeom prst="rect">
            <a:avLst/>
          </a:prstGeom>
          <a:noFill/>
        </p:spPr>
        <p:txBody>
          <a:bodyPr wrap="square" rtlCol="0" anchor="ctr"/>
          <a:lstStyle/>
          <a:p>
            <a:pPr marL="0" indent="0">
              <a:buNone/>
            </a:pPr>
            <a:r>
              <a:rPr lang="en-US" sz="1050" dirty="0">
                <a:solidFill>
                  <a:srgbClr val="1C2C24"/>
                </a:solidFill>
                <a:latin typeface="Calibri" panose="020F0502020204030204" pitchFamily="34" charset="0"/>
                <a:ea typeface="Calibri" panose="020F0502020204030204" pitchFamily="34" charset="-122"/>
                <a:cs typeface="Calibri" panose="020F0502020204030204" pitchFamily="34" charset="-120"/>
              </a:rPr>
              <a:t>Apply preprocessing — Label Encoding + StandardScaler — for fair evaluation</a:t>
            </a:r>
            <a:endParaRPr lang="en-US" sz="1050" dirty="0"/>
          </a:p>
        </p:txBody>
      </p:sp>
      <p:sp>
        <p:nvSpPr>
          <p:cNvPr id="17" name="Shape 15"/>
          <p:cNvSpPr/>
          <p:nvPr/>
        </p:nvSpPr>
        <p:spPr>
          <a:xfrm>
            <a:off x="6025896" y="2487168"/>
            <a:ext cx="2761488" cy="841248"/>
          </a:xfrm>
          <a:prstGeom prst="rect">
            <a:avLst/>
          </a:prstGeom>
          <a:solidFill>
            <a:srgbClr val="FFFFFF"/>
          </a:solidFill>
          <a:effectLst>
            <a:outerShdw blurRad="101600" dist="38100" dir="8100000" algn="bl" rotWithShape="0">
              <a:srgbClr val="000000">
                <a:alpha val="12000"/>
              </a:srgbClr>
            </a:outerShdw>
          </a:effectLst>
        </p:spPr>
      </p:sp>
      <p:sp>
        <p:nvSpPr>
          <p:cNvPr id="18" name="Shape 16"/>
          <p:cNvSpPr/>
          <p:nvPr/>
        </p:nvSpPr>
        <p:spPr>
          <a:xfrm>
            <a:off x="6025896" y="2487168"/>
            <a:ext cx="384048" cy="841248"/>
          </a:xfrm>
          <a:prstGeom prst="rect">
            <a:avLst/>
          </a:prstGeom>
          <a:solidFill>
            <a:srgbClr val="4CAF7A"/>
          </a:solidFill>
        </p:spPr>
      </p:sp>
      <p:sp>
        <p:nvSpPr>
          <p:cNvPr id="19" name="Text 17"/>
          <p:cNvSpPr/>
          <p:nvPr/>
        </p:nvSpPr>
        <p:spPr>
          <a:xfrm>
            <a:off x="6025896" y="2487168"/>
            <a:ext cx="384048" cy="8412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100" dirty="0"/>
          </a:p>
        </p:txBody>
      </p:sp>
      <p:sp>
        <p:nvSpPr>
          <p:cNvPr id="20" name="Text 18"/>
          <p:cNvSpPr/>
          <p:nvPr/>
        </p:nvSpPr>
        <p:spPr>
          <a:xfrm>
            <a:off x="6464808" y="2532888"/>
            <a:ext cx="2267712" cy="749808"/>
          </a:xfrm>
          <a:prstGeom prst="rect">
            <a:avLst/>
          </a:prstGeom>
          <a:noFill/>
        </p:spPr>
        <p:txBody>
          <a:bodyPr wrap="square" rtlCol="0" anchor="ctr"/>
          <a:lstStyle/>
          <a:p>
            <a:pPr marL="0" indent="0">
              <a:buNone/>
            </a:pPr>
            <a:r>
              <a:rPr lang="en-US" sz="1050" dirty="0">
                <a:solidFill>
                  <a:srgbClr val="1C2C24"/>
                </a:solidFill>
                <a:latin typeface="Calibri" panose="020F0502020204030204" pitchFamily="34" charset="0"/>
                <a:ea typeface="Calibri" panose="020F0502020204030204" pitchFamily="34" charset="-122"/>
                <a:cs typeface="Calibri" panose="020F0502020204030204" pitchFamily="34" charset="-120"/>
              </a:rPr>
              <a:t>Use GridSearchCV hyperparameter tuning to optimise Decision Tree performance</a:t>
            </a:r>
            <a:endParaRPr lang="en-US" sz="1050" dirty="0"/>
          </a:p>
        </p:txBody>
      </p:sp>
      <p:sp>
        <p:nvSpPr>
          <p:cNvPr id="21" name="Shape 19"/>
          <p:cNvSpPr/>
          <p:nvPr/>
        </p:nvSpPr>
        <p:spPr>
          <a:xfrm>
            <a:off x="320040" y="3493008"/>
            <a:ext cx="2761488" cy="841248"/>
          </a:xfrm>
          <a:prstGeom prst="rect">
            <a:avLst/>
          </a:prstGeom>
          <a:solidFill>
            <a:srgbClr val="FFFFFF"/>
          </a:solidFill>
          <a:effectLst>
            <a:outerShdw blurRad="101600" dist="38100" dir="8100000" algn="bl" rotWithShape="0">
              <a:srgbClr val="000000">
                <a:alpha val="12000"/>
              </a:srgbClr>
            </a:outerShdw>
          </a:effectLst>
        </p:spPr>
      </p:sp>
      <p:sp>
        <p:nvSpPr>
          <p:cNvPr id="22" name="Shape 20"/>
          <p:cNvSpPr/>
          <p:nvPr/>
        </p:nvSpPr>
        <p:spPr>
          <a:xfrm>
            <a:off x="320040" y="3493008"/>
            <a:ext cx="384048" cy="841248"/>
          </a:xfrm>
          <a:prstGeom prst="rect">
            <a:avLst/>
          </a:prstGeom>
          <a:solidFill>
            <a:srgbClr val="4CAF7A"/>
          </a:solidFill>
        </p:spPr>
        <p:txBody>
          <a:bodyPr/>
          <a:lstStyle/>
          <a:p>
            <a:endParaRPr lang="en-US"/>
          </a:p>
        </p:txBody>
      </p:sp>
      <p:sp>
        <p:nvSpPr>
          <p:cNvPr id="23" name="Text 21"/>
          <p:cNvSpPr/>
          <p:nvPr/>
        </p:nvSpPr>
        <p:spPr>
          <a:xfrm>
            <a:off x="320040" y="3493008"/>
            <a:ext cx="384048" cy="8412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100" dirty="0"/>
          </a:p>
        </p:txBody>
      </p:sp>
      <p:sp>
        <p:nvSpPr>
          <p:cNvPr id="24" name="Text 22"/>
          <p:cNvSpPr/>
          <p:nvPr/>
        </p:nvSpPr>
        <p:spPr>
          <a:xfrm>
            <a:off x="758952" y="3538728"/>
            <a:ext cx="2267712" cy="749808"/>
          </a:xfrm>
          <a:prstGeom prst="rect">
            <a:avLst/>
          </a:prstGeom>
          <a:noFill/>
        </p:spPr>
        <p:txBody>
          <a:bodyPr wrap="square" rtlCol="0" anchor="ctr"/>
          <a:lstStyle/>
          <a:p>
            <a:pPr marL="0" indent="0">
              <a:buNone/>
            </a:pPr>
            <a:r>
              <a:rPr lang="en-US" sz="1050" dirty="0">
                <a:solidFill>
                  <a:srgbClr val="1C2C24"/>
                </a:solidFill>
                <a:latin typeface="Calibri" panose="020F0502020204030204" pitchFamily="34" charset="0"/>
                <a:ea typeface="Calibri" panose="020F0502020204030204" pitchFamily="34" charset="-122"/>
                <a:cs typeface="Calibri" panose="020F0502020204030204" pitchFamily="34" charset="-120"/>
              </a:rPr>
              <a:t>Provide interpretable, data-driven fertilizer decisions for precision agriculture</a:t>
            </a:r>
            <a:endParaRPr lang="en-US" sz="1050" dirty="0"/>
          </a:p>
        </p:txBody>
      </p:sp>
      <p:sp>
        <p:nvSpPr>
          <p:cNvPr id="25" name="Shape 23"/>
          <p:cNvSpPr/>
          <p:nvPr/>
        </p:nvSpPr>
        <p:spPr>
          <a:xfrm>
            <a:off x="3172968" y="3493008"/>
            <a:ext cx="2761488" cy="841248"/>
          </a:xfrm>
          <a:prstGeom prst="rect">
            <a:avLst/>
          </a:prstGeom>
          <a:solidFill>
            <a:srgbClr val="FFFFFF"/>
          </a:solidFill>
          <a:effectLst>
            <a:outerShdw blurRad="101600" dist="38100" dir="8100000" algn="bl" rotWithShape="0">
              <a:srgbClr val="000000">
                <a:alpha val="12000"/>
              </a:srgbClr>
            </a:outerShdw>
          </a:effectLst>
        </p:spPr>
      </p:sp>
      <p:sp>
        <p:nvSpPr>
          <p:cNvPr id="26" name="Shape 24"/>
          <p:cNvSpPr/>
          <p:nvPr/>
        </p:nvSpPr>
        <p:spPr>
          <a:xfrm>
            <a:off x="3172968" y="3493008"/>
            <a:ext cx="384048" cy="841248"/>
          </a:xfrm>
          <a:prstGeom prst="rect">
            <a:avLst/>
          </a:prstGeom>
          <a:solidFill>
            <a:srgbClr val="4CAF7A"/>
          </a:solidFill>
        </p:spPr>
      </p:sp>
      <p:sp>
        <p:nvSpPr>
          <p:cNvPr id="27" name="Text 25"/>
          <p:cNvSpPr/>
          <p:nvPr/>
        </p:nvSpPr>
        <p:spPr>
          <a:xfrm>
            <a:off x="3172968" y="3493008"/>
            <a:ext cx="384048" cy="8412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100" dirty="0"/>
          </a:p>
        </p:txBody>
      </p:sp>
      <p:sp>
        <p:nvSpPr>
          <p:cNvPr id="28" name="Text 26"/>
          <p:cNvSpPr/>
          <p:nvPr/>
        </p:nvSpPr>
        <p:spPr>
          <a:xfrm>
            <a:off x="3611880" y="3538728"/>
            <a:ext cx="2267712" cy="749808"/>
          </a:xfrm>
          <a:prstGeom prst="rect">
            <a:avLst/>
          </a:prstGeom>
          <a:noFill/>
        </p:spPr>
        <p:txBody>
          <a:bodyPr wrap="square" rtlCol="0" anchor="ctr"/>
          <a:lstStyle/>
          <a:p>
            <a:pPr marL="0" indent="0">
              <a:buNone/>
            </a:pPr>
            <a:r>
              <a:rPr lang="en-US" sz="1050" dirty="0">
                <a:solidFill>
                  <a:srgbClr val="1C2C24"/>
                </a:solidFill>
                <a:latin typeface="Calibri" panose="020F0502020204030204" pitchFamily="34" charset="0"/>
                <a:ea typeface="Calibri" panose="020F0502020204030204" pitchFamily="34" charset="-122"/>
                <a:cs typeface="Calibri" panose="020F0502020204030204" pitchFamily="34" charset="-120"/>
              </a:rPr>
              <a:t>Evaluate models using Accuracy, Precision, and Recall metrics</a:t>
            </a:r>
            <a:endParaRPr lang="en-US" sz="1050" dirty="0"/>
          </a:p>
        </p:txBody>
      </p:sp>
      <p:sp>
        <p:nvSpPr>
          <p:cNvPr id="32" name="Text 30"/>
          <p:cNvSpPr/>
          <p:nvPr/>
        </p:nvSpPr>
        <p:spPr>
          <a:xfrm>
            <a:off x="2510155" y="3581273"/>
            <a:ext cx="2267712" cy="749808"/>
          </a:xfrm>
          <a:prstGeom prst="rect">
            <a:avLst/>
          </a:prstGeom>
          <a:noFill/>
        </p:spPr>
        <p:txBody>
          <a:bodyPr wrap="square" rtlCol="0" anchor="ctr"/>
          <a:lstStyle/>
          <a:p>
            <a:pPr marL="0" indent="0">
              <a:buNone/>
            </a:pPr>
            <a:endParaRPr lang="en-US" sz="1050" dirty="0"/>
          </a:p>
        </p:txBody>
      </p:sp>
      <p:sp>
        <p:nvSpPr>
          <p:cNvPr id="35" name="Text 33"/>
          <p:cNvSpPr/>
          <p:nvPr/>
        </p:nvSpPr>
        <p:spPr>
          <a:xfrm>
            <a:off x="8577072" y="3830828"/>
            <a:ext cx="384048" cy="84124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100" dirty="0"/>
          </a:p>
        </p:txBody>
      </p:sp>
      <p:sp>
        <p:nvSpPr>
          <p:cNvPr id="36" name="Text 34"/>
          <p:cNvSpPr/>
          <p:nvPr/>
        </p:nvSpPr>
        <p:spPr>
          <a:xfrm>
            <a:off x="5084064" y="3538728"/>
            <a:ext cx="2267712" cy="749808"/>
          </a:xfrm>
          <a:prstGeom prst="rect">
            <a:avLst/>
          </a:prstGeom>
          <a:noFill/>
        </p:spPr>
        <p:txBody>
          <a:bodyPr wrap="square" rtlCol="0" anchor="ctr"/>
          <a:lstStyle/>
          <a:p>
            <a:pPr marL="0" indent="0">
              <a:buNone/>
            </a:pP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9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76749"/>
          </a:solidFill>
        </p:spPr>
      </p:sp>
      <p:sp>
        <p:nvSpPr>
          <p:cNvPr id="3" name="Text 1"/>
          <p:cNvSpPr/>
          <p:nvPr/>
        </p:nvSpPr>
        <p:spPr>
          <a:xfrm>
            <a:off x="320040" y="0"/>
            <a:ext cx="8229600" cy="658368"/>
          </a:xfrm>
          <a:prstGeom prst="rect">
            <a:avLst/>
          </a:prstGeom>
          <a:noFill/>
        </p:spPr>
        <p:txBody>
          <a:bodyPr wrap="square" lIns="0" tIns="0" rIns="0" bIns="0"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Chapter 3: Literature Review</a:t>
            </a:r>
            <a:endParaRPr lang="en-US" sz="2200" dirty="0"/>
          </a:p>
        </p:txBody>
      </p:sp>
      <p:sp>
        <p:nvSpPr>
          <p:cNvPr id="4" name="Text 2"/>
          <p:cNvSpPr/>
          <p:nvPr/>
        </p:nvSpPr>
        <p:spPr>
          <a:xfrm>
            <a:off x="320040" y="658368"/>
            <a:ext cx="8503920" cy="320040"/>
          </a:xfrm>
          <a:prstGeom prst="rect">
            <a:avLst/>
          </a:prstGeom>
          <a:noFill/>
        </p:spPr>
        <p:txBody>
          <a:bodyPr wrap="square" rtlCol="0" anchor="ctr"/>
          <a:lstStyle/>
          <a:p>
            <a:pPr marL="0" indent="0">
              <a:buNone/>
            </a:pPr>
            <a:r>
              <a:rPr lang="en-US" sz="1100" i="1" dirty="0">
                <a:solidFill>
                  <a:srgbClr val="4A6B58"/>
                </a:solidFill>
                <a:latin typeface="Calibri" panose="020F0502020204030204" pitchFamily="34" charset="0"/>
                <a:ea typeface="Calibri" panose="020F0502020204030204" pitchFamily="34" charset="-122"/>
                <a:cs typeface="Calibri" panose="020F0502020204030204" pitchFamily="34" charset="-120"/>
              </a:rPr>
              <a:t>10 recent studies (2024–2025) reviewed</a:t>
            </a:r>
            <a:endParaRPr lang="en-US" sz="1100" dirty="0"/>
          </a:p>
        </p:txBody>
      </p:sp>
      <p:sp>
        <p:nvSpPr>
          <p:cNvPr id="5" name="Shape 3"/>
          <p:cNvSpPr/>
          <p:nvPr/>
        </p:nvSpPr>
        <p:spPr>
          <a:xfrm>
            <a:off x="0" y="4983480"/>
            <a:ext cx="9144000" cy="164592"/>
          </a:xfrm>
          <a:prstGeom prst="rect">
            <a:avLst/>
          </a:prstGeom>
          <a:solidFill>
            <a:srgbClr val="1A4731"/>
          </a:solidFill>
        </p:spPr>
      </p:sp>
      <p:sp>
        <p:nvSpPr>
          <p:cNvPr id="6" name="Text 4"/>
          <p:cNvSpPr/>
          <p:nvPr/>
        </p:nvSpPr>
        <p:spPr>
          <a:xfrm>
            <a:off x="182880" y="4974336"/>
            <a:ext cx="8778240" cy="164592"/>
          </a:xfrm>
          <a:prstGeom prst="rect">
            <a:avLst/>
          </a:prstGeom>
          <a:noFill/>
        </p:spPr>
        <p:txBody>
          <a:bodyPr wrap="square" rtlCol="0" anchor="ctr"/>
          <a:lstStyle/>
          <a:p>
            <a:pPr marL="0" indent="0">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EAI421 – Application of AI &amp; ML  |  UAS Bangalore-560065</a:t>
            </a:r>
            <a:endParaRPr lang="en-US" sz="800" dirty="0"/>
          </a:p>
        </p:txBody>
      </p:sp>
      <p:sp>
        <p:nvSpPr>
          <p:cNvPr id="7" name="Shape 5"/>
          <p:cNvSpPr/>
          <p:nvPr/>
        </p:nvSpPr>
        <p:spPr>
          <a:xfrm>
            <a:off x="320040" y="1005840"/>
            <a:ext cx="1371600" cy="347472"/>
          </a:xfrm>
          <a:prstGeom prst="rect">
            <a:avLst/>
          </a:prstGeom>
          <a:solidFill>
            <a:srgbClr val="276749"/>
          </a:solidFill>
        </p:spPr>
      </p:sp>
      <p:sp>
        <p:nvSpPr>
          <p:cNvPr id="8" name="Text 6"/>
          <p:cNvSpPr/>
          <p:nvPr/>
        </p:nvSpPr>
        <p:spPr>
          <a:xfrm>
            <a:off x="356616" y="1005840"/>
            <a:ext cx="1298448" cy="347472"/>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Author(s)</a:t>
            </a:r>
            <a:endParaRPr lang="en-US" sz="1050" dirty="0"/>
          </a:p>
        </p:txBody>
      </p:sp>
      <p:sp>
        <p:nvSpPr>
          <p:cNvPr id="9" name="Shape 7"/>
          <p:cNvSpPr/>
          <p:nvPr/>
        </p:nvSpPr>
        <p:spPr>
          <a:xfrm>
            <a:off x="1691640" y="1005840"/>
            <a:ext cx="548640" cy="347472"/>
          </a:xfrm>
          <a:prstGeom prst="rect">
            <a:avLst/>
          </a:prstGeom>
          <a:solidFill>
            <a:srgbClr val="276749"/>
          </a:solidFill>
        </p:spPr>
      </p:sp>
      <p:sp>
        <p:nvSpPr>
          <p:cNvPr id="10" name="Text 8"/>
          <p:cNvSpPr/>
          <p:nvPr/>
        </p:nvSpPr>
        <p:spPr>
          <a:xfrm>
            <a:off x="1728216" y="1005840"/>
            <a:ext cx="475488" cy="347472"/>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Year</a:t>
            </a:r>
            <a:endParaRPr lang="en-US" sz="1050" dirty="0"/>
          </a:p>
        </p:txBody>
      </p:sp>
      <p:sp>
        <p:nvSpPr>
          <p:cNvPr id="11" name="Shape 9"/>
          <p:cNvSpPr/>
          <p:nvPr/>
        </p:nvSpPr>
        <p:spPr>
          <a:xfrm>
            <a:off x="2240280" y="1005840"/>
            <a:ext cx="1965960" cy="347472"/>
          </a:xfrm>
          <a:prstGeom prst="rect">
            <a:avLst/>
          </a:prstGeom>
          <a:solidFill>
            <a:srgbClr val="276749"/>
          </a:solidFill>
        </p:spPr>
      </p:sp>
      <p:sp>
        <p:nvSpPr>
          <p:cNvPr id="12" name="Text 10"/>
          <p:cNvSpPr/>
          <p:nvPr/>
        </p:nvSpPr>
        <p:spPr>
          <a:xfrm>
            <a:off x="2276856" y="1005840"/>
            <a:ext cx="1892808" cy="347472"/>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Algorithm / Method</a:t>
            </a:r>
            <a:endParaRPr lang="en-US" sz="1050" dirty="0"/>
          </a:p>
        </p:txBody>
      </p:sp>
      <p:sp>
        <p:nvSpPr>
          <p:cNvPr id="13" name="Shape 11"/>
          <p:cNvSpPr/>
          <p:nvPr/>
        </p:nvSpPr>
        <p:spPr>
          <a:xfrm>
            <a:off x="4206240" y="1005840"/>
            <a:ext cx="1737360" cy="347472"/>
          </a:xfrm>
          <a:prstGeom prst="rect">
            <a:avLst/>
          </a:prstGeom>
          <a:solidFill>
            <a:srgbClr val="276749"/>
          </a:solidFill>
        </p:spPr>
      </p:sp>
      <p:sp>
        <p:nvSpPr>
          <p:cNvPr id="14" name="Text 12"/>
          <p:cNvSpPr/>
          <p:nvPr/>
        </p:nvSpPr>
        <p:spPr>
          <a:xfrm>
            <a:off x="4242816" y="1005840"/>
            <a:ext cx="1664208" cy="347472"/>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Key Finding</a:t>
            </a:r>
            <a:endParaRPr lang="en-US" sz="1050" dirty="0"/>
          </a:p>
        </p:txBody>
      </p:sp>
      <p:sp>
        <p:nvSpPr>
          <p:cNvPr id="15" name="Shape 13"/>
          <p:cNvSpPr/>
          <p:nvPr/>
        </p:nvSpPr>
        <p:spPr>
          <a:xfrm>
            <a:off x="5943600" y="1005840"/>
            <a:ext cx="1874520" cy="347472"/>
          </a:xfrm>
          <a:prstGeom prst="rect">
            <a:avLst/>
          </a:prstGeom>
          <a:solidFill>
            <a:srgbClr val="276749"/>
          </a:solidFill>
        </p:spPr>
      </p:sp>
      <p:sp>
        <p:nvSpPr>
          <p:cNvPr id="16" name="Text 14"/>
          <p:cNvSpPr/>
          <p:nvPr/>
        </p:nvSpPr>
        <p:spPr>
          <a:xfrm>
            <a:off x="5980176" y="1005840"/>
            <a:ext cx="1801368" cy="347472"/>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Relevance</a:t>
            </a:r>
            <a:endParaRPr lang="en-US" sz="1050" dirty="0"/>
          </a:p>
        </p:txBody>
      </p:sp>
      <p:sp>
        <p:nvSpPr>
          <p:cNvPr id="17" name="Shape 15"/>
          <p:cNvSpPr/>
          <p:nvPr/>
        </p:nvSpPr>
        <p:spPr>
          <a:xfrm>
            <a:off x="320040" y="1353312"/>
            <a:ext cx="1371600" cy="429768"/>
          </a:xfrm>
          <a:prstGeom prst="rect">
            <a:avLst/>
          </a:prstGeom>
          <a:solidFill>
            <a:srgbClr val="EDF5F0"/>
          </a:solidFill>
          <a:ln w="6350">
            <a:solidFill>
              <a:srgbClr val="D5E8D8"/>
            </a:solidFill>
            <a:prstDash val="solid"/>
          </a:ln>
        </p:spPr>
      </p:sp>
      <p:sp>
        <p:nvSpPr>
          <p:cNvPr id="18" name="Text 16"/>
          <p:cNvSpPr/>
          <p:nvPr/>
        </p:nvSpPr>
        <p:spPr>
          <a:xfrm>
            <a:off x="365760" y="1371600"/>
            <a:ext cx="128016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Sharma et al.</a:t>
            </a:r>
            <a:endParaRPr lang="en-US" sz="950" dirty="0"/>
          </a:p>
        </p:txBody>
      </p:sp>
      <p:sp>
        <p:nvSpPr>
          <p:cNvPr id="19" name="Shape 17"/>
          <p:cNvSpPr/>
          <p:nvPr/>
        </p:nvSpPr>
        <p:spPr>
          <a:xfrm>
            <a:off x="1691640" y="1353312"/>
            <a:ext cx="548640" cy="429768"/>
          </a:xfrm>
          <a:prstGeom prst="rect">
            <a:avLst/>
          </a:prstGeom>
          <a:solidFill>
            <a:srgbClr val="EDF5F0"/>
          </a:solidFill>
          <a:ln w="6350">
            <a:solidFill>
              <a:srgbClr val="D5E8D8"/>
            </a:solidFill>
            <a:prstDash val="solid"/>
          </a:ln>
        </p:spPr>
      </p:sp>
      <p:sp>
        <p:nvSpPr>
          <p:cNvPr id="20" name="Text 18"/>
          <p:cNvSpPr/>
          <p:nvPr/>
        </p:nvSpPr>
        <p:spPr>
          <a:xfrm>
            <a:off x="1737360" y="1371600"/>
            <a:ext cx="45720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2024</a:t>
            </a:r>
            <a:endParaRPr lang="en-US" sz="950" dirty="0"/>
          </a:p>
        </p:txBody>
      </p:sp>
      <p:sp>
        <p:nvSpPr>
          <p:cNvPr id="21" name="Shape 19"/>
          <p:cNvSpPr/>
          <p:nvPr/>
        </p:nvSpPr>
        <p:spPr>
          <a:xfrm>
            <a:off x="2240280" y="1353312"/>
            <a:ext cx="1965960" cy="429768"/>
          </a:xfrm>
          <a:prstGeom prst="rect">
            <a:avLst/>
          </a:prstGeom>
          <a:solidFill>
            <a:srgbClr val="EDF5F0"/>
          </a:solidFill>
          <a:ln w="6350">
            <a:solidFill>
              <a:srgbClr val="D5E8D8"/>
            </a:solidFill>
            <a:prstDash val="solid"/>
          </a:ln>
        </p:spPr>
      </p:sp>
      <p:sp>
        <p:nvSpPr>
          <p:cNvPr id="22" name="Text 20"/>
          <p:cNvSpPr/>
          <p:nvPr/>
        </p:nvSpPr>
        <p:spPr>
          <a:xfrm>
            <a:off x="2286000" y="1371600"/>
            <a:ext cx="18745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RF &amp; Gradient Boosting</a:t>
            </a:r>
            <a:endParaRPr lang="en-US" sz="950" dirty="0"/>
          </a:p>
        </p:txBody>
      </p:sp>
      <p:sp>
        <p:nvSpPr>
          <p:cNvPr id="23" name="Shape 21"/>
          <p:cNvSpPr/>
          <p:nvPr/>
        </p:nvSpPr>
        <p:spPr>
          <a:xfrm>
            <a:off x="4206240" y="1353312"/>
            <a:ext cx="1737360" cy="429768"/>
          </a:xfrm>
          <a:prstGeom prst="rect">
            <a:avLst/>
          </a:prstGeom>
          <a:solidFill>
            <a:srgbClr val="EDF5F0"/>
          </a:solidFill>
          <a:ln w="6350">
            <a:solidFill>
              <a:srgbClr val="D5E8D8"/>
            </a:solidFill>
            <a:prstDash val="solid"/>
          </a:ln>
        </p:spPr>
      </p:sp>
      <p:sp>
        <p:nvSpPr>
          <p:cNvPr id="24" name="Text 22"/>
          <p:cNvSpPr/>
          <p:nvPr/>
        </p:nvSpPr>
        <p:spPr>
          <a:xfrm>
            <a:off x="4251960" y="1371600"/>
            <a:ext cx="16459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91.3% accuracy</a:t>
            </a:r>
            <a:endParaRPr lang="en-US" sz="950" dirty="0"/>
          </a:p>
        </p:txBody>
      </p:sp>
      <p:sp>
        <p:nvSpPr>
          <p:cNvPr id="25" name="Shape 23"/>
          <p:cNvSpPr/>
          <p:nvPr/>
        </p:nvSpPr>
        <p:spPr>
          <a:xfrm>
            <a:off x="5943600" y="1353312"/>
            <a:ext cx="1874520" cy="429768"/>
          </a:xfrm>
          <a:prstGeom prst="rect">
            <a:avLst/>
          </a:prstGeom>
          <a:solidFill>
            <a:srgbClr val="EDF5F0"/>
          </a:solidFill>
          <a:ln w="6350">
            <a:solidFill>
              <a:srgbClr val="D5E8D8"/>
            </a:solidFill>
            <a:prstDash val="solid"/>
          </a:ln>
        </p:spPr>
      </p:sp>
      <p:sp>
        <p:nvSpPr>
          <p:cNvPr id="26" name="Text 24"/>
          <p:cNvSpPr/>
          <p:nvPr/>
        </p:nvSpPr>
        <p:spPr>
          <a:xfrm>
            <a:off x="5989320" y="1371600"/>
            <a:ext cx="178308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Validates ensemble methods</a:t>
            </a:r>
            <a:endParaRPr lang="en-US" sz="950" dirty="0"/>
          </a:p>
        </p:txBody>
      </p:sp>
      <p:sp>
        <p:nvSpPr>
          <p:cNvPr id="27" name="Shape 25"/>
          <p:cNvSpPr/>
          <p:nvPr/>
        </p:nvSpPr>
        <p:spPr>
          <a:xfrm>
            <a:off x="320040" y="1783080"/>
            <a:ext cx="1371600" cy="429768"/>
          </a:xfrm>
          <a:prstGeom prst="rect">
            <a:avLst/>
          </a:prstGeom>
          <a:solidFill>
            <a:srgbClr val="FFFFFF"/>
          </a:solidFill>
          <a:ln w="6350">
            <a:solidFill>
              <a:srgbClr val="D5E8D8"/>
            </a:solidFill>
            <a:prstDash val="solid"/>
          </a:ln>
        </p:spPr>
      </p:sp>
      <p:sp>
        <p:nvSpPr>
          <p:cNvPr id="28" name="Text 26"/>
          <p:cNvSpPr/>
          <p:nvPr/>
        </p:nvSpPr>
        <p:spPr>
          <a:xfrm>
            <a:off x="365760" y="1801368"/>
            <a:ext cx="128016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Patel &amp; Kumar</a:t>
            </a:r>
            <a:endParaRPr lang="en-US" sz="950" dirty="0"/>
          </a:p>
        </p:txBody>
      </p:sp>
      <p:sp>
        <p:nvSpPr>
          <p:cNvPr id="29" name="Shape 27"/>
          <p:cNvSpPr/>
          <p:nvPr/>
        </p:nvSpPr>
        <p:spPr>
          <a:xfrm>
            <a:off x="1691640" y="1783080"/>
            <a:ext cx="548640" cy="429768"/>
          </a:xfrm>
          <a:prstGeom prst="rect">
            <a:avLst/>
          </a:prstGeom>
          <a:solidFill>
            <a:srgbClr val="FFFFFF"/>
          </a:solidFill>
          <a:ln w="6350">
            <a:solidFill>
              <a:srgbClr val="D5E8D8"/>
            </a:solidFill>
            <a:prstDash val="solid"/>
          </a:ln>
        </p:spPr>
      </p:sp>
      <p:sp>
        <p:nvSpPr>
          <p:cNvPr id="30" name="Text 28"/>
          <p:cNvSpPr/>
          <p:nvPr/>
        </p:nvSpPr>
        <p:spPr>
          <a:xfrm>
            <a:off x="1737360" y="1801368"/>
            <a:ext cx="45720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2024</a:t>
            </a:r>
            <a:endParaRPr lang="en-US" sz="950" dirty="0"/>
          </a:p>
        </p:txBody>
      </p:sp>
      <p:sp>
        <p:nvSpPr>
          <p:cNvPr id="31" name="Shape 29"/>
          <p:cNvSpPr/>
          <p:nvPr/>
        </p:nvSpPr>
        <p:spPr>
          <a:xfrm>
            <a:off x="2240280" y="1783080"/>
            <a:ext cx="1965960" cy="429768"/>
          </a:xfrm>
          <a:prstGeom prst="rect">
            <a:avLst/>
          </a:prstGeom>
          <a:solidFill>
            <a:srgbClr val="FFFFFF"/>
          </a:solidFill>
          <a:ln w="6350">
            <a:solidFill>
              <a:srgbClr val="D5E8D8"/>
            </a:solidFill>
            <a:prstDash val="solid"/>
          </a:ln>
        </p:spPr>
      </p:sp>
      <p:sp>
        <p:nvSpPr>
          <p:cNvPr id="32" name="Text 30"/>
          <p:cNvSpPr/>
          <p:nvPr/>
        </p:nvSpPr>
        <p:spPr>
          <a:xfrm>
            <a:off x="2286000" y="1801368"/>
            <a:ext cx="18745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LSTM &amp; MLP</a:t>
            </a:r>
            <a:endParaRPr lang="en-US" sz="950" dirty="0"/>
          </a:p>
        </p:txBody>
      </p:sp>
      <p:sp>
        <p:nvSpPr>
          <p:cNvPr id="33" name="Shape 31"/>
          <p:cNvSpPr/>
          <p:nvPr/>
        </p:nvSpPr>
        <p:spPr>
          <a:xfrm>
            <a:off x="4206240" y="1783080"/>
            <a:ext cx="1737360" cy="429768"/>
          </a:xfrm>
          <a:prstGeom prst="rect">
            <a:avLst/>
          </a:prstGeom>
          <a:solidFill>
            <a:srgbClr val="FFFFFF"/>
          </a:solidFill>
          <a:ln w="6350">
            <a:solidFill>
              <a:srgbClr val="D5E8D8"/>
            </a:solidFill>
            <a:prstDash val="solid"/>
          </a:ln>
        </p:spPr>
      </p:sp>
      <p:sp>
        <p:nvSpPr>
          <p:cNvPr id="34" name="Text 32"/>
          <p:cNvSpPr/>
          <p:nvPr/>
        </p:nvSpPr>
        <p:spPr>
          <a:xfrm>
            <a:off x="4251960" y="1801368"/>
            <a:ext cx="16459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MLP &gt; LSTM for static data</a:t>
            </a:r>
            <a:endParaRPr lang="en-US" sz="950" dirty="0"/>
          </a:p>
        </p:txBody>
      </p:sp>
      <p:sp>
        <p:nvSpPr>
          <p:cNvPr id="35" name="Shape 33"/>
          <p:cNvSpPr/>
          <p:nvPr/>
        </p:nvSpPr>
        <p:spPr>
          <a:xfrm>
            <a:off x="5943600" y="1783080"/>
            <a:ext cx="1874520" cy="429768"/>
          </a:xfrm>
          <a:prstGeom prst="rect">
            <a:avLst/>
          </a:prstGeom>
          <a:solidFill>
            <a:srgbClr val="FFFFFF"/>
          </a:solidFill>
          <a:ln w="6350">
            <a:solidFill>
              <a:srgbClr val="D5E8D8"/>
            </a:solidFill>
            <a:prstDash val="solid"/>
          </a:ln>
        </p:spPr>
      </p:sp>
      <p:sp>
        <p:nvSpPr>
          <p:cNvPr id="36" name="Text 34"/>
          <p:cNvSpPr/>
          <p:nvPr/>
        </p:nvSpPr>
        <p:spPr>
          <a:xfrm>
            <a:off x="5989320" y="1801368"/>
            <a:ext cx="178308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Justifies ANN inclusion</a:t>
            </a:r>
            <a:endParaRPr lang="en-US" sz="950" dirty="0"/>
          </a:p>
        </p:txBody>
      </p:sp>
      <p:sp>
        <p:nvSpPr>
          <p:cNvPr id="37" name="Shape 35"/>
          <p:cNvSpPr/>
          <p:nvPr/>
        </p:nvSpPr>
        <p:spPr>
          <a:xfrm>
            <a:off x="320040" y="2212848"/>
            <a:ext cx="1371600" cy="429768"/>
          </a:xfrm>
          <a:prstGeom prst="rect">
            <a:avLst/>
          </a:prstGeom>
          <a:solidFill>
            <a:srgbClr val="EDF5F0"/>
          </a:solidFill>
          <a:ln w="6350">
            <a:solidFill>
              <a:srgbClr val="D5E8D8"/>
            </a:solidFill>
            <a:prstDash val="solid"/>
          </a:ln>
        </p:spPr>
      </p:sp>
      <p:sp>
        <p:nvSpPr>
          <p:cNvPr id="38" name="Text 36"/>
          <p:cNvSpPr/>
          <p:nvPr/>
        </p:nvSpPr>
        <p:spPr>
          <a:xfrm>
            <a:off x="365760" y="2231136"/>
            <a:ext cx="128016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Nguyen et al.</a:t>
            </a:r>
            <a:endParaRPr lang="en-US" sz="950" dirty="0"/>
          </a:p>
        </p:txBody>
      </p:sp>
      <p:sp>
        <p:nvSpPr>
          <p:cNvPr id="39" name="Shape 37"/>
          <p:cNvSpPr/>
          <p:nvPr/>
        </p:nvSpPr>
        <p:spPr>
          <a:xfrm>
            <a:off x="1691640" y="2212848"/>
            <a:ext cx="548640" cy="429768"/>
          </a:xfrm>
          <a:prstGeom prst="rect">
            <a:avLst/>
          </a:prstGeom>
          <a:solidFill>
            <a:srgbClr val="EDF5F0"/>
          </a:solidFill>
          <a:ln w="6350">
            <a:solidFill>
              <a:srgbClr val="D5E8D8"/>
            </a:solidFill>
            <a:prstDash val="solid"/>
          </a:ln>
        </p:spPr>
      </p:sp>
      <p:sp>
        <p:nvSpPr>
          <p:cNvPr id="40" name="Text 38"/>
          <p:cNvSpPr/>
          <p:nvPr/>
        </p:nvSpPr>
        <p:spPr>
          <a:xfrm>
            <a:off x="1737360" y="2231136"/>
            <a:ext cx="45720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2024</a:t>
            </a:r>
            <a:endParaRPr lang="en-US" sz="950" dirty="0"/>
          </a:p>
        </p:txBody>
      </p:sp>
      <p:sp>
        <p:nvSpPr>
          <p:cNvPr id="41" name="Shape 39"/>
          <p:cNvSpPr/>
          <p:nvPr/>
        </p:nvSpPr>
        <p:spPr>
          <a:xfrm>
            <a:off x="2240280" y="2212848"/>
            <a:ext cx="1965960" cy="429768"/>
          </a:xfrm>
          <a:prstGeom prst="rect">
            <a:avLst/>
          </a:prstGeom>
          <a:solidFill>
            <a:srgbClr val="EDF5F0"/>
          </a:solidFill>
          <a:ln w="6350">
            <a:solidFill>
              <a:srgbClr val="D5E8D8"/>
            </a:solidFill>
            <a:prstDash val="solid"/>
          </a:ln>
        </p:spPr>
      </p:sp>
      <p:sp>
        <p:nvSpPr>
          <p:cNvPr id="42" name="Text 40"/>
          <p:cNvSpPr/>
          <p:nvPr/>
        </p:nvSpPr>
        <p:spPr>
          <a:xfrm>
            <a:off x="2286000" y="2231136"/>
            <a:ext cx="18745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DT, SVM, k-NN, Naive Bayes</a:t>
            </a:r>
            <a:endParaRPr lang="en-US" sz="950" dirty="0"/>
          </a:p>
        </p:txBody>
      </p:sp>
      <p:sp>
        <p:nvSpPr>
          <p:cNvPr id="43" name="Shape 41"/>
          <p:cNvSpPr/>
          <p:nvPr/>
        </p:nvSpPr>
        <p:spPr>
          <a:xfrm>
            <a:off x="4206240" y="2212848"/>
            <a:ext cx="1737360" cy="429768"/>
          </a:xfrm>
          <a:prstGeom prst="rect">
            <a:avLst/>
          </a:prstGeom>
          <a:solidFill>
            <a:srgbClr val="EDF5F0"/>
          </a:solidFill>
          <a:ln w="6350">
            <a:solidFill>
              <a:srgbClr val="D5E8D8"/>
            </a:solidFill>
            <a:prstDash val="solid"/>
          </a:ln>
        </p:spPr>
      </p:sp>
      <p:sp>
        <p:nvSpPr>
          <p:cNvPr id="44" name="Text 42"/>
          <p:cNvSpPr/>
          <p:nvPr/>
        </p:nvSpPr>
        <p:spPr>
          <a:xfrm>
            <a:off x="4251960" y="2231136"/>
            <a:ext cx="16459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&gt;89% for DT &amp; SVM</a:t>
            </a:r>
            <a:endParaRPr lang="en-US" sz="950" dirty="0"/>
          </a:p>
        </p:txBody>
      </p:sp>
      <p:sp>
        <p:nvSpPr>
          <p:cNvPr id="45" name="Shape 43"/>
          <p:cNvSpPr/>
          <p:nvPr/>
        </p:nvSpPr>
        <p:spPr>
          <a:xfrm>
            <a:off x="5943600" y="2212848"/>
            <a:ext cx="1874520" cy="429768"/>
          </a:xfrm>
          <a:prstGeom prst="rect">
            <a:avLst/>
          </a:prstGeom>
          <a:solidFill>
            <a:srgbClr val="EDF5F0"/>
          </a:solidFill>
          <a:ln w="6350">
            <a:solidFill>
              <a:srgbClr val="D5E8D8"/>
            </a:solidFill>
            <a:prstDash val="solid"/>
          </a:ln>
        </p:spPr>
      </p:sp>
      <p:sp>
        <p:nvSpPr>
          <p:cNvPr id="46" name="Text 44"/>
          <p:cNvSpPr/>
          <p:nvPr/>
        </p:nvSpPr>
        <p:spPr>
          <a:xfrm>
            <a:off x="5989320" y="2231136"/>
            <a:ext cx="178308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Benchmark for DT comparison</a:t>
            </a:r>
            <a:endParaRPr lang="en-US" sz="950" dirty="0"/>
          </a:p>
        </p:txBody>
      </p:sp>
      <p:sp>
        <p:nvSpPr>
          <p:cNvPr id="47" name="Shape 45"/>
          <p:cNvSpPr/>
          <p:nvPr/>
        </p:nvSpPr>
        <p:spPr>
          <a:xfrm>
            <a:off x="320040" y="2642616"/>
            <a:ext cx="1371600" cy="429768"/>
          </a:xfrm>
          <a:prstGeom prst="rect">
            <a:avLst/>
          </a:prstGeom>
          <a:solidFill>
            <a:srgbClr val="FFFFFF"/>
          </a:solidFill>
          <a:ln w="6350">
            <a:solidFill>
              <a:srgbClr val="D5E8D8"/>
            </a:solidFill>
            <a:prstDash val="solid"/>
          </a:ln>
        </p:spPr>
      </p:sp>
      <p:sp>
        <p:nvSpPr>
          <p:cNvPr id="48" name="Text 46"/>
          <p:cNvSpPr/>
          <p:nvPr/>
        </p:nvSpPr>
        <p:spPr>
          <a:xfrm>
            <a:off x="365760" y="2660904"/>
            <a:ext cx="128016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Ramesh &amp; Priya</a:t>
            </a:r>
            <a:endParaRPr lang="en-US" sz="950" dirty="0"/>
          </a:p>
        </p:txBody>
      </p:sp>
      <p:sp>
        <p:nvSpPr>
          <p:cNvPr id="49" name="Shape 47"/>
          <p:cNvSpPr/>
          <p:nvPr/>
        </p:nvSpPr>
        <p:spPr>
          <a:xfrm>
            <a:off x="1691640" y="2642616"/>
            <a:ext cx="548640" cy="429768"/>
          </a:xfrm>
          <a:prstGeom prst="rect">
            <a:avLst/>
          </a:prstGeom>
          <a:solidFill>
            <a:srgbClr val="FFFFFF"/>
          </a:solidFill>
          <a:ln w="6350">
            <a:solidFill>
              <a:srgbClr val="D5E8D8"/>
            </a:solidFill>
            <a:prstDash val="solid"/>
          </a:ln>
        </p:spPr>
      </p:sp>
      <p:sp>
        <p:nvSpPr>
          <p:cNvPr id="50" name="Text 48"/>
          <p:cNvSpPr/>
          <p:nvPr/>
        </p:nvSpPr>
        <p:spPr>
          <a:xfrm>
            <a:off x="1737360" y="2660904"/>
            <a:ext cx="45720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2025</a:t>
            </a:r>
            <a:endParaRPr lang="en-US" sz="950" dirty="0"/>
          </a:p>
        </p:txBody>
      </p:sp>
      <p:sp>
        <p:nvSpPr>
          <p:cNvPr id="51" name="Shape 49"/>
          <p:cNvSpPr/>
          <p:nvPr/>
        </p:nvSpPr>
        <p:spPr>
          <a:xfrm>
            <a:off x="2240280" y="2642616"/>
            <a:ext cx="1965960" cy="429768"/>
          </a:xfrm>
          <a:prstGeom prst="rect">
            <a:avLst/>
          </a:prstGeom>
          <a:solidFill>
            <a:srgbClr val="FFFFFF"/>
          </a:solidFill>
          <a:ln w="6350">
            <a:solidFill>
              <a:srgbClr val="D5E8D8"/>
            </a:solidFill>
            <a:prstDash val="solid"/>
          </a:ln>
        </p:spPr>
      </p:sp>
      <p:sp>
        <p:nvSpPr>
          <p:cNvPr id="52" name="Text 50"/>
          <p:cNvSpPr/>
          <p:nvPr/>
        </p:nvSpPr>
        <p:spPr>
          <a:xfrm>
            <a:off x="2286000" y="2660904"/>
            <a:ext cx="18745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RF + SHAP</a:t>
            </a:r>
            <a:endParaRPr lang="en-US" sz="950" dirty="0"/>
          </a:p>
        </p:txBody>
      </p:sp>
      <p:sp>
        <p:nvSpPr>
          <p:cNvPr id="53" name="Shape 51"/>
          <p:cNvSpPr/>
          <p:nvPr/>
        </p:nvSpPr>
        <p:spPr>
          <a:xfrm>
            <a:off x="4206240" y="2642616"/>
            <a:ext cx="1737360" cy="429768"/>
          </a:xfrm>
          <a:prstGeom prst="rect">
            <a:avLst/>
          </a:prstGeom>
          <a:solidFill>
            <a:srgbClr val="FFFFFF"/>
          </a:solidFill>
          <a:ln w="6350">
            <a:solidFill>
              <a:srgbClr val="D5E8D8"/>
            </a:solidFill>
            <a:prstDash val="solid"/>
          </a:ln>
        </p:spPr>
      </p:sp>
      <p:sp>
        <p:nvSpPr>
          <p:cNvPr id="54" name="Text 52"/>
          <p:cNvSpPr/>
          <p:nvPr/>
        </p:nvSpPr>
        <p:spPr>
          <a:xfrm>
            <a:off x="4251960" y="2660904"/>
            <a:ext cx="16459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N &amp; Soil Type most influential</a:t>
            </a:r>
            <a:endParaRPr lang="en-US" sz="950" dirty="0"/>
          </a:p>
        </p:txBody>
      </p:sp>
      <p:sp>
        <p:nvSpPr>
          <p:cNvPr id="55" name="Shape 53"/>
          <p:cNvSpPr/>
          <p:nvPr/>
        </p:nvSpPr>
        <p:spPr>
          <a:xfrm>
            <a:off x="5943600" y="2642616"/>
            <a:ext cx="1874520" cy="429768"/>
          </a:xfrm>
          <a:prstGeom prst="rect">
            <a:avLst/>
          </a:prstGeom>
          <a:solidFill>
            <a:srgbClr val="FFFFFF"/>
          </a:solidFill>
          <a:ln w="6350">
            <a:solidFill>
              <a:srgbClr val="D5E8D8"/>
            </a:solidFill>
            <a:prstDash val="solid"/>
          </a:ln>
        </p:spPr>
      </p:sp>
      <p:sp>
        <p:nvSpPr>
          <p:cNvPr id="56" name="Text 54"/>
          <p:cNvSpPr/>
          <p:nvPr/>
        </p:nvSpPr>
        <p:spPr>
          <a:xfrm>
            <a:off x="5989320" y="2660904"/>
            <a:ext cx="178308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Supports explainability</a:t>
            </a:r>
            <a:endParaRPr lang="en-US" sz="950" dirty="0"/>
          </a:p>
        </p:txBody>
      </p:sp>
      <p:sp>
        <p:nvSpPr>
          <p:cNvPr id="57" name="Shape 55"/>
          <p:cNvSpPr/>
          <p:nvPr/>
        </p:nvSpPr>
        <p:spPr>
          <a:xfrm>
            <a:off x="320040" y="3072384"/>
            <a:ext cx="1371600" cy="429768"/>
          </a:xfrm>
          <a:prstGeom prst="rect">
            <a:avLst/>
          </a:prstGeom>
          <a:solidFill>
            <a:srgbClr val="EDF5F0"/>
          </a:solidFill>
          <a:ln w="6350">
            <a:solidFill>
              <a:srgbClr val="D5E8D8"/>
            </a:solidFill>
            <a:prstDash val="solid"/>
          </a:ln>
        </p:spPr>
      </p:sp>
      <p:sp>
        <p:nvSpPr>
          <p:cNvPr id="58" name="Text 56"/>
          <p:cNvSpPr/>
          <p:nvPr/>
        </p:nvSpPr>
        <p:spPr>
          <a:xfrm>
            <a:off x="365760" y="3090672"/>
            <a:ext cx="128016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Zhang et al.</a:t>
            </a:r>
            <a:endParaRPr lang="en-US" sz="950" dirty="0"/>
          </a:p>
        </p:txBody>
      </p:sp>
      <p:sp>
        <p:nvSpPr>
          <p:cNvPr id="59" name="Shape 57"/>
          <p:cNvSpPr/>
          <p:nvPr/>
        </p:nvSpPr>
        <p:spPr>
          <a:xfrm>
            <a:off x="1691640" y="3072384"/>
            <a:ext cx="548640" cy="429768"/>
          </a:xfrm>
          <a:prstGeom prst="rect">
            <a:avLst/>
          </a:prstGeom>
          <a:solidFill>
            <a:srgbClr val="EDF5F0"/>
          </a:solidFill>
          <a:ln w="6350">
            <a:solidFill>
              <a:srgbClr val="D5E8D8"/>
            </a:solidFill>
            <a:prstDash val="solid"/>
          </a:ln>
        </p:spPr>
      </p:sp>
      <p:sp>
        <p:nvSpPr>
          <p:cNvPr id="60" name="Text 58"/>
          <p:cNvSpPr/>
          <p:nvPr/>
        </p:nvSpPr>
        <p:spPr>
          <a:xfrm>
            <a:off x="1737360" y="3090672"/>
            <a:ext cx="45720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2025</a:t>
            </a:r>
            <a:endParaRPr lang="en-US" sz="950" dirty="0"/>
          </a:p>
        </p:txBody>
      </p:sp>
      <p:sp>
        <p:nvSpPr>
          <p:cNvPr id="61" name="Shape 59"/>
          <p:cNvSpPr/>
          <p:nvPr/>
        </p:nvSpPr>
        <p:spPr>
          <a:xfrm>
            <a:off x="2240280" y="3072384"/>
            <a:ext cx="1965960" cy="429768"/>
          </a:xfrm>
          <a:prstGeom prst="rect">
            <a:avLst/>
          </a:prstGeom>
          <a:solidFill>
            <a:srgbClr val="EDF5F0"/>
          </a:solidFill>
          <a:ln w="6350">
            <a:solidFill>
              <a:srgbClr val="D5E8D8"/>
            </a:solidFill>
            <a:prstDash val="solid"/>
          </a:ln>
        </p:spPr>
      </p:sp>
      <p:sp>
        <p:nvSpPr>
          <p:cNvPr id="62" name="Text 60"/>
          <p:cNvSpPr/>
          <p:nvPr/>
        </p:nvSpPr>
        <p:spPr>
          <a:xfrm>
            <a:off x="2286000" y="3090672"/>
            <a:ext cx="18745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CNN-LSTM Hybrid</a:t>
            </a:r>
            <a:endParaRPr lang="en-US" sz="950" dirty="0"/>
          </a:p>
        </p:txBody>
      </p:sp>
      <p:sp>
        <p:nvSpPr>
          <p:cNvPr id="63" name="Shape 61"/>
          <p:cNvSpPr/>
          <p:nvPr/>
        </p:nvSpPr>
        <p:spPr>
          <a:xfrm>
            <a:off x="4206240" y="3072384"/>
            <a:ext cx="1737360" cy="429768"/>
          </a:xfrm>
          <a:prstGeom prst="rect">
            <a:avLst/>
          </a:prstGeom>
          <a:solidFill>
            <a:srgbClr val="EDF5F0"/>
          </a:solidFill>
          <a:ln w="6350">
            <a:solidFill>
              <a:srgbClr val="D5E8D8"/>
            </a:solidFill>
            <a:prstDash val="solid"/>
          </a:ln>
        </p:spPr>
      </p:sp>
      <p:sp>
        <p:nvSpPr>
          <p:cNvPr id="64" name="Text 62"/>
          <p:cNvSpPr/>
          <p:nvPr/>
        </p:nvSpPr>
        <p:spPr>
          <a:xfrm>
            <a:off x="4251960" y="3090672"/>
            <a:ext cx="16459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93.7% (greenhouses)</a:t>
            </a:r>
            <a:endParaRPr lang="en-US" sz="950" dirty="0"/>
          </a:p>
        </p:txBody>
      </p:sp>
      <p:sp>
        <p:nvSpPr>
          <p:cNvPr id="65" name="Shape 63"/>
          <p:cNvSpPr/>
          <p:nvPr/>
        </p:nvSpPr>
        <p:spPr>
          <a:xfrm>
            <a:off x="5943600" y="3072384"/>
            <a:ext cx="1874520" cy="429768"/>
          </a:xfrm>
          <a:prstGeom prst="rect">
            <a:avLst/>
          </a:prstGeom>
          <a:solidFill>
            <a:srgbClr val="EDF5F0"/>
          </a:solidFill>
          <a:ln w="6350">
            <a:solidFill>
              <a:srgbClr val="D5E8D8"/>
            </a:solidFill>
            <a:prstDash val="solid"/>
          </a:ln>
        </p:spPr>
      </p:sp>
      <p:sp>
        <p:nvSpPr>
          <p:cNvPr id="66" name="Text 64"/>
          <p:cNvSpPr/>
          <p:nvPr/>
        </p:nvSpPr>
        <p:spPr>
          <a:xfrm>
            <a:off x="5989320" y="3090672"/>
            <a:ext cx="178308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Future direction</a:t>
            </a:r>
            <a:endParaRPr lang="en-US" sz="950" dirty="0"/>
          </a:p>
        </p:txBody>
      </p:sp>
      <p:sp>
        <p:nvSpPr>
          <p:cNvPr id="67" name="Shape 65"/>
          <p:cNvSpPr/>
          <p:nvPr/>
        </p:nvSpPr>
        <p:spPr>
          <a:xfrm>
            <a:off x="320040" y="3502152"/>
            <a:ext cx="1371600" cy="429768"/>
          </a:xfrm>
          <a:prstGeom prst="rect">
            <a:avLst/>
          </a:prstGeom>
          <a:solidFill>
            <a:srgbClr val="FFFFFF"/>
          </a:solidFill>
          <a:ln w="6350">
            <a:solidFill>
              <a:srgbClr val="D5E8D8"/>
            </a:solidFill>
            <a:prstDash val="solid"/>
          </a:ln>
        </p:spPr>
      </p:sp>
      <p:sp>
        <p:nvSpPr>
          <p:cNvPr id="68" name="Text 66"/>
          <p:cNvSpPr/>
          <p:nvPr/>
        </p:nvSpPr>
        <p:spPr>
          <a:xfrm>
            <a:off x="365760" y="3520440"/>
            <a:ext cx="128016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Kulkarni &amp; Desai</a:t>
            </a:r>
            <a:endParaRPr lang="en-US" sz="950" dirty="0"/>
          </a:p>
        </p:txBody>
      </p:sp>
      <p:sp>
        <p:nvSpPr>
          <p:cNvPr id="69" name="Shape 67"/>
          <p:cNvSpPr/>
          <p:nvPr/>
        </p:nvSpPr>
        <p:spPr>
          <a:xfrm>
            <a:off x="1691640" y="3502152"/>
            <a:ext cx="548640" cy="429768"/>
          </a:xfrm>
          <a:prstGeom prst="rect">
            <a:avLst/>
          </a:prstGeom>
          <a:solidFill>
            <a:srgbClr val="FFFFFF"/>
          </a:solidFill>
          <a:ln w="6350">
            <a:solidFill>
              <a:srgbClr val="D5E8D8"/>
            </a:solidFill>
            <a:prstDash val="solid"/>
          </a:ln>
        </p:spPr>
      </p:sp>
      <p:sp>
        <p:nvSpPr>
          <p:cNvPr id="70" name="Text 68"/>
          <p:cNvSpPr/>
          <p:nvPr/>
        </p:nvSpPr>
        <p:spPr>
          <a:xfrm>
            <a:off x="1737360" y="3520440"/>
            <a:ext cx="45720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2024</a:t>
            </a:r>
            <a:endParaRPr lang="en-US" sz="950" dirty="0"/>
          </a:p>
        </p:txBody>
      </p:sp>
      <p:sp>
        <p:nvSpPr>
          <p:cNvPr id="71" name="Shape 69"/>
          <p:cNvSpPr/>
          <p:nvPr/>
        </p:nvSpPr>
        <p:spPr>
          <a:xfrm>
            <a:off x="2240280" y="3502152"/>
            <a:ext cx="1965960" cy="429768"/>
          </a:xfrm>
          <a:prstGeom prst="rect">
            <a:avLst/>
          </a:prstGeom>
          <a:solidFill>
            <a:srgbClr val="FFFFFF"/>
          </a:solidFill>
          <a:ln w="6350">
            <a:solidFill>
              <a:srgbClr val="D5E8D8"/>
            </a:solidFill>
            <a:prstDash val="solid"/>
          </a:ln>
        </p:spPr>
      </p:sp>
      <p:sp>
        <p:nvSpPr>
          <p:cNvPr id="72" name="Text 70"/>
          <p:cNvSpPr/>
          <p:nvPr/>
        </p:nvSpPr>
        <p:spPr>
          <a:xfrm>
            <a:off x="2286000" y="3520440"/>
            <a:ext cx="18745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LightGBM, XGBoost</a:t>
            </a:r>
            <a:endParaRPr lang="en-US" sz="950" dirty="0"/>
          </a:p>
        </p:txBody>
      </p:sp>
      <p:sp>
        <p:nvSpPr>
          <p:cNvPr id="73" name="Shape 71"/>
          <p:cNvSpPr/>
          <p:nvPr/>
        </p:nvSpPr>
        <p:spPr>
          <a:xfrm>
            <a:off x="4206240" y="3502152"/>
            <a:ext cx="1737360" cy="429768"/>
          </a:xfrm>
          <a:prstGeom prst="rect">
            <a:avLst/>
          </a:prstGeom>
          <a:solidFill>
            <a:srgbClr val="FFFFFF"/>
          </a:solidFill>
          <a:ln w="6350">
            <a:solidFill>
              <a:srgbClr val="D5E8D8"/>
            </a:solidFill>
            <a:prstDash val="solid"/>
          </a:ln>
        </p:spPr>
      </p:sp>
      <p:sp>
        <p:nvSpPr>
          <p:cNvPr id="74" name="Text 72"/>
          <p:cNvSpPr/>
          <p:nvPr/>
        </p:nvSpPr>
        <p:spPr>
          <a:xfrm>
            <a:off x="4251960" y="3520440"/>
            <a:ext cx="16459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F1 = 0.927</a:t>
            </a:r>
            <a:endParaRPr lang="en-US" sz="950" dirty="0"/>
          </a:p>
        </p:txBody>
      </p:sp>
      <p:sp>
        <p:nvSpPr>
          <p:cNvPr id="75" name="Shape 73"/>
          <p:cNvSpPr/>
          <p:nvPr/>
        </p:nvSpPr>
        <p:spPr>
          <a:xfrm>
            <a:off x="5943600" y="3502152"/>
            <a:ext cx="1874520" cy="429768"/>
          </a:xfrm>
          <a:prstGeom prst="rect">
            <a:avLst/>
          </a:prstGeom>
          <a:solidFill>
            <a:srgbClr val="FFFFFF"/>
          </a:solidFill>
          <a:ln w="6350">
            <a:solidFill>
              <a:srgbClr val="D5E8D8"/>
            </a:solidFill>
            <a:prstDash val="solid"/>
          </a:ln>
        </p:spPr>
      </p:sp>
      <p:sp>
        <p:nvSpPr>
          <p:cNvPr id="76" name="Text 74"/>
          <p:cNvSpPr/>
          <p:nvPr/>
        </p:nvSpPr>
        <p:spPr>
          <a:xfrm>
            <a:off x="5989320" y="3520440"/>
            <a:ext cx="178308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Boosted trees baseline</a:t>
            </a:r>
            <a:endParaRPr lang="en-US" sz="950" dirty="0"/>
          </a:p>
        </p:txBody>
      </p:sp>
      <p:sp>
        <p:nvSpPr>
          <p:cNvPr id="77" name="Shape 75"/>
          <p:cNvSpPr/>
          <p:nvPr/>
        </p:nvSpPr>
        <p:spPr>
          <a:xfrm>
            <a:off x="320040" y="3931920"/>
            <a:ext cx="1371600" cy="429768"/>
          </a:xfrm>
          <a:prstGeom prst="rect">
            <a:avLst/>
          </a:prstGeom>
          <a:solidFill>
            <a:srgbClr val="EDF5F0"/>
          </a:solidFill>
          <a:ln w="6350">
            <a:solidFill>
              <a:srgbClr val="D5E8D8"/>
            </a:solidFill>
            <a:prstDash val="solid"/>
          </a:ln>
        </p:spPr>
      </p:sp>
      <p:sp>
        <p:nvSpPr>
          <p:cNvPr id="78" name="Text 76"/>
          <p:cNvSpPr/>
          <p:nvPr/>
        </p:nvSpPr>
        <p:spPr>
          <a:xfrm>
            <a:off x="365760" y="3950208"/>
            <a:ext cx="128016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Fernandes et al.</a:t>
            </a:r>
            <a:endParaRPr lang="en-US" sz="950" dirty="0"/>
          </a:p>
        </p:txBody>
      </p:sp>
      <p:sp>
        <p:nvSpPr>
          <p:cNvPr id="79" name="Shape 77"/>
          <p:cNvSpPr/>
          <p:nvPr/>
        </p:nvSpPr>
        <p:spPr>
          <a:xfrm>
            <a:off x="1691640" y="3931920"/>
            <a:ext cx="548640" cy="429768"/>
          </a:xfrm>
          <a:prstGeom prst="rect">
            <a:avLst/>
          </a:prstGeom>
          <a:solidFill>
            <a:srgbClr val="EDF5F0"/>
          </a:solidFill>
          <a:ln w="6350">
            <a:solidFill>
              <a:srgbClr val="D5E8D8"/>
            </a:solidFill>
            <a:prstDash val="solid"/>
          </a:ln>
        </p:spPr>
      </p:sp>
      <p:sp>
        <p:nvSpPr>
          <p:cNvPr id="80" name="Text 78"/>
          <p:cNvSpPr/>
          <p:nvPr/>
        </p:nvSpPr>
        <p:spPr>
          <a:xfrm>
            <a:off x="1737360" y="3950208"/>
            <a:ext cx="45720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2025</a:t>
            </a:r>
            <a:endParaRPr lang="en-US" sz="950" dirty="0"/>
          </a:p>
        </p:txBody>
      </p:sp>
      <p:sp>
        <p:nvSpPr>
          <p:cNvPr id="81" name="Shape 79"/>
          <p:cNvSpPr/>
          <p:nvPr/>
        </p:nvSpPr>
        <p:spPr>
          <a:xfrm>
            <a:off x="2240280" y="3931920"/>
            <a:ext cx="1965960" cy="429768"/>
          </a:xfrm>
          <a:prstGeom prst="rect">
            <a:avLst/>
          </a:prstGeom>
          <a:solidFill>
            <a:srgbClr val="EDF5F0"/>
          </a:solidFill>
          <a:ln w="6350">
            <a:solidFill>
              <a:srgbClr val="D5E8D8"/>
            </a:solidFill>
            <a:prstDash val="solid"/>
          </a:ln>
        </p:spPr>
      </p:sp>
      <p:sp>
        <p:nvSpPr>
          <p:cNvPr id="82" name="Text 80"/>
          <p:cNvSpPr/>
          <p:nvPr/>
        </p:nvSpPr>
        <p:spPr>
          <a:xfrm>
            <a:off x="2286000" y="3950208"/>
            <a:ext cx="18745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IoT + Random Forest</a:t>
            </a:r>
            <a:endParaRPr lang="en-US" sz="950" dirty="0"/>
          </a:p>
        </p:txBody>
      </p:sp>
      <p:sp>
        <p:nvSpPr>
          <p:cNvPr id="83" name="Shape 81"/>
          <p:cNvSpPr/>
          <p:nvPr/>
        </p:nvSpPr>
        <p:spPr>
          <a:xfrm>
            <a:off x="4206240" y="3931920"/>
            <a:ext cx="1737360" cy="429768"/>
          </a:xfrm>
          <a:prstGeom prst="rect">
            <a:avLst/>
          </a:prstGeom>
          <a:solidFill>
            <a:srgbClr val="EDF5F0"/>
          </a:solidFill>
          <a:ln w="6350">
            <a:solidFill>
              <a:srgbClr val="D5E8D8"/>
            </a:solidFill>
            <a:prstDash val="solid"/>
          </a:ln>
        </p:spPr>
      </p:sp>
      <p:sp>
        <p:nvSpPr>
          <p:cNvPr id="84" name="Text 82"/>
          <p:cNvSpPr/>
          <p:nvPr/>
        </p:nvSpPr>
        <p:spPr>
          <a:xfrm>
            <a:off x="4251960" y="3950208"/>
            <a:ext cx="16459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88.9% in field trials</a:t>
            </a:r>
            <a:endParaRPr lang="en-US" sz="950" dirty="0"/>
          </a:p>
        </p:txBody>
      </p:sp>
      <p:sp>
        <p:nvSpPr>
          <p:cNvPr id="85" name="Shape 83"/>
          <p:cNvSpPr/>
          <p:nvPr/>
        </p:nvSpPr>
        <p:spPr>
          <a:xfrm>
            <a:off x="5943600" y="3931920"/>
            <a:ext cx="1874520" cy="429768"/>
          </a:xfrm>
          <a:prstGeom prst="rect">
            <a:avLst/>
          </a:prstGeom>
          <a:solidFill>
            <a:srgbClr val="EDF5F0"/>
          </a:solidFill>
          <a:ln w="6350">
            <a:solidFill>
              <a:srgbClr val="D5E8D8"/>
            </a:solidFill>
            <a:prstDash val="solid"/>
          </a:ln>
        </p:spPr>
      </p:sp>
      <p:sp>
        <p:nvSpPr>
          <p:cNvPr id="86" name="Text 84"/>
          <p:cNvSpPr/>
          <p:nvPr/>
        </p:nvSpPr>
        <p:spPr>
          <a:xfrm>
            <a:off x="5989320" y="3950208"/>
            <a:ext cx="178308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Real-world applicability</a:t>
            </a:r>
            <a:endParaRPr lang="en-US" sz="950" dirty="0"/>
          </a:p>
        </p:txBody>
      </p:sp>
      <p:sp>
        <p:nvSpPr>
          <p:cNvPr id="87" name="Shape 85"/>
          <p:cNvSpPr/>
          <p:nvPr/>
        </p:nvSpPr>
        <p:spPr>
          <a:xfrm>
            <a:off x="320040" y="4361688"/>
            <a:ext cx="1371600" cy="429768"/>
          </a:xfrm>
          <a:prstGeom prst="rect">
            <a:avLst/>
          </a:prstGeom>
          <a:solidFill>
            <a:srgbClr val="FFFFFF"/>
          </a:solidFill>
          <a:ln w="6350">
            <a:solidFill>
              <a:srgbClr val="D5E8D8"/>
            </a:solidFill>
            <a:prstDash val="solid"/>
          </a:ln>
        </p:spPr>
      </p:sp>
      <p:sp>
        <p:nvSpPr>
          <p:cNvPr id="88" name="Text 86"/>
          <p:cNvSpPr/>
          <p:nvPr/>
        </p:nvSpPr>
        <p:spPr>
          <a:xfrm>
            <a:off x="365760" y="4379976"/>
            <a:ext cx="128016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Verma &amp; Singh</a:t>
            </a:r>
            <a:endParaRPr lang="en-US" sz="950" dirty="0"/>
          </a:p>
        </p:txBody>
      </p:sp>
      <p:sp>
        <p:nvSpPr>
          <p:cNvPr id="89" name="Shape 87"/>
          <p:cNvSpPr/>
          <p:nvPr/>
        </p:nvSpPr>
        <p:spPr>
          <a:xfrm>
            <a:off x="1691640" y="4361688"/>
            <a:ext cx="548640" cy="429768"/>
          </a:xfrm>
          <a:prstGeom prst="rect">
            <a:avLst/>
          </a:prstGeom>
          <a:solidFill>
            <a:srgbClr val="FFFFFF"/>
          </a:solidFill>
          <a:ln w="6350">
            <a:solidFill>
              <a:srgbClr val="D5E8D8"/>
            </a:solidFill>
            <a:prstDash val="solid"/>
          </a:ln>
        </p:spPr>
      </p:sp>
      <p:sp>
        <p:nvSpPr>
          <p:cNvPr id="90" name="Text 88"/>
          <p:cNvSpPr/>
          <p:nvPr/>
        </p:nvSpPr>
        <p:spPr>
          <a:xfrm>
            <a:off x="1737360" y="4379976"/>
            <a:ext cx="45720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2024</a:t>
            </a:r>
            <a:endParaRPr lang="en-US" sz="950" dirty="0"/>
          </a:p>
        </p:txBody>
      </p:sp>
      <p:sp>
        <p:nvSpPr>
          <p:cNvPr id="91" name="Shape 89"/>
          <p:cNvSpPr/>
          <p:nvPr/>
        </p:nvSpPr>
        <p:spPr>
          <a:xfrm>
            <a:off x="2240280" y="4361688"/>
            <a:ext cx="1965960" cy="429768"/>
          </a:xfrm>
          <a:prstGeom prst="rect">
            <a:avLst/>
          </a:prstGeom>
          <a:solidFill>
            <a:srgbClr val="FFFFFF"/>
          </a:solidFill>
          <a:ln w="6350">
            <a:solidFill>
              <a:srgbClr val="D5E8D8"/>
            </a:solidFill>
            <a:prstDash val="solid"/>
          </a:ln>
        </p:spPr>
      </p:sp>
      <p:sp>
        <p:nvSpPr>
          <p:cNvPr id="92" name="Text 90"/>
          <p:cNvSpPr/>
          <p:nvPr/>
        </p:nvSpPr>
        <p:spPr>
          <a:xfrm>
            <a:off x="2286000" y="4379976"/>
            <a:ext cx="18745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Bayesian vs GridSearchCV</a:t>
            </a:r>
            <a:endParaRPr lang="en-US" sz="950" dirty="0"/>
          </a:p>
        </p:txBody>
      </p:sp>
      <p:sp>
        <p:nvSpPr>
          <p:cNvPr id="93" name="Shape 91"/>
          <p:cNvSpPr/>
          <p:nvPr/>
        </p:nvSpPr>
        <p:spPr>
          <a:xfrm>
            <a:off x="4206240" y="4361688"/>
            <a:ext cx="1737360" cy="429768"/>
          </a:xfrm>
          <a:prstGeom prst="rect">
            <a:avLst/>
          </a:prstGeom>
          <a:solidFill>
            <a:srgbClr val="FFFFFF"/>
          </a:solidFill>
          <a:ln w="6350">
            <a:solidFill>
              <a:srgbClr val="D5E8D8"/>
            </a:solidFill>
            <a:prstDash val="solid"/>
          </a:ln>
        </p:spPr>
      </p:sp>
      <p:sp>
        <p:nvSpPr>
          <p:cNvPr id="94" name="Text 92"/>
          <p:cNvSpPr/>
          <p:nvPr/>
        </p:nvSpPr>
        <p:spPr>
          <a:xfrm>
            <a:off x="4251960" y="4379976"/>
            <a:ext cx="164592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Bayesian faster</a:t>
            </a:r>
            <a:endParaRPr lang="en-US" sz="950" dirty="0"/>
          </a:p>
        </p:txBody>
      </p:sp>
      <p:sp>
        <p:nvSpPr>
          <p:cNvPr id="95" name="Shape 93"/>
          <p:cNvSpPr/>
          <p:nvPr/>
        </p:nvSpPr>
        <p:spPr>
          <a:xfrm>
            <a:off x="5943600" y="4361688"/>
            <a:ext cx="1874520" cy="429768"/>
          </a:xfrm>
          <a:prstGeom prst="rect">
            <a:avLst/>
          </a:prstGeom>
          <a:solidFill>
            <a:srgbClr val="FFFFFF"/>
          </a:solidFill>
          <a:ln w="6350">
            <a:solidFill>
              <a:srgbClr val="D5E8D8"/>
            </a:solidFill>
            <a:prstDash val="solid"/>
          </a:ln>
        </p:spPr>
      </p:sp>
      <p:sp>
        <p:nvSpPr>
          <p:cNvPr id="96" name="Text 94"/>
          <p:cNvSpPr/>
          <p:nvPr/>
        </p:nvSpPr>
        <p:spPr>
          <a:xfrm>
            <a:off x="5989320" y="4379976"/>
            <a:ext cx="1783080" cy="393192"/>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Informs GridSearchCV usage</a:t>
            </a:r>
            <a:endParaRPr lang="en-US" sz="950" dirty="0"/>
          </a:p>
        </p:txBody>
      </p:sp>
      <p:sp>
        <p:nvSpPr>
          <p:cNvPr id="97" name="Text 95"/>
          <p:cNvSpPr/>
          <p:nvPr/>
        </p:nvSpPr>
        <p:spPr>
          <a:xfrm>
            <a:off x="320040" y="4645152"/>
            <a:ext cx="8503920" cy="256032"/>
          </a:xfrm>
          <a:prstGeom prst="rect">
            <a:avLst/>
          </a:prstGeom>
          <a:noFill/>
        </p:spPr>
        <p:txBody>
          <a:bodyPr wrap="square" rtlCol="0" anchor="ctr"/>
          <a:lstStyle/>
          <a:p>
            <a:pPr marL="0" indent="0">
              <a:buNone/>
            </a:pPr>
            <a:r>
              <a:rPr lang="en-US" sz="1000" i="1" dirty="0">
                <a:solidFill>
                  <a:srgbClr val="4A6B58"/>
                </a:solidFill>
                <a:latin typeface="Calibri" panose="020F0502020204030204" pitchFamily="34" charset="0"/>
                <a:ea typeface="Calibri" panose="020F0502020204030204" pitchFamily="34" charset="-122"/>
                <a:cs typeface="Calibri" panose="020F0502020204030204" pitchFamily="34" charset="-120"/>
              </a:rPr>
              <a:t>Key Finding: Decision Trees &amp; ensemble methods consistently outperform others in fertilizer recommendation tasks.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9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76749"/>
          </a:solidFill>
        </p:spPr>
      </p:sp>
      <p:sp>
        <p:nvSpPr>
          <p:cNvPr id="3" name="Text 1"/>
          <p:cNvSpPr/>
          <p:nvPr/>
        </p:nvSpPr>
        <p:spPr>
          <a:xfrm>
            <a:off x="320040" y="0"/>
            <a:ext cx="8229600" cy="658368"/>
          </a:xfrm>
          <a:prstGeom prst="rect">
            <a:avLst/>
          </a:prstGeom>
          <a:noFill/>
        </p:spPr>
        <p:txBody>
          <a:bodyPr wrap="square" lIns="0" tIns="0" rIns="0" bIns="0"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Chapter 4 &amp; 5: Problem Statement &amp; Dataset</a:t>
            </a:r>
            <a:endParaRPr lang="en-US" sz="2200" dirty="0"/>
          </a:p>
        </p:txBody>
      </p:sp>
      <p:sp>
        <p:nvSpPr>
          <p:cNvPr id="4" name="Shape 2"/>
          <p:cNvSpPr/>
          <p:nvPr/>
        </p:nvSpPr>
        <p:spPr>
          <a:xfrm>
            <a:off x="0" y="4983480"/>
            <a:ext cx="9144000" cy="164592"/>
          </a:xfrm>
          <a:prstGeom prst="rect">
            <a:avLst/>
          </a:prstGeom>
          <a:solidFill>
            <a:srgbClr val="1A4731"/>
          </a:solidFill>
        </p:spPr>
      </p:sp>
      <p:sp>
        <p:nvSpPr>
          <p:cNvPr id="5" name="Text 3"/>
          <p:cNvSpPr/>
          <p:nvPr/>
        </p:nvSpPr>
        <p:spPr>
          <a:xfrm>
            <a:off x="182880" y="4974336"/>
            <a:ext cx="8778240" cy="164592"/>
          </a:xfrm>
          <a:prstGeom prst="rect">
            <a:avLst/>
          </a:prstGeom>
          <a:noFill/>
        </p:spPr>
        <p:txBody>
          <a:bodyPr wrap="square" rtlCol="0" anchor="ctr"/>
          <a:lstStyle/>
          <a:p>
            <a:pPr marL="0" indent="0">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EAI421 – Application of AI &amp; ML  |  UAS Bangalore-560065</a:t>
            </a:r>
            <a:endParaRPr lang="en-US" sz="800" dirty="0"/>
          </a:p>
        </p:txBody>
      </p:sp>
      <p:sp>
        <p:nvSpPr>
          <p:cNvPr id="6" name="Shape 4"/>
          <p:cNvSpPr/>
          <p:nvPr/>
        </p:nvSpPr>
        <p:spPr>
          <a:xfrm>
            <a:off x="320040" y="1005840"/>
            <a:ext cx="8503920" cy="1115568"/>
          </a:xfrm>
          <a:prstGeom prst="rect">
            <a:avLst/>
          </a:prstGeom>
          <a:solidFill>
            <a:srgbClr val="1A4731"/>
          </a:solidFill>
          <a:effectLst>
            <a:outerShdw blurRad="101600" dist="38100" dir="8100000" algn="bl" rotWithShape="0">
              <a:srgbClr val="000000">
                <a:alpha val="12000"/>
              </a:srgbClr>
            </a:outerShdw>
          </a:effectLst>
        </p:spPr>
      </p:sp>
      <p:sp>
        <p:nvSpPr>
          <p:cNvPr id="7" name="Shape 5"/>
          <p:cNvSpPr/>
          <p:nvPr/>
        </p:nvSpPr>
        <p:spPr>
          <a:xfrm>
            <a:off x="320040" y="1005840"/>
            <a:ext cx="73152" cy="1115568"/>
          </a:xfrm>
          <a:prstGeom prst="rect">
            <a:avLst/>
          </a:prstGeom>
          <a:solidFill>
            <a:srgbClr val="E8B84B"/>
          </a:solidFill>
        </p:spPr>
      </p:sp>
      <p:sp>
        <p:nvSpPr>
          <p:cNvPr id="8" name="Text 6"/>
          <p:cNvSpPr/>
          <p:nvPr/>
        </p:nvSpPr>
        <p:spPr>
          <a:xfrm>
            <a:off x="475488" y="1005840"/>
            <a:ext cx="8321040" cy="274320"/>
          </a:xfrm>
          <a:prstGeom prst="rect">
            <a:avLst/>
          </a:prstGeom>
          <a:noFill/>
        </p:spPr>
        <p:txBody>
          <a:bodyPr wrap="square" rtlCol="0" anchor="ctr"/>
          <a:lstStyle/>
          <a:p>
            <a:pPr marL="0" indent="0">
              <a:buNone/>
            </a:pPr>
            <a:r>
              <a:rPr lang="en-US" sz="1200" b="1" dirty="0">
                <a:solidFill>
                  <a:srgbClr val="E8B84B"/>
                </a:solidFill>
                <a:latin typeface="Georgia" panose="02040502050405020303" pitchFamily="34" charset="0"/>
                <a:ea typeface="Georgia" panose="02040502050405020303" pitchFamily="34" charset="-122"/>
                <a:cs typeface="Georgia" panose="02040502050405020303" pitchFamily="34" charset="-120"/>
              </a:rPr>
              <a:t>Problem Statement</a:t>
            </a:r>
            <a:endParaRPr lang="en-US" sz="1200" dirty="0"/>
          </a:p>
        </p:txBody>
      </p:sp>
      <p:sp>
        <p:nvSpPr>
          <p:cNvPr id="9" name="Text 7"/>
          <p:cNvSpPr/>
          <p:nvPr/>
        </p:nvSpPr>
        <p:spPr>
          <a:xfrm>
            <a:off x="475488" y="1261872"/>
            <a:ext cx="8321040" cy="804672"/>
          </a:xfrm>
          <a:prstGeom prst="rect">
            <a:avLst/>
          </a:prstGeom>
          <a:noFill/>
        </p:spPr>
        <p:txBody>
          <a:bodyPr wrap="square" rtlCol="0" anchor="t"/>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Farmers frequently apply fertilizers without precise soil/crop knowledge, leading to over-fertilization, nutrient deficiency, poor yields, high production costs, and environmental damage. Existing advisory systems lack scalability and fail to integrate multiple variables simultaneously. This project addresses the need for an automated, multi-feature ML system capable of recommending the right fertilizer from real-time data.</a:t>
            </a:r>
            <a:endParaRPr lang="en-US" sz="1100" dirty="0"/>
          </a:p>
        </p:txBody>
      </p:sp>
      <p:sp>
        <p:nvSpPr>
          <p:cNvPr id="10" name="Text 8"/>
          <p:cNvSpPr/>
          <p:nvPr/>
        </p:nvSpPr>
        <p:spPr>
          <a:xfrm>
            <a:off x="320040" y="2212848"/>
            <a:ext cx="8503920" cy="274320"/>
          </a:xfrm>
          <a:prstGeom prst="rect">
            <a:avLst/>
          </a:prstGeom>
          <a:noFill/>
        </p:spPr>
        <p:txBody>
          <a:bodyPr wrap="square" rtlCol="0" anchor="ctr"/>
          <a:lstStyle/>
          <a:p>
            <a:pPr marL="0" indent="0">
              <a:buNone/>
            </a:pPr>
            <a:r>
              <a:rPr lang="en-US" sz="1100" b="1" dirty="0">
                <a:solidFill>
                  <a:srgbClr val="1A4731"/>
                </a:solidFill>
                <a:latin typeface="Calibri" panose="020F0502020204030204" pitchFamily="34" charset="0"/>
                <a:ea typeface="Calibri" panose="020F0502020204030204" pitchFamily="34" charset="-122"/>
                <a:cs typeface="Calibri" panose="020F0502020204030204" pitchFamily="34" charset="-120"/>
              </a:rPr>
              <a:t>Dataset — Fertilizer Recommendation (Kaggle)  |  75% Train : 25% Test  |  random_state = 0</a:t>
            </a:r>
            <a:endParaRPr lang="en-US" sz="1100" dirty="0"/>
          </a:p>
        </p:txBody>
      </p:sp>
      <p:sp>
        <p:nvSpPr>
          <p:cNvPr id="11" name="Shape 9"/>
          <p:cNvSpPr/>
          <p:nvPr/>
        </p:nvSpPr>
        <p:spPr>
          <a:xfrm>
            <a:off x="320040" y="2542032"/>
            <a:ext cx="2606040" cy="246888"/>
          </a:xfrm>
          <a:prstGeom prst="rect">
            <a:avLst/>
          </a:prstGeom>
          <a:solidFill>
            <a:srgbClr val="EDF5F0"/>
          </a:solidFill>
          <a:ln w="6350">
            <a:solidFill>
              <a:srgbClr val="D5E8D8"/>
            </a:solidFill>
            <a:prstDash val="solid"/>
          </a:ln>
        </p:spPr>
      </p:sp>
      <p:sp>
        <p:nvSpPr>
          <p:cNvPr id="12" name="Text 10"/>
          <p:cNvSpPr/>
          <p:nvPr/>
        </p:nvSpPr>
        <p:spPr>
          <a:xfrm>
            <a:off x="374904" y="2560320"/>
            <a:ext cx="249631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Temperature (°C)</a:t>
            </a:r>
            <a:endParaRPr lang="en-US" sz="900" dirty="0"/>
          </a:p>
        </p:txBody>
      </p:sp>
      <p:sp>
        <p:nvSpPr>
          <p:cNvPr id="13" name="Shape 11"/>
          <p:cNvSpPr/>
          <p:nvPr/>
        </p:nvSpPr>
        <p:spPr>
          <a:xfrm>
            <a:off x="2926080" y="2542032"/>
            <a:ext cx="1783080" cy="246888"/>
          </a:xfrm>
          <a:prstGeom prst="rect">
            <a:avLst/>
          </a:prstGeom>
          <a:solidFill>
            <a:srgbClr val="EDF5F0"/>
          </a:solidFill>
          <a:ln w="6350">
            <a:solidFill>
              <a:srgbClr val="D5E8D8"/>
            </a:solidFill>
            <a:prstDash val="solid"/>
          </a:ln>
        </p:spPr>
      </p:sp>
      <p:sp>
        <p:nvSpPr>
          <p:cNvPr id="14" name="Text 12"/>
          <p:cNvSpPr/>
          <p:nvPr/>
        </p:nvSpPr>
        <p:spPr>
          <a:xfrm>
            <a:off x="2980944" y="2560320"/>
            <a:ext cx="167335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15 – 45°C</a:t>
            </a:r>
            <a:endParaRPr lang="en-US" sz="900" dirty="0"/>
          </a:p>
        </p:txBody>
      </p:sp>
      <p:sp>
        <p:nvSpPr>
          <p:cNvPr id="15" name="Shape 13"/>
          <p:cNvSpPr/>
          <p:nvPr/>
        </p:nvSpPr>
        <p:spPr>
          <a:xfrm>
            <a:off x="4709160" y="2542032"/>
            <a:ext cx="3931920" cy="246888"/>
          </a:xfrm>
          <a:prstGeom prst="rect">
            <a:avLst/>
          </a:prstGeom>
          <a:solidFill>
            <a:srgbClr val="EDF5F0"/>
          </a:solidFill>
          <a:ln w="6350">
            <a:solidFill>
              <a:srgbClr val="D5E8D8"/>
            </a:solidFill>
            <a:prstDash val="solid"/>
          </a:ln>
        </p:spPr>
      </p:sp>
      <p:sp>
        <p:nvSpPr>
          <p:cNvPr id="16" name="Text 14"/>
          <p:cNvSpPr/>
          <p:nvPr/>
        </p:nvSpPr>
        <p:spPr>
          <a:xfrm>
            <a:off x="4764024" y="2560320"/>
            <a:ext cx="382219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Influences enzyme activity</a:t>
            </a:r>
            <a:endParaRPr lang="en-US" sz="900" dirty="0"/>
          </a:p>
        </p:txBody>
      </p:sp>
      <p:sp>
        <p:nvSpPr>
          <p:cNvPr id="17" name="Shape 15"/>
          <p:cNvSpPr/>
          <p:nvPr/>
        </p:nvSpPr>
        <p:spPr>
          <a:xfrm>
            <a:off x="320040" y="2802636"/>
            <a:ext cx="2606040" cy="246888"/>
          </a:xfrm>
          <a:prstGeom prst="rect">
            <a:avLst/>
          </a:prstGeom>
          <a:solidFill>
            <a:srgbClr val="FFFFFF"/>
          </a:solidFill>
          <a:ln w="6350">
            <a:solidFill>
              <a:srgbClr val="D5E8D8"/>
            </a:solidFill>
            <a:prstDash val="solid"/>
          </a:ln>
        </p:spPr>
      </p:sp>
      <p:sp>
        <p:nvSpPr>
          <p:cNvPr id="18" name="Text 16"/>
          <p:cNvSpPr/>
          <p:nvPr/>
        </p:nvSpPr>
        <p:spPr>
          <a:xfrm>
            <a:off x="374904" y="2820924"/>
            <a:ext cx="249631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Humidity (%)</a:t>
            </a:r>
            <a:endParaRPr lang="en-US" sz="900" dirty="0"/>
          </a:p>
        </p:txBody>
      </p:sp>
      <p:sp>
        <p:nvSpPr>
          <p:cNvPr id="19" name="Shape 17"/>
          <p:cNvSpPr/>
          <p:nvPr/>
        </p:nvSpPr>
        <p:spPr>
          <a:xfrm>
            <a:off x="2926080" y="2802636"/>
            <a:ext cx="1783080" cy="246888"/>
          </a:xfrm>
          <a:prstGeom prst="rect">
            <a:avLst/>
          </a:prstGeom>
          <a:solidFill>
            <a:srgbClr val="FFFFFF"/>
          </a:solidFill>
          <a:ln w="6350">
            <a:solidFill>
              <a:srgbClr val="D5E8D8"/>
            </a:solidFill>
            <a:prstDash val="solid"/>
          </a:ln>
        </p:spPr>
      </p:sp>
      <p:sp>
        <p:nvSpPr>
          <p:cNvPr id="20" name="Text 18"/>
          <p:cNvSpPr/>
          <p:nvPr/>
        </p:nvSpPr>
        <p:spPr>
          <a:xfrm>
            <a:off x="2980944" y="2820924"/>
            <a:ext cx="167335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30 – 90%</a:t>
            </a:r>
            <a:endParaRPr lang="en-US" sz="900" dirty="0"/>
          </a:p>
        </p:txBody>
      </p:sp>
      <p:sp>
        <p:nvSpPr>
          <p:cNvPr id="21" name="Shape 19"/>
          <p:cNvSpPr/>
          <p:nvPr/>
        </p:nvSpPr>
        <p:spPr>
          <a:xfrm>
            <a:off x="4709160" y="2802636"/>
            <a:ext cx="3931920" cy="246888"/>
          </a:xfrm>
          <a:prstGeom prst="rect">
            <a:avLst/>
          </a:prstGeom>
          <a:solidFill>
            <a:srgbClr val="FFFFFF"/>
          </a:solidFill>
          <a:ln w="6350">
            <a:solidFill>
              <a:srgbClr val="D5E8D8"/>
            </a:solidFill>
            <a:prstDash val="solid"/>
          </a:ln>
        </p:spPr>
      </p:sp>
      <p:sp>
        <p:nvSpPr>
          <p:cNvPr id="22" name="Text 20"/>
          <p:cNvSpPr/>
          <p:nvPr/>
        </p:nvSpPr>
        <p:spPr>
          <a:xfrm>
            <a:off x="4764024" y="2820924"/>
            <a:ext cx="382219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Controls soil moisture indirectly</a:t>
            </a:r>
            <a:endParaRPr lang="en-US" sz="900" dirty="0"/>
          </a:p>
        </p:txBody>
      </p:sp>
      <p:sp>
        <p:nvSpPr>
          <p:cNvPr id="23" name="Shape 21"/>
          <p:cNvSpPr/>
          <p:nvPr/>
        </p:nvSpPr>
        <p:spPr>
          <a:xfrm>
            <a:off x="320040" y="3063240"/>
            <a:ext cx="2606040" cy="246888"/>
          </a:xfrm>
          <a:prstGeom prst="rect">
            <a:avLst/>
          </a:prstGeom>
          <a:solidFill>
            <a:srgbClr val="EDF5F0"/>
          </a:solidFill>
          <a:ln w="6350">
            <a:solidFill>
              <a:srgbClr val="D5E8D8"/>
            </a:solidFill>
            <a:prstDash val="solid"/>
          </a:ln>
        </p:spPr>
      </p:sp>
      <p:sp>
        <p:nvSpPr>
          <p:cNvPr id="24" name="Text 22"/>
          <p:cNvSpPr/>
          <p:nvPr/>
        </p:nvSpPr>
        <p:spPr>
          <a:xfrm>
            <a:off x="374904" y="3081528"/>
            <a:ext cx="249631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Soil Moisture (%)</a:t>
            </a:r>
            <a:endParaRPr lang="en-US" sz="900" dirty="0"/>
          </a:p>
        </p:txBody>
      </p:sp>
      <p:sp>
        <p:nvSpPr>
          <p:cNvPr id="25" name="Shape 23"/>
          <p:cNvSpPr/>
          <p:nvPr/>
        </p:nvSpPr>
        <p:spPr>
          <a:xfrm>
            <a:off x="2926080" y="3063240"/>
            <a:ext cx="1783080" cy="246888"/>
          </a:xfrm>
          <a:prstGeom prst="rect">
            <a:avLst/>
          </a:prstGeom>
          <a:solidFill>
            <a:srgbClr val="EDF5F0"/>
          </a:solidFill>
          <a:ln w="6350">
            <a:solidFill>
              <a:srgbClr val="D5E8D8"/>
            </a:solidFill>
            <a:prstDash val="solid"/>
          </a:ln>
        </p:spPr>
      </p:sp>
      <p:sp>
        <p:nvSpPr>
          <p:cNvPr id="26" name="Text 24"/>
          <p:cNvSpPr/>
          <p:nvPr/>
        </p:nvSpPr>
        <p:spPr>
          <a:xfrm>
            <a:off x="2980944" y="3081528"/>
            <a:ext cx="167335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20 – 65%</a:t>
            </a:r>
            <a:endParaRPr lang="en-US" sz="900" dirty="0"/>
          </a:p>
        </p:txBody>
      </p:sp>
      <p:sp>
        <p:nvSpPr>
          <p:cNvPr id="27" name="Shape 25"/>
          <p:cNvSpPr/>
          <p:nvPr/>
        </p:nvSpPr>
        <p:spPr>
          <a:xfrm>
            <a:off x="4709160" y="3063240"/>
            <a:ext cx="3931920" cy="246888"/>
          </a:xfrm>
          <a:prstGeom prst="rect">
            <a:avLst/>
          </a:prstGeom>
          <a:solidFill>
            <a:srgbClr val="EDF5F0"/>
          </a:solidFill>
          <a:ln w="6350">
            <a:solidFill>
              <a:srgbClr val="D5E8D8"/>
            </a:solidFill>
            <a:prstDash val="solid"/>
          </a:ln>
        </p:spPr>
      </p:sp>
      <p:sp>
        <p:nvSpPr>
          <p:cNvPr id="28" name="Text 26"/>
          <p:cNvSpPr/>
          <p:nvPr/>
        </p:nvSpPr>
        <p:spPr>
          <a:xfrm>
            <a:off x="4764024" y="3081528"/>
            <a:ext cx="382219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Affects nutrient solubility</a:t>
            </a:r>
            <a:endParaRPr lang="en-US" sz="900" dirty="0"/>
          </a:p>
        </p:txBody>
      </p:sp>
      <p:sp>
        <p:nvSpPr>
          <p:cNvPr id="29" name="Shape 27"/>
          <p:cNvSpPr/>
          <p:nvPr/>
        </p:nvSpPr>
        <p:spPr>
          <a:xfrm>
            <a:off x="320040" y="3323844"/>
            <a:ext cx="2606040" cy="246888"/>
          </a:xfrm>
          <a:prstGeom prst="rect">
            <a:avLst/>
          </a:prstGeom>
          <a:solidFill>
            <a:srgbClr val="FFFFFF"/>
          </a:solidFill>
          <a:ln w="6350">
            <a:solidFill>
              <a:srgbClr val="D5E8D8"/>
            </a:solidFill>
            <a:prstDash val="solid"/>
          </a:ln>
        </p:spPr>
      </p:sp>
      <p:sp>
        <p:nvSpPr>
          <p:cNvPr id="30" name="Text 28"/>
          <p:cNvSpPr/>
          <p:nvPr/>
        </p:nvSpPr>
        <p:spPr>
          <a:xfrm>
            <a:off x="374904" y="3342132"/>
            <a:ext cx="249631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Soil Type</a:t>
            </a:r>
            <a:endParaRPr lang="en-US" sz="900" dirty="0"/>
          </a:p>
        </p:txBody>
      </p:sp>
      <p:sp>
        <p:nvSpPr>
          <p:cNvPr id="31" name="Shape 29"/>
          <p:cNvSpPr/>
          <p:nvPr/>
        </p:nvSpPr>
        <p:spPr>
          <a:xfrm>
            <a:off x="2926080" y="3323844"/>
            <a:ext cx="1783080" cy="246888"/>
          </a:xfrm>
          <a:prstGeom prst="rect">
            <a:avLst/>
          </a:prstGeom>
          <a:solidFill>
            <a:srgbClr val="FFFFFF"/>
          </a:solidFill>
          <a:ln w="6350">
            <a:solidFill>
              <a:srgbClr val="D5E8D8"/>
            </a:solidFill>
            <a:prstDash val="solid"/>
          </a:ln>
        </p:spPr>
      </p:sp>
      <p:sp>
        <p:nvSpPr>
          <p:cNvPr id="32" name="Text 30"/>
          <p:cNvSpPr/>
          <p:nvPr/>
        </p:nvSpPr>
        <p:spPr>
          <a:xfrm>
            <a:off x="2980944" y="3342132"/>
            <a:ext cx="167335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5 categories (encoded 0–4)</a:t>
            </a:r>
            <a:endParaRPr lang="en-US" sz="900" dirty="0"/>
          </a:p>
        </p:txBody>
      </p:sp>
      <p:sp>
        <p:nvSpPr>
          <p:cNvPr id="33" name="Shape 31"/>
          <p:cNvSpPr/>
          <p:nvPr/>
        </p:nvSpPr>
        <p:spPr>
          <a:xfrm>
            <a:off x="4709160" y="3323844"/>
            <a:ext cx="3931920" cy="246888"/>
          </a:xfrm>
          <a:prstGeom prst="rect">
            <a:avLst/>
          </a:prstGeom>
          <a:solidFill>
            <a:srgbClr val="FFFFFF"/>
          </a:solidFill>
          <a:ln w="6350">
            <a:solidFill>
              <a:srgbClr val="D5E8D8"/>
            </a:solidFill>
            <a:prstDash val="solid"/>
          </a:ln>
        </p:spPr>
      </p:sp>
      <p:sp>
        <p:nvSpPr>
          <p:cNvPr id="34" name="Text 32"/>
          <p:cNvSpPr/>
          <p:nvPr/>
        </p:nvSpPr>
        <p:spPr>
          <a:xfrm>
            <a:off x="4764024" y="3342132"/>
            <a:ext cx="382219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Black, Clayey, Loamy, Red, Sandy</a:t>
            </a:r>
            <a:endParaRPr lang="en-US" sz="900" dirty="0"/>
          </a:p>
        </p:txBody>
      </p:sp>
      <p:sp>
        <p:nvSpPr>
          <p:cNvPr id="35" name="Shape 33"/>
          <p:cNvSpPr/>
          <p:nvPr/>
        </p:nvSpPr>
        <p:spPr>
          <a:xfrm>
            <a:off x="320040" y="3584448"/>
            <a:ext cx="2606040" cy="246888"/>
          </a:xfrm>
          <a:prstGeom prst="rect">
            <a:avLst/>
          </a:prstGeom>
          <a:solidFill>
            <a:srgbClr val="EDF5F0"/>
          </a:solidFill>
          <a:ln w="6350">
            <a:solidFill>
              <a:srgbClr val="D5E8D8"/>
            </a:solidFill>
            <a:prstDash val="solid"/>
          </a:ln>
        </p:spPr>
      </p:sp>
      <p:sp>
        <p:nvSpPr>
          <p:cNvPr id="36" name="Text 34"/>
          <p:cNvSpPr/>
          <p:nvPr/>
        </p:nvSpPr>
        <p:spPr>
          <a:xfrm>
            <a:off x="374904" y="3602736"/>
            <a:ext cx="249631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Crop Type</a:t>
            </a:r>
            <a:endParaRPr lang="en-US" sz="900" dirty="0"/>
          </a:p>
        </p:txBody>
      </p:sp>
      <p:sp>
        <p:nvSpPr>
          <p:cNvPr id="37" name="Shape 35"/>
          <p:cNvSpPr/>
          <p:nvPr/>
        </p:nvSpPr>
        <p:spPr>
          <a:xfrm>
            <a:off x="2926080" y="3584448"/>
            <a:ext cx="1783080" cy="246888"/>
          </a:xfrm>
          <a:prstGeom prst="rect">
            <a:avLst/>
          </a:prstGeom>
          <a:solidFill>
            <a:srgbClr val="EDF5F0"/>
          </a:solidFill>
          <a:ln w="6350">
            <a:solidFill>
              <a:srgbClr val="D5E8D8"/>
            </a:solidFill>
            <a:prstDash val="solid"/>
          </a:ln>
        </p:spPr>
      </p:sp>
      <p:sp>
        <p:nvSpPr>
          <p:cNvPr id="38" name="Text 36"/>
          <p:cNvSpPr/>
          <p:nvPr/>
        </p:nvSpPr>
        <p:spPr>
          <a:xfrm>
            <a:off x="2980944" y="3602736"/>
            <a:ext cx="167335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9 categories (encoded 0–8)</a:t>
            </a:r>
            <a:endParaRPr lang="en-US" sz="900" dirty="0"/>
          </a:p>
        </p:txBody>
      </p:sp>
      <p:sp>
        <p:nvSpPr>
          <p:cNvPr id="39" name="Shape 37"/>
          <p:cNvSpPr/>
          <p:nvPr/>
        </p:nvSpPr>
        <p:spPr>
          <a:xfrm>
            <a:off x="4709160" y="3584448"/>
            <a:ext cx="3931920" cy="246888"/>
          </a:xfrm>
          <a:prstGeom prst="rect">
            <a:avLst/>
          </a:prstGeom>
          <a:solidFill>
            <a:srgbClr val="EDF5F0"/>
          </a:solidFill>
          <a:ln w="6350">
            <a:solidFill>
              <a:srgbClr val="D5E8D8"/>
            </a:solidFill>
            <a:prstDash val="solid"/>
          </a:ln>
        </p:spPr>
      </p:sp>
      <p:sp>
        <p:nvSpPr>
          <p:cNvPr id="40" name="Text 38"/>
          <p:cNvSpPr/>
          <p:nvPr/>
        </p:nvSpPr>
        <p:spPr>
          <a:xfrm>
            <a:off x="4764024" y="3602736"/>
            <a:ext cx="382219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Barley, Cotton, Groundnut, etc.</a:t>
            </a:r>
            <a:endParaRPr lang="en-US" sz="900" dirty="0"/>
          </a:p>
        </p:txBody>
      </p:sp>
      <p:sp>
        <p:nvSpPr>
          <p:cNvPr id="41" name="Shape 39"/>
          <p:cNvSpPr/>
          <p:nvPr/>
        </p:nvSpPr>
        <p:spPr>
          <a:xfrm>
            <a:off x="320040" y="3845052"/>
            <a:ext cx="2606040" cy="246888"/>
          </a:xfrm>
          <a:prstGeom prst="rect">
            <a:avLst/>
          </a:prstGeom>
          <a:solidFill>
            <a:srgbClr val="FFFFFF"/>
          </a:solidFill>
          <a:ln w="6350">
            <a:solidFill>
              <a:srgbClr val="D5E8D8"/>
            </a:solidFill>
            <a:prstDash val="solid"/>
          </a:ln>
        </p:spPr>
      </p:sp>
      <p:sp>
        <p:nvSpPr>
          <p:cNvPr id="42" name="Text 40"/>
          <p:cNvSpPr/>
          <p:nvPr/>
        </p:nvSpPr>
        <p:spPr>
          <a:xfrm>
            <a:off x="374904" y="3863340"/>
            <a:ext cx="249631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Nitrogen (kg/ha)</a:t>
            </a:r>
            <a:endParaRPr lang="en-US" sz="900" dirty="0"/>
          </a:p>
        </p:txBody>
      </p:sp>
      <p:sp>
        <p:nvSpPr>
          <p:cNvPr id="43" name="Shape 41"/>
          <p:cNvSpPr/>
          <p:nvPr/>
        </p:nvSpPr>
        <p:spPr>
          <a:xfrm>
            <a:off x="2926080" y="3845052"/>
            <a:ext cx="1783080" cy="246888"/>
          </a:xfrm>
          <a:prstGeom prst="rect">
            <a:avLst/>
          </a:prstGeom>
          <a:solidFill>
            <a:srgbClr val="FFFFFF"/>
          </a:solidFill>
          <a:ln w="6350">
            <a:solidFill>
              <a:srgbClr val="D5E8D8"/>
            </a:solidFill>
            <a:prstDash val="solid"/>
          </a:ln>
        </p:spPr>
      </p:sp>
      <p:sp>
        <p:nvSpPr>
          <p:cNvPr id="44" name="Text 42"/>
          <p:cNvSpPr/>
          <p:nvPr/>
        </p:nvSpPr>
        <p:spPr>
          <a:xfrm>
            <a:off x="2980944" y="3863340"/>
            <a:ext cx="167335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Varies</a:t>
            </a:r>
            <a:endParaRPr lang="en-US" sz="900" dirty="0"/>
          </a:p>
        </p:txBody>
      </p:sp>
      <p:sp>
        <p:nvSpPr>
          <p:cNvPr id="45" name="Shape 43"/>
          <p:cNvSpPr/>
          <p:nvPr/>
        </p:nvSpPr>
        <p:spPr>
          <a:xfrm>
            <a:off x="4709160" y="3845052"/>
            <a:ext cx="3931920" cy="246888"/>
          </a:xfrm>
          <a:prstGeom prst="rect">
            <a:avLst/>
          </a:prstGeom>
          <a:solidFill>
            <a:srgbClr val="FFFFFF"/>
          </a:solidFill>
          <a:ln w="6350">
            <a:solidFill>
              <a:srgbClr val="D5E8D8"/>
            </a:solidFill>
            <a:prstDash val="solid"/>
          </a:ln>
        </p:spPr>
      </p:sp>
      <p:sp>
        <p:nvSpPr>
          <p:cNvPr id="46" name="Text 44"/>
          <p:cNvSpPr/>
          <p:nvPr/>
        </p:nvSpPr>
        <p:spPr>
          <a:xfrm>
            <a:off x="4764024" y="3863340"/>
            <a:ext cx="382219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Primary macronutrient</a:t>
            </a:r>
            <a:endParaRPr lang="en-US" sz="900" dirty="0"/>
          </a:p>
        </p:txBody>
      </p:sp>
      <p:sp>
        <p:nvSpPr>
          <p:cNvPr id="47" name="Shape 45"/>
          <p:cNvSpPr/>
          <p:nvPr/>
        </p:nvSpPr>
        <p:spPr>
          <a:xfrm>
            <a:off x="320040" y="4105656"/>
            <a:ext cx="2606040" cy="246888"/>
          </a:xfrm>
          <a:prstGeom prst="rect">
            <a:avLst/>
          </a:prstGeom>
          <a:solidFill>
            <a:srgbClr val="EDF5F0"/>
          </a:solidFill>
          <a:ln w="6350">
            <a:solidFill>
              <a:srgbClr val="D5E8D8"/>
            </a:solidFill>
            <a:prstDash val="solid"/>
          </a:ln>
        </p:spPr>
      </p:sp>
      <p:sp>
        <p:nvSpPr>
          <p:cNvPr id="48" name="Text 46"/>
          <p:cNvSpPr/>
          <p:nvPr/>
        </p:nvSpPr>
        <p:spPr>
          <a:xfrm>
            <a:off x="374904" y="4123944"/>
            <a:ext cx="249631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Phosphorus (kg/ha)</a:t>
            </a:r>
            <a:endParaRPr lang="en-US" sz="900" dirty="0"/>
          </a:p>
        </p:txBody>
      </p:sp>
      <p:sp>
        <p:nvSpPr>
          <p:cNvPr id="49" name="Shape 47"/>
          <p:cNvSpPr/>
          <p:nvPr/>
        </p:nvSpPr>
        <p:spPr>
          <a:xfrm>
            <a:off x="2926080" y="4105656"/>
            <a:ext cx="1783080" cy="246888"/>
          </a:xfrm>
          <a:prstGeom prst="rect">
            <a:avLst/>
          </a:prstGeom>
          <a:solidFill>
            <a:srgbClr val="EDF5F0"/>
          </a:solidFill>
          <a:ln w="6350">
            <a:solidFill>
              <a:srgbClr val="D5E8D8"/>
            </a:solidFill>
            <a:prstDash val="solid"/>
          </a:ln>
        </p:spPr>
      </p:sp>
      <p:sp>
        <p:nvSpPr>
          <p:cNvPr id="50" name="Text 48"/>
          <p:cNvSpPr/>
          <p:nvPr/>
        </p:nvSpPr>
        <p:spPr>
          <a:xfrm>
            <a:off x="2980944" y="4123944"/>
            <a:ext cx="167335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Varies</a:t>
            </a:r>
            <a:endParaRPr lang="en-US" sz="900" dirty="0"/>
          </a:p>
        </p:txBody>
      </p:sp>
      <p:sp>
        <p:nvSpPr>
          <p:cNvPr id="51" name="Shape 49"/>
          <p:cNvSpPr/>
          <p:nvPr/>
        </p:nvSpPr>
        <p:spPr>
          <a:xfrm>
            <a:off x="4709160" y="4105656"/>
            <a:ext cx="3931920" cy="246888"/>
          </a:xfrm>
          <a:prstGeom prst="rect">
            <a:avLst/>
          </a:prstGeom>
          <a:solidFill>
            <a:srgbClr val="EDF5F0"/>
          </a:solidFill>
          <a:ln w="6350">
            <a:solidFill>
              <a:srgbClr val="D5E8D8"/>
            </a:solidFill>
            <a:prstDash val="solid"/>
          </a:ln>
        </p:spPr>
      </p:sp>
      <p:sp>
        <p:nvSpPr>
          <p:cNvPr id="52" name="Text 50"/>
          <p:cNvSpPr/>
          <p:nvPr/>
        </p:nvSpPr>
        <p:spPr>
          <a:xfrm>
            <a:off x="4764024" y="4123944"/>
            <a:ext cx="382219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Critical for root development</a:t>
            </a:r>
            <a:endParaRPr lang="en-US" sz="900" dirty="0"/>
          </a:p>
        </p:txBody>
      </p:sp>
      <p:sp>
        <p:nvSpPr>
          <p:cNvPr id="53" name="Shape 51"/>
          <p:cNvSpPr/>
          <p:nvPr/>
        </p:nvSpPr>
        <p:spPr>
          <a:xfrm>
            <a:off x="320040" y="4366260"/>
            <a:ext cx="2606040" cy="246888"/>
          </a:xfrm>
          <a:prstGeom prst="rect">
            <a:avLst/>
          </a:prstGeom>
          <a:solidFill>
            <a:srgbClr val="FFFFFF"/>
          </a:solidFill>
          <a:ln w="6350">
            <a:solidFill>
              <a:srgbClr val="D5E8D8"/>
            </a:solidFill>
            <a:prstDash val="solid"/>
          </a:ln>
        </p:spPr>
      </p:sp>
      <p:sp>
        <p:nvSpPr>
          <p:cNvPr id="54" name="Text 52"/>
          <p:cNvSpPr/>
          <p:nvPr/>
        </p:nvSpPr>
        <p:spPr>
          <a:xfrm>
            <a:off x="374904" y="4384548"/>
            <a:ext cx="249631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Potassium (kg/ha)</a:t>
            </a:r>
            <a:endParaRPr lang="en-US" sz="900" dirty="0"/>
          </a:p>
        </p:txBody>
      </p:sp>
      <p:sp>
        <p:nvSpPr>
          <p:cNvPr id="55" name="Shape 53"/>
          <p:cNvSpPr/>
          <p:nvPr/>
        </p:nvSpPr>
        <p:spPr>
          <a:xfrm>
            <a:off x="2926080" y="4366260"/>
            <a:ext cx="1783080" cy="246888"/>
          </a:xfrm>
          <a:prstGeom prst="rect">
            <a:avLst/>
          </a:prstGeom>
          <a:solidFill>
            <a:srgbClr val="FFFFFF"/>
          </a:solidFill>
          <a:ln w="6350">
            <a:solidFill>
              <a:srgbClr val="D5E8D8"/>
            </a:solidFill>
            <a:prstDash val="solid"/>
          </a:ln>
        </p:spPr>
      </p:sp>
      <p:sp>
        <p:nvSpPr>
          <p:cNvPr id="56" name="Text 54"/>
          <p:cNvSpPr/>
          <p:nvPr/>
        </p:nvSpPr>
        <p:spPr>
          <a:xfrm>
            <a:off x="2980944" y="4384548"/>
            <a:ext cx="167335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Varies</a:t>
            </a:r>
            <a:endParaRPr lang="en-US" sz="900" dirty="0"/>
          </a:p>
        </p:txBody>
      </p:sp>
      <p:sp>
        <p:nvSpPr>
          <p:cNvPr id="57" name="Shape 55"/>
          <p:cNvSpPr/>
          <p:nvPr/>
        </p:nvSpPr>
        <p:spPr>
          <a:xfrm>
            <a:off x="4709160" y="4366260"/>
            <a:ext cx="3931920" cy="246888"/>
          </a:xfrm>
          <a:prstGeom prst="rect">
            <a:avLst/>
          </a:prstGeom>
          <a:solidFill>
            <a:srgbClr val="FFFFFF"/>
          </a:solidFill>
          <a:ln w="6350">
            <a:solidFill>
              <a:srgbClr val="D5E8D8"/>
            </a:solidFill>
            <a:prstDash val="solid"/>
          </a:ln>
        </p:spPr>
      </p:sp>
      <p:sp>
        <p:nvSpPr>
          <p:cNvPr id="58" name="Text 56"/>
          <p:cNvSpPr/>
          <p:nvPr/>
        </p:nvSpPr>
        <p:spPr>
          <a:xfrm>
            <a:off x="4764024" y="4384548"/>
            <a:ext cx="3822192" cy="210312"/>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Plant health &amp; disease resistance</a:t>
            </a:r>
            <a:endParaRPr lang="en-US" sz="900" dirty="0"/>
          </a:p>
        </p:txBody>
      </p:sp>
      <p:sp>
        <p:nvSpPr>
          <p:cNvPr id="59" name="Shape 57"/>
          <p:cNvSpPr/>
          <p:nvPr/>
        </p:nvSpPr>
        <p:spPr>
          <a:xfrm>
            <a:off x="320040" y="4626864"/>
            <a:ext cx="2606040" cy="246888"/>
          </a:xfrm>
          <a:prstGeom prst="rect">
            <a:avLst/>
          </a:prstGeom>
          <a:solidFill>
            <a:srgbClr val="E8B84B"/>
          </a:solidFill>
          <a:ln w="6350">
            <a:solidFill>
              <a:srgbClr val="D5E8D8"/>
            </a:solidFill>
            <a:prstDash val="solid"/>
          </a:ln>
        </p:spPr>
      </p:sp>
      <p:sp>
        <p:nvSpPr>
          <p:cNvPr id="60" name="Text 58"/>
          <p:cNvSpPr/>
          <p:nvPr/>
        </p:nvSpPr>
        <p:spPr>
          <a:xfrm>
            <a:off x="374904" y="4645152"/>
            <a:ext cx="2496312" cy="210312"/>
          </a:xfrm>
          <a:prstGeom prst="rect">
            <a:avLst/>
          </a:prstGeom>
          <a:noFill/>
        </p:spPr>
        <p:txBody>
          <a:bodyPr wrap="square" rtlCol="0" anchor="ctr"/>
          <a:lstStyle/>
          <a:p>
            <a:pPr marL="0" indent="0">
              <a:buNone/>
            </a:pPr>
            <a:r>
              <a:rPr lang="en-US" sz="950" b="1" dirty="0">
                <a:solidFill>
                  <a:srgbClr val="1A4731"/>
                </a:solidFill>
                <a:latin typeface="Calibri" panose="020F0502020204030204" pitchFamily="34" charset="0"/>
                <a:ea typeface="Calibri" panose="020F0502020204030204" pitchFamily="34" charset="-122"/>
                <a:cs typeface="Calibri" panose="020F0502020204030204" pitchFamily="34" charset="-120"/>
              </a:rPr>
              <a:t>Recommended Fertilizer ★</a:t>
            </a:r>
            <a:endParaRPr lang="en-US" sz="950" dirty="0"/>
          </a:p>
        </p:txBody>
      </p:sp>
      <p:sp>
        <p:nvSpPr>
          <p:cNvPr id="61" name="Shape 59"/>
          <p:cNvSpPr/>
          <p:nvPr/>
        </p:nvSpPr>
        <p:spPr>
          <a:xfrm>
            <a:off x="2926080" y="4626864"/>
            <a:ext cx="1783080" cy="246888"/>
          </a:xfrm>
          <a:prstGeom prst="rect">
            <a:avLst/>
          </a:prstGeom>
          <a:solidFill>
            <a:srgbClr val="E8B84B"/>
          </a:solidFill>
          <a:ln w="6350">
            <a:solidFill>
              <a:srgbClr val="D5E8D8"/>
            </a:solidFill>
            <a:prstDash val="solid"/>
          </a:ln>
        </p:spPr>
      </p:sp>
      <p:sp>
        <p:nvSpPr>
          <p:cNvPr id="62" name="Text 60"/>
          <p:cNvSpPr/>
          <p:nvPr/>
        </p:nvSpPr>
        <p:spPr>
          <a:xfrm>
            <a:off x="2980944" y="4645152"/>
            <a:ext cx="1673352" cy="210312"/>
          </a:xfrm>
          <a:prstGeom prst="rect">
            <a:avLst/>
          </a:prstGeom>
          <a:noFill/>
        </p:spPr>
        <p:txBody>
          <a:bodyPr wrap="square" rtlCol="0" anchor="ctr"/>
          <a:lstStyle/>
          <a:p>
            <a:pPr marL="0" indent="0">
              <a:buNone/>
            </a:pPr>
            <a:r>
              <a:rPr lang="en-US" sz="950" b="1" dirty="0">
                <a:solidFill>
                  <a:srgbClr val="1A4731"/>
                </a:solidFill>
                <a:latin typeface="Calibri" panose="020F0502020204030204" pitchFamily="34" charset="0"/>
                <a:ea typeface="Calibri" panose="020F0502020204030204" pitchFamily="34" charset="-122"/>
                <a:cs typeface="Calibri" panose="020F0502020204030204" pitchFamily="34" charset="-120"/>
              </a:rPr>
              <a:t>TARGET — 5 classes</a:t>
            </a:r>
            <a:endParaRPr lang="en-US" sz="950" dirty="0"/>
          </a:p>
        </p:txBody>
      </p:sp>
      <p:sp>
        <p:nvSpPr>
          <p:cNvPr id="63" name="Shape 61"/>
          <p:cNvSpPr/>
          <p:nvPr/>
        </p:nvSpPr>
        <p:spPr>
          <a:xfrm>
            <a:off x="4709160" y="4626864"/>
            <a:ext cx="3931920" cy="246888"/>
          </a:xfrm>
          <a:prstGeom prst="rect">
            <a:avLst/>
          </a:prstGeom>
          <a:solidFill>
            <a:srgbClr val="E8B84B"/>
          </a:solidFill>
          <a:ln w="6350">
            <a:solidFill>
              <a:srgbClr val="D5E8D8"/>
            </a:solidFill>
            <a:prstDash val="solid"/>
          </a:ln>
        </p:spPr>
      </p:sp>
      <p:sp>
        <p:nvSpPr>
          <p:cNvPr id="64" name="Text 62"/>
          <p:cNvSpPr/>
          <p:nvPr/>
        </p:nvSpPr>
        <p:spPr>
          <a:xfrm>
            <a:off x="4764024" y="4645152"/>
            <a:ext cx="3822192" cy="210312"/>
          </a:xfrm>
          <a:prstGeom prst="rect">
            <a:avLst/>
          </a:prstGeom>
          <a:noFill/>
        </p:spPr>
        <p:txBody>
          <a:bodyPr wrap="square" rtlCol="0" anchor="ctr"/>
          <a:lstStyle/>
          <a:p>
            <a:pPr marL="0" indent="0">
              <a:buNone/>
            </a:pPr>
            <a:r>
              <a:rPr lang="en-US" sz="950" b="1" dirty="0">
                <a:solidFill>
                  <a:srgbClr val="1A4731"/>
                </a:solidFill>
                <a:latin typeface="Calibri" panose="020F0502020204030204" pitchFamily="34" charset="0"/>
                <a:ea typeface="Calibri" panose="020F0502020204030204" pitchFamily="34" charset="-122"/>
                <a:cs typeface="Calibri" panose="020F0502020204030204" pitchFamily="34" charset="-120"/>
              </a:rPr>
              <a:t>Urea 46-0-0, DAP, MOP, 10-26-26, 14-35-14</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9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76749"/>
          </a:solidFill>
        </p:spPr>
      </p:sp>
      <p:sp>
        <p:nvSpPr>
          <p:cNvPr id="3" name="Text 1"/>
          <p:cNvSpPr/>
          <p:nvPr/>
        </p:nvSpPr>
        <p:spPr>
          <a:xfrm>
            <a:off x="320040" y="0"/>
            <a:ext cx="8229600" cy="658368"/>
          </a:xfrm>
          <a:prstGeom prst="rect">
            <a:avLst/>
          </a:prstGeom>
          <a:noFill/>
        </p:spPr>
        <p:txBody>
          <a:bodyPr wrap="square" lIns="0" tIns="0" rIns="0" bIns="0"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Chapter 6: Methodology</a:t>
            </a:r>
            <a:endParaRPr lang="en-US" sz="2200" dirty="0"/>
          </a:p>
        </p:txBody>
      </p:sp>
      <p:sp>
        <p:nvSpPr>
          <p:cNvPr id="4" name="Text 2"/>
          <p:cNvSpPr/>
          <p:nvPr/>
        </p:nvSpPr>
        <p:spPr>
          <a:xfrm>
            <a:off x="320040" y="658368"/>
            <a:ext cx="8503920" cy="320040"/>
          </a:xfrm>
          <a:prstGeom prst="rect">
            <a:avLst/>
          </a:prstGeom>
          <a:noFill/>
        </p:spPr>
        <p:txBody>
          <a:bodyPr wrap="square" rtlCol="0" anchor="ctr"/>
          <a:lstStyle/>
          <a:p>
            <a:pPr marL="0" indent="0">
              <a:buNone/>
            </a:pPr>
            <a:r>
              <a:rPr lang="en-US" sz="1100" i="1" dirty="0">
                <a:solidFill>
                  <a:srgbClr val="4A6B58"/>
                </a:solidFill>
                <a:latin typeface="Calibri" panose="020F0502020204030204" pitchFamily="34" charset="0"/>
                <a:ea typeface="Calibri" panose="020F0502020204030204" pitchFamily="34" charset="-122"/>
                <a:cs typeface="Calibri" panose="020F0502020204030204" pitchFamily="34" charset="-120"/>
              </a:rPr>
              <a:t>10-Step ML Pipeline</a:t>
            </a:r>
            <a:endParaRPr lang="en-US" sz="1100" dirty="0"/>
          </a:p>
        </p:txBody>
      </p:sp>
      <p:sp>
        <p:nvSpPr>
          <p:cNvPr id="5" name="Shape 3"/>
          <p:cNvSpPr/>
          <p:nvPr/>
        </p:nvSpPr>
        <p:spPr>
          <a:xfrm>
            <a:off x="0" y="4983480"/>
            <a:ext cx="9144000" cy="164592"/>
          </a:xfrm>
          <a:prstGeom prst="rect">
            <a:avLst/>
          </a:prstGeom>
          <a:solidFill>
            <a:srgbClr val="1A4731"/>
          </a:solidFill>
        </p:spPr>
      </p:sp>
      <p:sp>
        <p:nvSpPr>
          <p:cNvPr id="6" name="Text 4"/>
          <p:cNvSpPr/>
          <p:nvPr/>
        </p:nvSpPr>
        <p:spPr>
          <a:xfrm>
            <a:off x="182880" y="4974336"/>
            <a:ext cx="8778240" cy="164592"/>
          </a:xfrm>
          <a:prstGeom prst="rect">
            <a:avLst/>
          </a:prstGeom>
          <a:noFill/>
        </p:spPr>
        <p:txBody>
          <a:bodyPr wrap="square" rtlCol="0" anchor="ctr"/>
          <a:lstStyle/>
          <a:p>
            <a:pPr marL="0" indent="0">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EAI421 – Application of AI &amp; ML  |  UAS Bangalore-560065</a:t>
            </a:r>
            <a:endParaRPr lang="en-US" sz="800" dirty="0"/>
          </a:p>
        </p:txBody>
      </p:sp>
      <p:sp>
        <p:nvSpPr>
          <p:cNvPr id="7" name="Shape 5"/>
          <p:cNvSpPr/>
          <p:nvPr/>
        </p:nvSpPr>
        <p:spPr>
          <a:xfrm>
            <a:off x="320040" y="1005840"/>
            <a:ext cx="1627632" cy="1664208"/>
          </a:xfrm>
          <a:prstGeom prst="rect">
            <a:avLst/>
          </a:prstGeom>
          <a:solidFill>
            <a:srgbClr val="FFFFFF"/>
          </a:solidFill>
          <a:effectLst>
            <a:outerShdw blurRad="101600" dist="38100" dir="8100000" algn="bl" rotWithShape="0">
              <a:srgbClr val="000000">
                <a:alpha val="12000"/>
              </a:srgbClr>
            </a:outerShdw>
          </a:effectLst>
        </p:spPr>
      </p:sp>
      <p:sp>
        <p:nvSpPr>
          <p:cNvPr id="8" name="Shape 6"/>
          <p:cNvSpPr/>
          <p:nvPr/>
        </p:nvSpPr>
        <p:spPr>
          <a:xfrm>
            <a:off x="320040" y="1005840"/>
            <a:ext cx="1627632" cy="365760"/>
          </a:xfrm>
          <a:prstGeom prst="rect">
            <a:avLst/>
          </a:prstGeom>
          <a:solidFill>
            <a:srgbClr val="1A4731"/>
          </a:solidFill>
        </p:spPr>
      </p:sp>
      <p:sp>
        <p:nvSpPr>
          <p:cNvPr id="9" name="Text 7"/>
          <p:cNvSpPr/>
          <p:nvPr/>
        </p:nvSpPr>
        <p:spPr>
          <a:xfrm>
            <a:off x="320040" y="1005840"/>
            <a:ext cx="384048" cy="365760"/>
          </a:xfrm>
          <a:prstGeom prst="rect">
            <a:avLst/>
          </a:prstGeom>
          <a:noFill/>
        </p:spPr>
        <p:txBody>
          <a:bodyPr wrap="square" rtlCol="0" anchor="ctr"/>
          <a:lstStyle/>
          <a:p>
            <a:pPr marL="0" indent="0" algn="ctr">
              <a:buNone/>
            </a:pPr>
            <a:r>
              <a:rPr lang="en-US" sz="1300" b="1" dirty="0">
                <a:solidFill>
                  <a:srgbClr val="E8B84B"/>
                </a:solidFill>
                <a:latin typeface="Georgia" panose="02040502050405020303" pitchFamily="34" charset="0"/>
                <a:ea typeface="Georgia" panose="02040502050405020303" pitchFamily="34" charset="-122"/>
                <a:cs typeface="Georgia" panose="02040502050405020303" pitchFamily="34" charset="-120"/>
              </a:rPr>
              <a:t>01</a:t>
            </a:r>
            <a:endParaRPr lang="en-US" sz="1300" dirty="0"/>
          </a:p>
        </p:txBody>
      </p:sp>
      <p:sp>
        <p:nvSpPr>
          <p:cNvPr id="10" name="Text 8"/>
          <p:cNvSpPr/>
          <p:nvPr/>
        </p:nvSpPr>
        <p:spPr>
          <a:xfrm>
            <a:off x="722376" y="1005840"/>
            <a:ext cx="1188720" cy="365760"/>
          </a:xfrm>
          <a:prstGeom prst="rect">
            <a:avLst/>
          </a:prstGeom>
          <a:noFill/>
        </p:spPr>
        <p:txBody>
          <a:bodyPr wrap="square"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Collection</a:t>
            </a:r>
            <a:endParaRPr lang="en-US" sz="1000" dirty="0"/>
          </a:p>
        </p:txBody>
      </p:sp>
      <p:sp>
        <p:nvSpPr>
          <p:cNvPr id="11" name="Text 9"/>
          <p:cNvSpPr/>
          <p:nvPr/>
        </p:nvSpPr>
        <p:spPr>
          <a:xfrm>
            <a:off x="393192" y="1417320"/>
            <a:ext cx="1481328" cy="1170432"/>
          </a:xfrm>
          <a:prstGeom prst="rect">
            <a:avLst/>
          </a:prstGeom>
          <a:noFill/>
        </p:spPr>
        <p:txBody>
          <a:bodyPr wrap="square" rtlCol="0" anchor="t"/>
          <a:lstStyle/>
          <a:p>
            <a:pPr marL="0" indent="0" algn="ctr">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Kaggle Fertilizer Dataset via Pandas</a:t>
            </a:r>
            <a:endParaRPr lang="en-US" sz="1000" dirty="0"/>
          </a:p>
        </p:txBody>
      </p:sp>
      <p:sp>
        <p:nvSpPr>
          <p:cNvPr id="12" name="Shape 10"/>
          <p:cNvSpPr/>
          <p:nvPr/>
        </p:nvSpPr>
        <p:spPr>
          <a:xfrm>
            <a:off x="1947672" y="1719072"/>
            <a:ext cx="91440" cy="36576"/>
          </a:xfrm>
          <a:prstGeom prst="rect">
            <a:avLst/>
          </a:prstGeom>
          <a:solidFill>
            <a:srgbClr val="4CAF7A"/>
          </a:solidFill>
        </p:spPr>
      </p:sp>
      <p:sp>
        <p:nvSpPr>
          <p:cNvPr id="13" name="Shape 11"/>
          <p:cNvSpPr/>
          <p:nvPr/>
        </p:nvSpPr>
        <p:spPr>
          <a:xfrm>
            <a:off x="2039112" y="978535"/>
            <a:ext cx="1627632" cy="1664208"/>
          </a:xfrm>
          <a:prstGeom prst="rect">
            <a:avLst/>
          </a:prstGeom>
          <a:solidFill>
            <a:srgbClr val="FFFFFF"/>
          </a:solidFill>
          <a:effectLst>
            <a:outerShdw blurRad="101600" dist="38100" dir="8100000" algn="bl" rotWithShape="0">
              <a:srgbClr val="000000">
                <a:alpha val="12000"/>
              </a:srgbClr>
            </a:outerShdw>
          </a:effectLst>
        </p:spPr>
        <p:txBody>
          <a:bodyPr/>
          <a:lstStyle/>
          <a:p>
            <a:r>
              <a:rPr lang="en-US"/>
              <a:t>h</a:t>
            </a:r>
          </a:p>
        </p:txBody>
      </p:sp>
      <p:sp>
        <p:nvSpPr>
          <p:cNvPr id="14" name="Shape 12"/>
          <p:cNvSpPr/>
          <p:nvPr/>
        </p:nvSpPr>
        <p:spPr>
          <a:xfrm>
            <a:off x="2039112" y="1005840"/>
            <a:ext cx="1627632" cy="365760"/>
          </a:xfrm>
          <a:prstGeom prst="rect">
            <a:avLst/>
          </a:prstGeom>
          <a:solidFill>
            <a:srgbClr val="1A4731"/>
          </a:solidFill>
        </p:spPr>
      </p:sp>
      <p:sp>
        <p:nvSpPr>
          <p:cNvPr id="15" name="Text 13"/>
          <p:cNvSpPr/>
          <p:nvPr/>
        </p:nvSpPr>
        <p:spPr>
          <a:xfrm>
            <a:off x="2039112" y="1005840"/>
            <a:ext cx="384048" cy="365760"/>
          </a:xfrm>
          <a:prstGeom prst="rect">
            <a:avLst/>
          </a:prstGeom>
          <a:noFill/>
        </p:spPr>
        <p:txBody>
          <a:bodyPr wrap="square" rtlCol="0" anchor="ctr"/>
          <a:lstStyle/>
          <a:p>
            <a:pPr marL="0" indent="0" algn="ctr">
              <a:buNone/>
            </a:pPr>
            <a:r>
              <a:rPr lang="en-IN" altLang="en-US" sz="1300" b="1" dirty="0">
                <a:solidFill>
                  <a:srgbClr val="E8B84B"/>
                </a:solidFill>
                <a:latin typeface="Georgia" panose="02040502050405020303" pitchFamily="34" charset="0"/>
                <a:ea typeface="Georgia" panose="02040502050405020303" pitchFamily="34" charset="-122"/>
                <a:cs typeface="Georgia" panose="02040502050405020303" pitchFamily="34" charset="-120"/>
              </a:rPr>
              <a:t>0</a:t>
            </a:r>
            <a:r>
              <a:rPr lang="en-US" sz="1300" b="1" dirty="0">
                <a:solidFill>
                  <a:srgbClr val="E8B84B"/>
                </a:solidFill>
                <a:latin typeface="Georgia" panose="02040502050405020303" pitchFamily="34" charset="0"/>
                <a:ea typeface="Georgia" panose="02040502050405020303" pitchFamily="34" charset="-122"/>
                <a:cs typeface="Georgia" panose="02040502050405020303" pitchFamily="34" charset="-120"/>
              </a:rPr>
              <a:t>2</a:t>
            </a:r>
            <a:endParaRPr lang="en-US" sz="1300" dirty="0"/>
          </a:p>
        </p:txBody>
      </p:sp>
      <p:sp>
        <p:nvSpPr>
          <p:cNvPr id="16" name="Text 14"/>
          <p:cNvSpPr/>
          <p:nvPr/>
        </p:nvSpPr>
        <p:spPr>
          <a:xfrm>
            <a:off x="2441448" y="1005840"/>
            <a:ext cx="1188720" cy="365760"/>
          </a:xfrm>
          <a:prstGeom prst="rect">
            <a:avLst/>
          </a:prstGeom>
          <a:noFill/>
        </p:spPr>
        <p:txBody>
          <a:bodyPr wrap="square" rtlCol="0" anchor="ctr"/>
          <a:lstStyle/>
          <a:p>
            <a:pPr marL="0" indent="0">
              <a:buNone/>
            </a:pPr>
            <a:r>
              <a:rPr lang="en-IN" altLang="en-US" sz="1000" b="1" dirty="0">
                <a:solidFill>
                  <a:schemeClr val="bg1"/>
                </a:solidFill>
              </a:rPr>
              <a:t>D</a:t>
            </a:r>
            <a:r>
              <a:rPr lang="en-IN" altLang="en-US" sz="1200" b="1" dirty="0">
                <a:solidFill>
                  <a:schemeClr val="bg1"/>
                </a:solidFill>
              </a:rPr>
              <a:t>ata preprocessing</a:t>
            </a:r>
          </a:p>
        </p:txBody>
      </p:sp>
      <p:sp>
        <p:nvSpPr>
          <p:cNvPr id="17" name="Text 15"/>
          <p:cNvSpPr/>
          <p:nvPr/>
        </p:nvSpPr>
        <p:spPr>
          <a:xfrm>
            <a:off x="2112264" y="1417320"/>
            <a:ext cx="1481328" cy="1170432"/>
          </a:xfrm>
          <a:prstGeom prst="rect">
            <a:avLst/>
          </a:prstGeom>
          <a:noFill/>
        </p:spPr>
        <p:txBody>
          <a:bodyPr wrap="square" rtlCol="0" anchor="t"/>
          <a:lstStyle/>
          <a:p>
            <a:pPr marL="0" indent="0" algn="ctr">
              <a:buNone/>
            </a:pPr>
            <a:r>
              <a:rPr lang="en-US" altLang="en-IN" sz="1000" dirty="0"/>
              <a:t>Handling missing values and formatted for analysis</a:t>
            </a:r>
          </a:p>
        </p:txBody>
      </p:sp>
      <p:sp>
        <p:nvSpPr>
          <p:cNvPr id="18" name="Shape 16"/>
          <p:cNvSpPr/>
          <p:nvPr/>
        </p:nvSpPr>
        <p:spPr>
          <a:xfrm>
            <a:off x="3666744" y="1719072"/>
            <a:ext cx="91440" cy="36576"/>
          </a:xfrm>
          <a:prstGeom prst="rect">
            <a:avLst/>
          </a:prstGeom>
          <a:solidFill>
            <a:srgbClr val="4CAF7A"/>
          </a:solidFill>
        </p:spPr>
      </p:sp>
      <p:sp>
        <p:nvSpPr>
          <p:cNvPr id="19" name="Shape 17"/>
          <p:cNvSpPr/>
          <p:nvPr/>
        </p:nvSpPr>
        <p:spPr>
          <a:xfrm>
            <a:off x="3758184" y="1005840"/>
            <a:ext cx="1627632" cy="1664208"/>
          </a:xfrm>
          <a:prstGeom prst="rect">
            <a:avLst/>
          </a:prstGeom>
          <a:solidFill>
            <a:srgbClr val="FFFFFF"/>
          </a:solidFill>
          <a:effectLst>
            <a:outerShdw blurRad="101600" dist="38100" dir="8100000" algn="bl" rotWithShape="0">
              <a:srgbClr val="000000">
                <a:alpha val="12000"/>
              </a:srgbClr>
            </a:outerShdw>
          </a:effectLst>
        </p:spPr>
      </p:sp>
      <p:sp>
        <p:nvSpPr>
          <p:cNvPr id="20" name="Shape 18"/>
          <p:cNvSpPr/>
          <p:nvPr/>
        </p:nvSpPr>
        <p:spPr>
          <a:xfrm>
            <a:off x="3758184" y="1005840"/>
            <a:ext cx="1627632" cy="365760"/>
          </a:xfrm>
          <a:prstGeom prst="rect">
            <a:avLst/>
          </a:prstGeom>
          <a:solidFill>
            <a:srgbClr val="1A4731"/>
          </a:solidFill>
        </p:spPr>
      </p:sp>
      <p:sp>
        <p:nvSpPr>
          <p:cNvPr id="21" name="Text 19"/>
          <p:cNvSpPr/>
          <p:nvPr/>
        </p:nvSpPr>
        <p:spPr>
          <a:xfrm>
            <a:off x="3758184" y="1005840"/>
            <a:ext cx="384048" cy="365760"/>
          </a:xfrm>
          <a:prstGeom prst="rect">
            <a:avLst/>
          </a:prstGeom>
          <a:noFill/>
        </p:spPr>
        <p:txBody>
          <a:bodyPr wrap="square" rtlCol="0" anchor="ctr"/>
          <a:lstStyle/>
          <a:p>
            <a:pPr marL="0" indent="0" algn="ctr">
              <a:buNone/>
            </a:pPr>
            <a:r>
              <a:rPr lang="en-US" sz="1300" b="1" dirty="0">
                <a:solidFill>
                  <a:srgbClr val="E8B84B"/>
                </a:solidFill>
                <a:latin typeface="Georgia" panose="02040502050405020303" pitchFamily="34" charset="0"/>
                <a:ea typeface="Georgia" panose="02040502050405020303" pitchFamily="34" charset="-122"/>
                <a:cs typeface="Georgia" panose="02040502050405020303" pitchFamily="34" charset="-120"/>
              </a:rPr>
              <a:t>03</a:t>
            </a:r>
            <a:endParaRPr lang="en-US" sz="1300" dirty="0"/>
          </a:p>
        </p:txBody>
      </p:sp>
      <p:sp>
        <p:nvSpPr>
          <p:cNvPr id="22" name="Text 20"/>
          <p:cNvSpPr/>
          <p:nvPr/>
        </p:nvSpPr>
        <p:spPr>
          <a:xfrm>
            <a:off x="4160520" y="1005840"/>
            <a:ext cx="1188720" cy="365760"/>
          </a:xfrm>
          <a:prstGeom prst="rect">
            <a:avLst/>
          </a:prstGeom>
          <a:noFill/>
        </p:spPr>
        <p:txBody>
          <a:bodyPr wrap="square"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Label Encoding</a:t>
            </a:r>
            <a:endParaRPr lang="en-US" sz="1000" dirty="0"/>
          </a:p>
        </p:txBody>
      </p:sp>
      <p:sp>
        <p:nvSpPr>
          <p:cNvPr id="23" name="Text 21"/>
          <p:cNvSpPr/>
          <p:nvPr/>
        </p:nvSpPr>
        <p:spPr>
          <a:xfrm>
            <a:off x="3831336" y="1417320"/>
            <a:ext cx="1481328" cy="1170432"/>
          </a:xfrm>
          <a:prstGeom prst="rect">
            <a:avLst/>
          </a:prstGeom>
          <a:noFill/>
        </p:spPr>
        <p:txBody>
          <a:bodyPr wrap="square" rtlCol="0" anchor="t"/>
          <a:lstStyle/>
          <a:p>
            <a:pPr marL="0" indent="0" algn="ctr">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Soil Type (5) &amp; Crop Type (9) → integers</a:t>
            </a:r>
            <a:endParaRPr lang="en-US" sz="1000" dirty="0"/>
          </a:p>
        </p:txBody>
      </p:sp>
      <p:sp>
        <p:nvSpPr>
          <p:cNvPr id="24" name="Shape 22"/>
          <p:cNvSpPr/>
          <p:nvPr/>
        </p:nvSpPr>
        <p:spPr>
          <a:xfrm>
            <a:off x="5385816" y="1719072"/>
            <a:ext cx="91440" cy="36576"/>
          </a:xfrm>
          <a:prstGeom prst="rect">
            <a:avLst/>
          </a:prstGeom>
          <a:solidFill>
            <a:srgbClr val="4CAF7A"/>
          </a:solidFill>
        </p:spPr>
      </p:sp>
      <p:sp>
        <p:nvSpPr>
          <p:cNvPr id="25" name="Shape 23"/>
          <p:cNvSpPr/>
          <p:nvPr/>
        </p:nvSpPr>
        <p:spPr>
          <a:xfrm>
            <a:off x="5477256" y="1005840"/>
            <a:ext cx="1627632" cy="1664208"/>
          </a:xfrm>
          <a:prstGeom prst="rect">
            <a:avLst/>
          </a:prstGeom>
          <a:solidFill>
            <a:srgbClr val="FFFFFF"/>
          </a:solidFill>
          <a:effectLst>
            <a:outerShdw blurRad="101600" dist="38100" dir="8100000" algn="bl" rotWithShape="0">
              <a:srgbClr val="000000">
                <a:alpha val="12000"/>
              </a:srgbClr>
            </a:outerShdw>
          </a:effectLst>
        </p:spPr>
      </p:sp>
      <p:sp>
        <p:nvSpPr>
          <p:cNvPr id="26" name="Shape 24"/>
          <p:cNvSpPr/>
          <p:nvPr/>
        </p:nvSpPr>
        <p:spPr>
          <a:xfrm>
            <a:off x="5477256" y="1005840"/>
            <a:ext cx="1627632" cy="365760"/>
          </a:xfrm>
          <a:prstGeom prst="rect">
            <a:avLst/>
          </a:prstGeom>
          <a:solidFill>
            <a:srgbClr val="1A4731"/>
          </a:solidFill>
        </p:spPr>
      </p:sp>
      <p:sp>
        <p:nvSpPr>
          <p:cNvPr id="27" name="Text 25"/>
          <p:cNvSpPr/>
          <p:nvPr/>
        </p:nvSpPr>
        <p:spPr>
          <a:xfrm>
            <a:off x="5477256" y="1005840"/>
            <a:ext cx="384048" cy="365760"/>
          </a:xfrm>
          <a:prstGeom prst="rect">
            <a:avLst/>
          </a:prstGeom>
          <a:noFill/>
        </p:spPr>
        <p:txBody>
          <a:bodyPr wrap="square" rtlCol="0" anchor="ctr"/>
          <a:lstStyle/>
          <a:p>
            <a:pPr marL="0" indent="0" algn="ctr">
              <a:buNone/>
            </a:pPr>
            <a:r>
              <a:rPr lang="en-US" sz="1300" b="1" dirty="0">
                <a:solidFill>
                  <a:srgbClr val="E8B84B"/>
                </a:solidFill>
                <a:latin typeface="Georgia" panose="02040502050405020303" pitchFamily="34" charset="0"/>
                <a:ea typeface="Georgia" panose="02040502050405020303" pitchFamily="34" charset="-122"/>
                <a:cs typeface="Georgia" panose="02040502050405020303" pitchFamily="34" charset="-120"/>
              </a:rPr>
              <a:t>04</a:t>
            </a:r>
            <a:endParaRPr lang="en-US" sz="1300" dirty="0"/>
          </a:p>
        </p:txBody>
      </p:sp>
      <p:sp>
        <p:nvSpPr>
          <p:cNvPr id="28" name="Text 26"/>
          <p:cNvSpPr/>
          <p:nvPr/>
        </p:nvSpPr>
        <p:spPr>
          <a:xfrm>
            <a:off x="5879592" y="1005840"/>
            <a:ext cx="1188720" cy="365760"/>
          </a:xfrm>
          <a:prstGeom prst="rect">
            <a:avLst/>
          </a:prstGeom>
          <a:noFill/>
        </p:spPr>
        <p:txBody>
          <a:bodyPr wrap="square"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 Selection</a:t>
            </a:r>
            <a:endParaRPr lang="en-US" sz="1000" dirty="0"/>
          </a:p>
        </p:txBody>
      </p:sp>
      <p:sp>
        <p:nvSpPr>
          <p:cNvPr id="29" name="Text 27"/>
          <p:cNvSpPr/>
          <p:nvPr/>
        </p:nvSpPr>
        <p:spPr>
          <a:xfrm>
            <a:off x="5550408" y="1417320"/>
            <a:ext cx="1481328" cy="1170432"/>
          </a:xfrm>
          <a:prstGeom prst="rect">
            <a:avLst/>
          </a:prstGeom>
          <a:noFill/>
        </p:spPr>
        <p:txBody>
          <a:bodyPr wrap="square" rtlCol="0" anchor="t"/>
          <a:lstStyle/>
          <a:p>
            <a:pPr marL="0" indent="0" algn="ctr">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8 input features (X) + target (Y)</a:t>
            </a:r>
            <a:endParaRPr lang="en-US" sz="1000" dirty="0"/>
          </a:p>
        </p:txBody>
      </p:sp>
      <p:sp>
        <p:nvSpPr>
          <p:cNvPr id="30" name="Shape 28"/>
          <p:cNvSpPr/>
          <p:nvPr/>
        </p:nvSpPr>
        <p:spPr>
          <a:xfrm>
            <a:off x="7104888" y="1719072"/>
            <a:ext cx="91440" cy="36576"/>
          </a:xfrm>
          <a:prstGeom prst="rect">
            <a:avLst/>
          </a:prstGeom>
          <a:solidFill>
            <a:srgbClr val="4CAF7A"/>
          </a:solidFill>
        </p:spPr>
      </p:sp>
      <p:sp>
        <p:nvSpPr>
          <p:cNvPr id="31" name="Shape 29"/>
          <p:cNvSpPr/>
          <p:nvPr/>
        </p:nvSpPr>
        <p:spPr>
          <a:xfrm>
            <a:off x="7196328" y="1005840"/>
            <a:ext cx="1627632" cy="1664208"/>
          </a:xfrm>
          <a:prstGeom prst="rect">
            <a:avLst/>
          </a:prstGeom>
          <a:solidFill>
            <a:srgbClr val="FFFFFF"/>
          </a:solidFill>
          <a:effectLst>
            <a:outerShdw blurRad="101600" dist="38100" dir="8100000" algn="bl" rotWithShape="0">
              <a:srgbClr val="000000">
                <a:alpha val="12000"/>
              </a:srgbClr>
            </a:outerShdw>
          </a:effectLst>
        </p:spPr>
      </p:sp>
      <p:sp>
        <p:nvSpPr>
          <p:cNvPr id="32" name="Shape 30"/>
          <p:cNvSpPr/>
          <p:nvPr/>
        </p:nvSpPr>
        <p:spPr>
          <a:xfrm>
            <a:off x="7196328" y="1005840"/>
            <a:ext cx="1627632" cy="365760"/>
          </a:xfrm>
          <a:prstGeom prst="rect">
            <a:avLst/>
          </a:prstGeom>
          <a:solidFill>
            <a:srgbClr val="1A4731"/>
          </a:solidFill>
        </p:spPr>
      </p:sp>
      <p:sp>
        <p:nvSpPr>
          <p:cNvPr id="33" name="Text 31"/>
          <p:cNvSpPr/>
          <p:nvPr/>
        </p:nvSpPr>
        <p:spPr>
          <a:xfrm>
            <a:off x="7196328" y="1005840"/>
            <a:ext cx="384048" cy="365760"/>
          </a:xfrm>
          <a:prstGeom prst="rect">
            <a:avLst/>
          </a:prstGeom>
          <a:noFill/>
        </p:spPr>
        <p:txBody>
          <a:bodyPr wrap="square" rtlCol="0" anchor="ctr"/>
          <a:lstStyle/>
          <a:p>
            <a:pPr marL="0" indent="0" algn="ctr">
              <a:buNone/>
            </a:pPr>
            <a:r>
              <a:rPr lang="en-US" sz="1300" b="1" dirty="0">
                <a:solidFill>
                  <a:srgbClr val="E8B84B"/>
                </a:solidFill>
                <a:latin typeface="Georgia" panose="02040502050405020303" pitchFamily="34" charset="0"/>
                <a:ea typeface="Georgia" panose="02040502050405020303" pitchFamily="34" charset="-122"/>
                <a:cs typeface="Georgia" panose="02040502050405020303" pitchFamily="34" charset="-120"/>
              </a:rPr>
              <a:t>05</a:t>
            </a:r>
            <a:endParaRPr lang="en-US" sz="1300" dirty="0"/>
          </a:p>
        </p:txBody>
      </p:sp>
      <p:sp>
        <p:nvSpPr>
          <p:cNvPr id="34" name="Text 32"/>
          <p:cNvSpPr/>
          <p:nvPr/>
        </p:nvSpPr>
        <p:spPr>
          <a:xfrm>
            <a:off x="7598664" y="1005840"/>
            <a:ext cx="1188720" cy="365760"/>
          </a:xfrm>
          <a:prstGeom prst="rect">
            <a:avLst/>
          </a:prstGeom>
          <a:noFill/>
        </p:spPr>
        <p:txBody>
          <a:bodyPr wrap="square"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Train-Test Split</a:t>
            </a:r>
            <a:endParaRPr lang="en-US" sz="1000" dirty="0"/>
          </a:p>
        </p:txBody>
      </p:sp>
      <p:sp>
        <p:nvSpPr>
          <p:cNvPr id="35" name="Text 33"/>
          <p:cNvSpPr/>
          <p:nvPr/>
        </p:nvSpPr>
        <p:spPr>
          <a:xfrm>
            <a:off x="7269480" y="1417320"/>
            <a:ext cx="1481328" cy="1170432"/>
          </a:xfrm>
          <a:prstGeom prst="rect">
            <a:avLst/>
          </a:prstGeom>
          <a:noFill/>
        </p:spPr>
        <p:txBody>
          <a:bodyPr wrap="square" rtlCol="0" anchor="t"/>
          <a:lstStyle/>
          <a:p>
            <a:pPr marL="0" indent="0" algn="ctr">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75% train / 25% test · random_state=0</a:t>
            </a:r>
            <a:endParaRPr lang="en-US" sz="1000" dirty="0"/>
          </a:p>
        </p:txBody>
      </p:sp>
      <p:sp>
        <p:nvSpPr>
          <p:cNvPr id="36" name="Shape 34"/>
          <p:cNvSpPr/>
          <p:nvPr/>
        </p:nvSpPr>
        <p:spPr>
          <a:xfrm>
            <a:off x="320040" y="2907792"/>
            <a:ext cx="1627632" cy="1664208"/>
          </a:xfrm>
          <a:prstGeom prst="rect">
            <a:avLst/>
          </a:prstGeom>
          <a:solidFill>
            <a:srgbClr val="FFFFFF"/>
          </a:solidFill>
          <a:effectLst>
            <a:outerShdw blurRad="101600" dist="38100" dir="8100000" algn="bl" rotWithShape="0">
              <a:srgbClr val="000000">
                <a:alpha val="12000"/>
              </a:srgbClr>
            </a:outerShdw>
          </a:effectLst>
        </p:spPr>
      </p:sp>
      <p:sp>
        <p:nvSpPr>
          <p:cNvPr id="37" name="Shape 35"/>
          <p:cNvSpPr/>
          <p:nvPr/>
        </p:nvSpPr>
        <p:spPr>
          <a:xfrm>
            <a:off x="320040" y="2907792"/>
            <a:ext cx="1627632" cy="365760"/>
          </a:xfrm>
          <a:prstGeom prst="rect">
            <a:avLst/>
          </a:prstGeom>
          <a:solidFill>
            <a:srgbClr val="276749"/>
          </a:solidFill>
        </p:spPr>
      </p:sp>
      <p:sp>
        <p:nvSpPr>
          <p:cNvPr id="38" name="Text 36"/>
          <p:cNvSpPr/>
          <p:nvPr/>
        </p:nvSpPr>
        <p:spPr>
          <a:xfrm>
            <a:off x="320040" y="2907792"/>
            <a:ext cx="384048" cy="365760"/>
          </a:xfrm>
          <a:prstGeom prst="rect">
            <a:avLst/>
          </a:prstGeom>
          <a:noFill/>
        </p:spPr>
        <p:txBody>
          <a:bodyPr wrap="square" rtlCol="0" anchor="ctr"/>
          <a:lstStyle/>
          <a:p>
            <a:pPr marL="0" indent="0" algn="ctr">
              <a:buNone/>
            </a:pPr>
            <a:r>
              <a:rPr lang="en-US" sz="1300" b="1" dirty="0">
                <a:solidFill>
                  <a:srgbClr val="E8B84B"/>
                </a:solidFill>
                <a:latin typeface="Georgia" panose="02040502050405020303" pitchFamily="34" charset="0"/>
                <a:ea typeface="Georgia" panose="02040502050405020303" pitchFamily="34" charset="-122"/>
                <a:cs typeface="Georgia" panose="02040502050405020303" pitchFamily="34" charset="-120"/>
              </a:rPr>
              <a:t>06</a:t>
            </a:r>
            <a:endParaRPr lang="en-US" sz="1300" dirty="0"/>
          </a:p>
        </p:txBody>
      </p:sp>
      <p:sp>
        <p:nvSpPr>
          <p:cNvPr id="39" name="Text 37"/>
          <p:cNvSpPr/>
          <p:nvPr/>
        </p:nvSpPr>
        <p:spPr>
          <a:xfrm>
            <a:off x="722376" y="2907792"/>
            <a:ext cx="1188720" cy="365760"/>
          </a:xfrm>
          <a:prstGeom prst="rect">
            <a:avLst/>
          </a:prstGeom>
          <a:noFill/>
        </p:spPr>
        <p:txBody>
          <a:bodyPr wrap="square"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 Scaling</a:t>
            </a:r>
            <a:endParaRPr lang="en-US" sz="1000" dirty="0"/>
          </a:p>
        </p:txBody>
      </p:sp>
      <p:sp>
        <p:nvSpPr>
          <p:cNvPr id="40" name="Text 38"/>
          <p:cNvSpPr/>
          <p:nvPr/>
        </p:nvSpPr>
        <p:spPr>
          <a:xfrm>
            <a:off x="393192" y="3319272"/>
            <a:ext cx="1481328" cy="1170432"/>
          </a:xfrm>
          <a:prstGeom prst="rect">
            <a:avLst/>
          </a:prstGeom>
          <a:noFill/>
        </p:spPr>
        <p:txBody>
          <a:bodyPr wrap="square" rtlCol="0" anchor="t"/>
          <a:lstStyle/>
          <a:p>
            <a:pPr marL="0" indent="0" algn="ctr">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StandardScaler — Z-score normalization</a:t>
            </a:r>
            <a:endParaRPr lang="en-US" sz="1000" dirty="0"/>
          </a:p>
        </p:txBody>
      </p:sp>
      <p:sp>
        <p:nvSpPr>
          <p:cNvPr id="41" name="Shape 39"/>
          <p:cNvSpPr/>
          <p:nvPr/>
        </p:nvSpPr>
        <p:spPr>
          <a:xfrm>
            <a:off x="1947672" y="3621024"/>
            <a:ext cx="91440" cy="36576"/>
          </a:xfrm>
          <a:prstGeom prst="rect">
            <a:avLst/>
          </a:prstGeom>
          <a:solidFill>
            <a:srgbClr val="4CAF7A"/>
          </a:solidFill>
        </p:spPr>
      </p:sp>
      <p:sp>
        <p:nvSpPr>
          <p:cNvPr id="42" name="Shape 40"/>
          <p:cNvSpPr/>
          <p:nvPr/>
        </p:nvSpPr>
        <p:spPr>
          <a:xfrm>
            <a:off x="2039112" y="2907792"/>
            <a:ext cx="1627632" cy="1664208"/>
          </a:xfrm>
          <a:prstGeom prst="rect">
            <a:avLst/>
          </a:prstGeom>
          <a:solidFill>
            <a:srgbClr val="FFFFFF"/>
          </a:solidFill>
          <a:effectLst>
            <a:outerShdw blurRad="101600" dist="38100" dir="8100000" algn="bl" rotWithShape="0">
              <a:srgbClr val="000000">
                <a:alpha val="12000"/>
              </a:srgbClr>
            </a:outerShdw>
          </a:effectLst>
        </p:spPr>
      </p:sp>
      <p:sp>
        <p:nvSpPr>
          <p:cNvPr id="43" name="Shape 41"/>
          <p:cNvSpPr/>
          <p:nvPr/>
        </p:nvSpPr>
        <p:spPr>
          <a:xfrm>
            <a:off x="2039112" y="2907792"/>
            <a:ext cx="1627632" cy="365760"/>
          </a:xfrm>
          <a:prstGeom prst="rect">
            <a:avLst/>
          </a:prstGeom>
          <a:solidFill>
            <a:srgbClr val="276749"/>
          </a:solidFill>
        </p:spPr>
      </p:sp>
      <p:sp>
        <p:nvSpPr>
          <p:cNvPr id="44" name="Text 42"/>
          <p:cNvSpPr/>
          <p:nvPr/>
        </p:nvSpPr>
        <p:spPr>
          <a:xfrm>
            <a:off x="2039112" y="2907792"/>
            <a:ext cx="384048" cy="365760"/>
          </a:xfrm>
          <a:prstGeom prst="rect">
            <a:avLst/>
          </a:prstGeom>
          <a:noFill/>
        </p:spPr>
        <p:txBody>
          <a:bodyPr wrap="square" rtlCol="0" anchor="ctr"/>
          <a:lstStyle/>
          <a:p>
            <a:pPr marL="0" indent="0" algn="ctr">
              <a:buNone/>
            </a:pPr>
            <a:r>
              <a:rPr lang="en-US" sz="1300" b="1" dirty="0">
                <a:solidFill>
                  <a:srgbClr val="E8B84B"/>
                </a:solidFill>
                <a:latin typeface="Georgia" panose="02040502050405020303" pitchFamily="34" charset="0"/>
                <a:ea typeface="Georgia" panose="02040502050405020303" pitchFamily="34" charset="-122"/>
                <a:cs typeface="Georgia" panose="02040502050405020303" pitchFamily="34" charset="-120"/>
              </a:rPr>
              <a:t>07</a:t>
            </a:r>
            <a:endParaRPr lang="en-US" sz="1300" dirty="0"/>
          </a:p>
        </p:txBody>
      </p:sp>
      <p:sp>
        <p:nvSpPr>
          <p:cNvPr id="45" name="Text 43"/>
          <p:cNvSpPr/>
          <p:nvPr/>
        </p:nvSpPr>
        <p:spPr>
          <a:xfrm>
            <a:off x="2441448" y="2907792"/>
            <a:ext cx="1188720" cy="365760"/>
          </a:xfrm>
          <a:prstGeom prst="rect">
            <a:avLst/>
          </a:prstGeom>
          <a:noFill/>
        </p:spPr>
        <p:txBody>
          <a:bodyPr wrap="square"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 Training</a:t>
            </a:r>
            <a:endParaRPr lang="en-US" sz="1000" dirty="0"/>
          </a:p>
        </p:txBody>
      </p:sp>
      <p:sp>
        <p:nvSpPr>
          <p:cNvPr id="46" name="Text 44"/>
          <p:cNvSpPr/>
          <p:nvPr/>
        </p:nvSpPr>
        <p:spPr>
          <a:xfrm>
            <a:off x="2112264" y="3319272"/>
            <a:ext cx="1481328" cy="1170432"/>
          </a:xfrm>
          <a:prstGeom prst="rect">
            <a:avLst/>
          </a:prstGeom>
          <a:noFill/>
        </p:spPr>
        <p:txBody>
          <a:bodyPr wrap="square" rtlCol="0" anchor="t"/>
          <a:lstStyle/>
          <a:p>
            <a:pPr marL="0" indent="0" algn="ctr">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DT · Logistic Reg · Random Forest · ANN</a:t>
            </a:r>
            <a:endParaRPr lang="en-US" sz="1000" dirty="0"/>
          </a:p>
        </p:txBody>
      </p:sp>
      <p:sp>
        <p:nvSpPr>
          <p:cNvPr id="47" name="Shape 45"/>
          <p:cNvSpPr/>
          <p:nvPr/>
        </p:nvSpPr>
        <p:spPr>
          <a:xfrm>
            <a:off x="3666744" y="3621024"/>
            <a:ext cx="91440" cy="36576"/>
          </a:xfrm>
          <a:prstGeom prst="rect">
            <a:avLst/>
          </a:prstGeom>
          <a:solidFill>
            <a:srgbClr val="4CAF7A"/>
          </a:solidFill>
        </p:spPr>
      </p:sp>
      <p:sp>
        <p:nvSpPr>
          <p:cNvPr id="48" name="Shape 46"/>
          <p:cNvSpPr/>
          <p:nvPr/>
        </p:nvSpPr>
        <p:spPr>
          <a:xfrm>
            <a:off x="3758184" y="2907792"/>
            <a:ext cx="1627632" cy="1664208"/>
          </a:xfrm>
          <a:prstGeom prst="rect">
            <a:avLst/>
          </a:prstGeom>
          <a:solidFill>
            <a:srgbClr val="FFFFFF"/>
          </a:solidFill>
          <a:effectLst>
            <a:outerShdw blurRad="101600" dist="38100" dir="8100000" algn="bl" rotWithShape="0">
              <a:srgbClr val="000000">
                <a:alpha val="12000"/>
              </a:srgbClr>
            </a:outerShdw>
          </a:effectLst>
        </p:spPr>
      </p:sp>
      <p:sp>
        <p:nvSpPr>
          <p:cNvPr id="49" name="Shape 47"/>
          <p:cNvSpPr/>
          <p:nvPr/>
        </p:nvSpPr>
        <p:spPr>
          <a:xfrm>
            <a:off x="3758184" y="2907792"/>
            <a:ext cx="1627632" cy="365760"/>
          </a:xfrm>
          <a:prstGeom prst="rect">
            <a:avLst/>
          </a:prstGeom>
          <a:solidFill>
            <a:srgbClr val="276749"/>
          </a:solidFill>
        </p:spPr>
      </p:sp>
      <p:sp>
        <p:nvSpPr>
          <p:cNvPr id="50" name="Text 48"/>
          <p:cNvSpPr/>
          <p:nvPr/>
        </p:nvSpPr>
        <p:spPr>
          <a:xfrm>
            <a:off x="3758184" y="2907792"/>
            <a:ext cx="384048" cy="365760"/>
          </a:xfrm>
          <a:prstGeom prst="rect">
            <a:avLst/>
          </a:prstGeom>
          <a:noFill/>
        </p:spPr>
        <p:txBody>
          <a:bodyPr wrap="square" rtlCol="0" anchor="ctr"/>
          <a:lstStyle/>
          <a:p>
            <a:pPr marL="0" indent="0" algn="ctr">
              <a:buNone/>
            </a:pPr>
            <a:r>
              <a:rPr lang="en-US" sz="1300" b="1" dirty="0">
                <a:solidFill>
                  <a:srgbClr val="E8B84B"/>
                </a:solidFill>
                <a:latin typeface="Georgia" panose="02040502050405020303" pitchFamily="34" charset="0"/>
                <a:ea typeface="Georgia" panose="02040502050405020303" pitchFamily="34" charset="-122"/>
                <a:cs typeface="Georgia" panose="02040502050405020303" pitchFamily="34" charset="-120"/>
              </a:rPr>
              <a:t>08</a:t>
            </a:r>
            <a:endParaRPr lang="en-US" sz="1300" dirty="0"/>
          </a:p>
        </p:txBody>
      </p:sp>
      <p:sp>
        <p:nvSpPr>
          <p:cNvPr id="51" name="Text 49"/>
          <p:cNvSpPr/>
          <p:nvPr/>
        </p:nvSpPr>
        <p:spPr>
          <a:xfrm>
            <a:off x="4160520" y="2907792"/>
            <a:ext cx="1188720" cy="365760"/>
          </a:xfrm>
          <a:prstGeom prst="rect">
            <a:avLst/>
          </a:prstGeom>
          <a:noFill/>
        </p:spPr>
        <p:txBody>
          <a:bodyPr wrap="square"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Hyperparameter Tuning</a:t>
            </a:r>
            <a:endParaRPr lang="en-US" sz="1000" dirty="0"/>
          </a:p>
        </p:txBody>
      </p:sp>
      <p:sp>
        <p:nvSpPr>
          <p:cNvPr id="52" name="Text 50"/>
          <p:cNvSpPr/>
          <p:nvPr/>
        </p:nvSpPr>
        <p:spPr>
          <a:xfrm>
            <a:off x="3831336" y="3319272"/>
            <a:ext cx="1481328" cy="1170432"/>
          </a:xfrm>
          <a:prstGeom prst="rect">
            <a:avLst/>
          </a:prstGeom>
          <a:noFill/>
        </p:spPr>
        <p:txBody>
          <a:bodyPr wrap="square" rtlCol="0" anchor="t"/>
          <a:lstStyle/>
          <a:p>
            <a:pPr marL="0" indent="0" algn="ctr">
              <a:buNone/>
            </a:pPr>
            <a:r>
              <a:rPr lang="en-US" sz="1000" dirty="0" err="1" smtClean="0">
                <a:solidFill>
                  <a:srgbClr val="1C2C24"/>
                </a:solidFill>
                <a:latin typeface="Calibri" panose="020F0502020204030204" pitchFamily="34" charset="0"/>
                <a:ea typeface="Calibri" panose="020F0502020204030204" pitchFamily="34" charset="-122"/>
                <a:cs typeface="Calibri" panose="020F0502020204030204" pitchFamily="34" charset="-120"/>
              </a:rPr>
              <a:t>GridSearch</a:t>
            </a:r>
            <a:r>
              <a:rPr lang="en-US" sz="1000" dirty="0" smtClean="0">
                <a:solidFill>
                  <a:srgbClr val="1C2C24"/>
                </a:solidFill>
                <a:latin typeface="Calibri" panose="020F0502020204030204" pitchFamily="34" charset="0"/>
                <a:ea typeface="Calibri" panose="020F0502020204030204" pitchFamily="34" charset="-122"/>
                <a:cs typeface="Calibri" panose="020F0502020204030204" pitchFamily="34" charset="-120"/>
              </a:rPr>
              <a:t> CV </a:t>
            </a:r>
            <a:r>
              <a:rPr lang="en-US" sz="1000" dirty="0" smtClean="0">
                <a:solidFill>
                  <a:srgbClr val="1C2C24"/>
                </a:solidFill>
                <a:latin typeface="Calibri" panose="020F0502020204030204" pitchFamily="34" charset="0"/>
                <a:ea typeface="Calibri" panose="020F0502020204030204" pitchFamily="34" charset="-122"/>
                <a:cs typeface="Calibri" panose="020F0502020204030204" pitchFamily="34" charset="-120"/>
              </a:rPr>
              <a:t>-</a:t>
            </a:r>
            <a:r>
              <a:rPr lang="en-US" sz="1000" dirty="0" smtClean="0">
                <a:solidFill>
                  <a:srgbClr val="1C2C24"/>
                </a:solidFill>
                <a:latin typeface="Calibri" panose="020F0502020204030204" pitchFamily="34" charset="0"/>
                <a:ea typeface="Calibri" panose="020F0502020204030204" pitchFamily="34" charset="-122"/>
                <a:cs typeface="Calibri" panose="020F0502020204030204" pitchFamily="34" charset="-120"/>
              </a:rPr>
              <a:t> </a:t>
            </a: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 72 combos</a:t>
            </a:r>
            <a:endParaRPr lang="en-US" sz="1000" dirty="0"/>
          </a:p>
        </p:txBody>
      </p:sp>
      <p:sp>
        <p:nvSpPr>
          <p:cNvPr id="53" name="Shape 51"/>
          <p:cNvSpPr/>
          <p:nvPr/>
        </p:nvSpPr>
        <p:spPr>
          <a:xfrm>
            <a:off x="5385816" y="3621024"/>
            <a:ext cx="91440" cy="36576"/>
          </a:xfrm>
          <a:prstGeom prst="rect">
            <a:avLst/>
          </a:prstGeom>
          <a:solidFill>
            <a:srgbClr val="4CAF7A"/>
          </a:solidFill>
        </p:spPr>
      </p:sp>
      <p:sp>
        <p:nvSpPr>
          <p:cNvPr id="54" name="Shape 52"/>
          <p:cNvSpPr/>
          <p:nvPr/>
        </p:nvSpPr>
        <p:spPr>
          <a:xfrm>
            <a:off x="5477256" y="2907792"/>
            <a:ext cx="1627632" cy="1664208"/>
          </a:xfrm>
          <a:prstGeom prst="rect">
            <a:avLst/>
          </a:prstGeom>
          <a:solidFill>
            <a:srgbClr val="FFFFFF"/>
          </a:solidFill>
          <a:effectLst>
            <a:outerShdw blurRad="101600" dist="38100" dir="8100000" algn="bl" rotWithShape="0">
              <a:srgbClr val="000000">
                <a:alpha val="12000"/>
              </a:srgbClr>
            </a:outerShdw>
          </a:effectLst>
        </p:spPr>
      </p:sp>
      <p:sp>
        <p:nvSpPr>
          <p:cNvPr id="55" name="Shape 53"/>
          <p:cNvSpPr/>
          <p:nvPr/>
        </p:nvSpPr>
        <p:spPr>
          <a:xfrm>
            <a:off x="5477256" y="2907792"/>
            <a:ext cx="1627632" cy="365760"/>
          </a:xfrm>
          <a:prstGeom prst="rect">
            <a:avLst/>
          </a:prstGeom>
          <a:solidFill>
            <a:srgbClr val="276749"/>
          </a:solidFill>
        </p:spPr>
      </p:sp>
      <p:sp>
        <p:nvSpPr>
          <p:cNvPr id="56" name="Text 54"/>
          <p:cNvSpPr/>
          <p:nvPr/>
        </p:nvSpPr>
        <p:spPr>
          <a:xfrm>
            <a:off x="5477256" y="2907792"/>
            <a:ext cx="384048" cy="365760"/>
          </a:xfrm>
          <a:prstGeom prst="rect">
            <a:avLst/>
          </a:prstGeom>
          <a:noFill/>
        </p:spPr>
        <p:txBody>
          <a:bodyPr wrap="square" rtlCol="0" anchor="ctr"/>
          <a:lstStyle/>
          <a:p>
            <a:pPr marL="0" indent="0" algn="ctr">
              <a:buNone/>
            </a:pPr>
            <a:r>
              <a:rPr lang="en-US" sz="1300" b="1" dirty="0">
                <a:solidFill>
                  <a:srgbClr val="E8B84B"/>
                </a:solidFill>
                <a:latin typeface="Georgia" panose="02040502050405020303" pitchFamily="34" charset="0"/>
                <a:ea typeface="Georgia" panose="02040502050405020303" pitchFamily="34" charset="-122"/>
                <a:cs typeface="Georgia" panose="02040502050405020303" pitchFamily="34" charset="-120"/>
              </a:rPr>
              <a:t>09</a:t>
            </a:r>
            <a:endParaRPr lang="en-US" sz="1300" dirty="0"/>
          </a:p>
        </p:txBody>
      </p:sp>
      <p:sp>
        <p:nvSpPr>
          <p:cNvPr id="57" name="Text 55"/>
          <p:cNvSpPr/>
          <p:nvPr/>
        </p:nvSpPr>
        <p:spPr>
          <a:xfrm>
            <a:off x="5879592" y="2907792"/>
            <a:ext cx="1188720" cy="365760"/>
          </a:xfrm>
          <a:prstGeom prst="rect">
            <a:avLst/>
          </a:prstGeom>
          <a:noFill/>
        </p:spPr>
        <p:txBody>
          <a:bodyPr wrap="square"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 Evaluation</a:t>
            </a:r>
            <a:endParaRPr lang="en-US" sz="1000" dirty="0"/>
          </a:p>
        </p:txBody>
      </p:sp>
      <p:sp>
        <p:nvSpPr>
          <p:cNvPr id="58" name="Text 56"/>
          <p:cNvSpPr/>
          <p:nvPr/>
        </p:nvSpPr>
        <p:spPr>
          <a:xfrm>
            <a:off x="5550408" y="3319272"/>
            <a:ext cx="1481328" cy="1170432"/>
          </a:xfrm>
          <a:prstGeom prst="rect">
            <a:avLst/>
          </a:prstGeom>
          <a:noFill/>
        </p:spPr>
        <p:txBody>
          <a:bodyPr wrap="square" rtlCol="0" anchor="t"/>
          <a:lstStyle/>
          <a:p>
            <a:pPr marL="0" indent="0" algn="ctr">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Accuracy, Precision, Recall, Confusion Matrix</a:t>
            </a:r>
            <a:endParaRPr lang="en-US" sz="1000" dirty="0"/>
          </a:p>
        </p:txBody>
      </p:sp>
      <p:sp>
        <p:nvSpPr>
          <p:cNvPr id="59" name="Shape 57"/>
          <p:cNvSpPr/>
          <p:nvPr/>
        </p:nvSpPr>
        <p:spPr>
          <a:xfrm>
            <a:off x="7104888" y="3621024"/>
            <a:ext cx="91440" cy="36576"/>
          </a:xfrm>
          <a:prstGeom prst="rect">
            <a:avLst/>
          </a:prstGeom>
          <a:solidFill>
            <a:srgbClr val="4CAF7A"/>
          </a:solidFill>
        </p:spPr>
      </p:sp>
      <p:sp>
        <p:nvSpPr>
          <p:cNvPr id="60" name="Shape 58"/>
          <p:cNvSpPr/>
          <p:nvPr/>
        </p:nvSpPr>
        <p:spPr>
          <a:xfrm>
            <a:off x="7196328" y="2907792"/>
            <a:ext cx="1627632" cy="1664208"/>
          </a:xfrm>
          <a:prstGeom prst="rect">
            <a:avLst/>
          </a:prstGeom>
          <a:solidFill>
            <a:srgbClr val="FFFFFF"/>
          </a:solidFill>
          <a:effectLst>
            <a:outerShdw blurRad="101600" dist="38100" dir="8100000" algn="bl" rotWithShape="0">
              <a:srgbClr val="000000">
                <a:alpha val="12000"/>
              </a:srgbClr>
            </a:outerShdw>
          </a:effectLst>
        </p:spPr>
      </p:sp>
      <p:sp>
        <p:nvSpPr>
          <p:cNvPr id="61" name="Shape 59"/>
          <p:cNvSpPr/>
          <p:nvPr/>
        </p:nvSpPr>
        <p:spPr>
          <a:xfrm>
            <a:off x="7196328" y="2907792"/>
            <a:ext cx="1627632" cy="365760"/>
          </a:xfrm>
          <a:prstGeom prst="rect">
            <a:avLst/>
          </a:prstGeom>
          <a:solidFill>
            <a:srgbClr val="276749"/>
          </a:solidFill>
        </p:spPr>
      </p:sp>
      <p:sp>
        <p:nvSpPr>
          <p:cNvPr id="62" name="Text 60"/>
          <p:cNvSpPr/>
          <p:nvPr/>
        </p:nvSpPr>
        <p:spPr>
          <a:xfrm>
            <a:off x="7196328" y="2907792"/>
            <a:ext cx="384048" cy="365760"/>
          </a:xfrm>
          <a:prstGeom prst="rect">
            <a:avLst/>
          </a:prstGeom>
          <a:noFill/>
        </p:spPr>
        <p:txBody>
          <a:bodyPr wrap="square" rtlCol="0" anchor="ctr"/>
          <a:lstStyle/>
          <a:p>
            <a:pPr marL="0" indent="0" algn="ctr">
              <a:buNone/>
            </a:pPr>
            <a:r>
              <a:rPr lang="en-US" sz="1300" b="1" dirty="0">
                <a:solidFill>
                  <a:srgbClr val="E8B84B"/>
                </a:solidFill>
                <a:latin typeface="Georgia" panose="02040502050405020303" pitchFamily="34" charset="0"/>
                <a:ea typeface="Georgia" panose="02040502050405020303" pitchFamily="34" charset="-122"/>
                <a:cs typeface="Georgia" panose="02040502050405020303" pitchFamily="34" charset="-120"/>
              </a:rPr>
              <a:t>10</a:t>
            </a:r>
            <a:endParaRPr lang="en-US" sz="1300" dirty="0"/>
          </a:p>
        </p:txBody>
      </p:sp>
      <p:sp>
        <p:nvSpPr>
          <p:cNvPr id="63" name="Text 61"/>
          <p:cNvSpPr/>
          <p:nvPr/>
        </p:nvSpPr>
        <p:spPr>
          <a:xfrm>
            <a:off x="7598664" y="2907792"/>
            <a:ext cx="1188720" cy="365760"/>
          </a:xfrm>
          <a:prstGeom prst="rect">
            <a:avLst/>
          </a:prstGeom>
          <a:noFill/>
        </p:spPr>
        <p:txBody>
          <a:bodyPr wrap="square"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Visualization</a:t>
            </a:r>
            <a:endParaRPr lang="en-US" sz="1000" dirty="0"/>
          </a:p>
        </p:txBody>
      </p:sp>
      <p:sp>
        <p:nvSpPr>
          <p:cNvPr id="64" name="Text 62"/>
          <p:cNvSpPr/>
          <p:nvPr/>
        </p:nvSpPr>
        <p:spPr>
          <a:xfrm>
            <a:off x="7269480" y="3319272"/>
            <a:ext cx="1481328" cy="1170432"/>
          </a:xfrm>
          <a:prstGeom prst="rect">
            <a:avLst/>
          </a:prstGeom>
          <a:noFill/>
        </p:spPr>
        <p:txBody>
          <a:bodyPr wrap="square" rtlCol="0" anchor="t"/>
          <a:lstStyle/>
          <a:p>
            <a:pPr marL="0" indent="0" algn="ctr">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plot_tree, bar charts, sample prediction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9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76749"/>
          </a:solidFill>
        </p:spPr>
      </p:sp>
      <p:sp>
        <p:nvSpPr>
          <p:cNvPr id="3" name="Text 1"/>
          <p:cNvSpPr/>
          <p:nvPr/>
        </p:nvSpPr>
        <p:spPr>
          <a:xfrm>
            <a:off x="320040" y="0"/>
            <a:ext cx="8229600" cy="658368"/>
          </a:xfrm>
          <a:prstGeom prst="rect">
            <a:avLst/>
          </a:prstGeom>
          <a:noFill/>
        </p:spPr>
        <p:txBody>
          <a:bodyPr wrap="square" lIns="0" tIns="0" rIns="0" bIns="0"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Chapter 7: Data Preprocessing &amp; Feature Scaling</a:t>
            </a:r>
            <a:endParaRPr lang="en-US" sz="2200" dirty="0"/>
          </a:p>
        </p:txBody>
      </p:sp>
      <p:sp>
        <p:nvSpPr>
          <p:cNvPr id="4" name="Shape 2"/>
          <p:cNvSpPr/>
          <p:nvPr/>
        </p:nvSpPr>
        <p:spPr>
          <a:xfrm>
            <a:off x="0" y="4983480"/>
            <a:ext cx="9144000" cy="164592"/>
          </a:xfrm>
          <a:prstGeom prst="rect">
            <a:avLst/>
          </a:prstGeom>
          <a:solidFill>
            <a:srgbClr val="1A4731"/>
          </a:solidFill>
        </p:spPr>
      </p:sp>
      <p:sp>
        <p:nvSpPr>
          <p:cNvPr id="5" name="Text 3"/>
          <p:cNvSpPr/>
          <p:nvPr/>
        </p:nvSpPr>
        <p:spPr>
          <a:xfrm>
            <a:off x="182880" y="4974336"/>
            <a:ext cx="8778240" cy="164592"/>
          </a:xfrm>
          <a:prstGeom prst="rect">
            <a:avLst/>
          </a:prstGeom>
          <a:noFill/>
        </p:spPr>
        <p:txBody>
          <a:bodyPr wrap="square" rtlCol="0" anchor="ctr"/>
          <a:lstStyle/>
          <a:p>
            <a:pPr marL="0" indent="0">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EAI421 – Application of AI &amp; ML  |  UAS Bangalore-560065</a:t>
            </a:r>
            <a:endParaRPr lang="en-US" sz="800" dirty="0"/>
          </a:p>
        </p:txBody>
      </p:sp>
      <p:sp>
        <p:nvSpPr>
          <p:cNvPr id="6" name="Shape 4"/>
          <p:cNvSpPr/>
          <p:nvPr/>
        </p:nvSpPr>
        <p:spPr>
          <a:xfrm>
            <a:off x="320040" y="1005840"/>
            <a:ext cx="3840480" cy="3675888"/>
          </a:xfrm>
          <a:prstGeom prst="rect">
            <a:avLst/>
          </a:prstGeom>
          <a:solidFill>
            <a:srgbClr val="FFFFFF"/>
          </a:solidFill>
          <a:effectLst>
            <a:outerShdw blurRad="101600" dist="38100" dir="8100000" algn="bl" rotWithShape="0">
              <a:srgbClr val="000000">
                <a:alpha val="12000"/>
              </a:srgbClr>
            </a:outerShdw>
          </a:effectLst>
        </p:spPr>
      </p:sp>
      <p:sp>
        <p:nvSpPr>
          <p:cNvPr id="7" name="Shape 5"/>
          <p:cNvSpPr/>
          <p:nvPr/>
        </p:nvSpPr>
        <p:spPr>
          <a:xfrm>
            <a:off x="320040" y="1005840"/>
            <a:ext cx="3840480" cy="347472"/>
          </a:xfrm>
          <a:prstGeom prst="rect">
            <a:avLst/>
          </a:prstGeom>
          <a:solidFill>
            <a:srgbClr val="1A4731"/>
          </a:solidFill>
        </p:spPr>
      </p:sp>
      <p:sp>
        <p:nvSpPr>
          <p:cNvPr id="8" name="Text 6"/>
          <p:cNvSpPr/>
          <p:nvPr/>
        </p:nvSpPr>
        <p:spPr>
          <a:xfrm>
            <a:off x="320040" y="1005840"/>
            <a:ext cx="3840480" cy="347472"/>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Label Encoding</a:t>
            </a:r>
            <a:endParaRPr lang="en-US" sz="1300" dirty="0"/>
          </a:p>
        </p:txBody>
      </p:sp>
      <p:sp>
        <p:nvSpPr>
          <p:cNvPr id="9" name="Text 7"/>
          <p:cNvSpPr/>
          <p:nvPr/>
        </p:nvSpPr>
        <p:spPr>
          <a:xfrm>
            <a:off x="457200" y="1417320"/>
            <a:ext cx="3566160" cy="1691640"/>
          </a:xfrm>
          <a:prstGeom prst="rect">
            <a:avLst/>
          </a:prstGeom>
          <a:noFill/>
        </p:spPr>
        <p:txBody>
          <a:bodyPr wrap="square" rtlCol="0" anchor="t"/>
          <a:lstStyle/>
          <a:p>
            <a:pPr marL="342900" indent="-342900">
              <a:buSzPct val="100000"/>
              <a:buChar char="•"/>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Soil Type  →  0–4</a:t>
            </a:r>
            <a:endParaRPr lang="en-US" sz="1100" dirty="0"/>
          </a:p>
          <a:p>
            <a:pPr marL="0" indent="0">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  Black=0, Clayey=1, Loamy=2, Red=3, Sandy=4</a:t>
            </a:r>
            <a:endParaRPr lang="en-US" sz="1100" dirty="0"/>
          </a:p>
          <a:p>
            <a:pPr marL="342900" indent="-342900">
              <a:buSzPct val="100000"/>
              <a:buChar char="•"/>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Crop Type  →  0–8</a:t>
            </a:r>
            <a:endParaRPr lang="en-US" sz="1100" dirty="0"/>
          </a:p>
          <a:p>
            <a:pPr marL="0" indent="0">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  Barley=0, Cotton=1, Groundnut=2, Maize=3,</a:t>
            </a:r>
            <a:endParaRPr lang="en-US" sz="1100" dirty="0"/>
          </a:p>
          <a:p>
            <a:pPr marL="0" indent="0">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  Millet=4, Paddy=5, Rice=6, Sugarcane=7, Wheat=8</a:t>
            </a:r>
            <a:endParaRPr lang="en-US" sz="1100" dirty="0"/>
          </a:p>
        </p:txBody>
      </p:sp>
      <p:sp>
        <p:nvSpPr>
          <p:cNvPr id="11" name="Text 9"/>
          <p:cNvSpPr/>
          <p:nvPr/>
        </p:nvSpPr>
        <p:spPr>
          <a:xfrm>
            <a:off x="594360" y="3246120"/>
            <a:ext cx="3383280" cy="274320"/>
          </a:xfrm>
          <a:prstGeom prst="rect">
            <a:avLst/>
          </a:prstGeom>
          <a:noFill/>
        </p:spPr>
        <p:txBody>
          <a:bodyPr wrap="square" rtlCol="0" anchor="ctr"/>
          <a:lstStyle/>
          <a:p>
            <a:pPr marL="0" indent="0">
              <a:buNone/>
            </a:pPr>
            <a:endParaRPr lang="en-US" sz="1000" dirty="0"/>
          </a:p>
        </p:txBody>
      </p:sp>
      <p:sp>
        <p:nvSpPr>
          <p:cNvPr id="13" name="Text 11"/>
          <p:cNvSpPr/>
          <p:nvPr/>
        </p:nvSpPr>
        <p:spPr>
          <a:xfrm>
            <a:off x="457200" y="3986784"/>
            <a:ext cx="3566160" cy="457200"/>
          </a:xfrm>
          <a:prstGeom prst="rect">
            <a:avLst/>
          </a:prstGeom>
          <a:noFill/>
        </p:spPr>
        <p:txBody>
          <a:bodyPr wrap="square" rtlCol="0" anchor="ctr"/>
          <a:lstStyle/>
          <a:p>
            <a:pPr marL="0" indent="0">
              <a:buNone/>
            </a:pPr>
            <a:r>
              <a:rPr lang="en-US" sz="1000" i="1" dirty="0">
                <a:solidFill>
                  <a:srgbClr val="4A6B58"/>
                </a:solidFill>
                <a:latin typeface="Calibri" panose="020F0502020204030204" pitchFamily="34" charset="0"/>
                <a:ea typeface="Calibri" panose="020F0502020204030204" pitchFamily="34" charset="-122"/>
                <a:cs typeface="Calibri" panose="020F0502020204030204" pitchFamily="34" charset="-120"/>
              </a:rPr>
              <a:t>StandardScaler fit only on training data → prevent data leakage</a:t>
            </a:r>
            <a:endParaRPr lang="en-US" sz="1000" dirty="0"/>
          </a:p>
        </p:txBody>
      </p:sp>
      <p:sp>
        <p:nvSpPr>
          <p:cNvPr id="14" name="Shape 12"/>
          <p:cNvSpPr/>
          <p:nvPr/>
        </p:nvSpPr>
        <p:spPr>
          <a:xfrm>
            <a:off x="4343400" y="1005840"/>
            <a:ext cx="4480560" cy="3675888"/>
          </a:xfrm>
          <a:prstGeom prst="rect">
            <a:avLst/>
          </a:prstGeom>
          <a:solidFill>
            <a:srgbClr val="FFFFFF"/>
          </a:solidFill>
          <a:effectLst>
            <a:outerShdw blurRad="101600" dist="38100" dir="8100000" algn="bl" rotWithShape="0">
              <a:srgbClr val="000000">
                <a:alpha val="12000"/>
              </a:srgbClr>
            </a:outerShdw>
          </a:effectLst>
        </p:spPr>
      </p:sp>
      <p:sp>
        <p:nvSpPr>
          <p:cNvPr id="15" name="Shape 13"/>
          <p:cNvSpPr/>
          <p:nvPr/>
        </p:nvSpPr>
        <p:spPr>
          <a:xfrm>
            <a:off x="4354195" y="1024255"/>
            <a:ext cx="4588510" cy="347345"/>
          </a:xfrm>
          <a:prstGeom prst="rect">
            <a:avLst/>
          </a:prstGeom>
          <a:solidFill>
            <a:srgbClr val="276749"/>
          </a:solidFill>
        </p:spPr>
      </p:sp>
      <p:sp>
        <p:nvSpPr>
          <p:cNvPr id="16" name="Text 14"/>
          <p:cNvSpPr/>
          <p:nvPr/>
        </p:nvSpPr>
        <p:spPr>
          <a:xfrm>
            <a:off x="4343400" y="1005840"/>
            <a:ext cx="4480560" cy="347472"/>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StandardScaler: All Features → Mean ≈ 0, Std ≈ 1</a:t>
            </a:r>
            <a:endParaRPr lang="en-US" sz="1100" dirty="0"/>
          </a:p>
        </p:txBody>
      </p:sp>
      <p:sp>
        <p:nvSpPr>
          <p:cNvPr id="17" name="Shape 15"/>
          <p:cNvSpPr/>
          <p:nvPr/>
        </p:nvSpPr>
        <p:spPr>
          <a:xfrm>
            <a:off x="4343400" y="1389888"/>
            <a:ext cx="4480560" cy="393192"/>
          </a:xfrm>
          <a:prstGeom prst="rect">
            <a:avLst/>
          </a:prstGeom>
          <a:solidFill>
            <a:srgbClr val="EDF5F0"/>
          </a:solidFill>
        </p:spPr>
      </p:sp>
      <p:sp>
        <p:nvSpPr>
          <p:cNvPr id="18" name="Text 16"/>
          <p:cNvSpPr/>
          <p:nvPr/>
        </p:nvSpPr>
        <p:spPr>
          <a:xfrm>
            <a:off x="4462272" y="1399032"/>
            <a:ext cx="4206240" cy="374904"/>
          </a:xfrm>
          <a:prstGeom prst="rect">
            <a:avLst/>
          </a:prstGeom>
          <a:noFill/>
        </p:spPr>
        <p:txBody>
          <a:bodyPr wrap="square" rtlCol="0" anchor="ctr"/>
          <a:lstStyle/>
          <a:p>
            <a:pPr marL="0" indent="0">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Temperature (°C)   |   15–45°C   → Equalizes contribution</a:t>
            </a:r>
            <a:endParaRPr lang="en-US" sz="1000" dirty="0"/>
          </a:p>
        </p:txBody>
      </p:sp>
      <p:sp>
        <p:nvSpPr>
          <p:cNvPr id="19" name="Shape 17"/>
          <p:cNvSpPr/>
          <p:nvPr/>
        </p:nvSpPr>
        <p:spPr>
          <a:xfrm>
            <a:off x="4343400" y="1792224"/>
            <a:ext cx="4480560" cy="393192"/>
          </a:xfrm>
          <a:prstGeom prst="rect">
            <a:avLst/>
          </a:prstGeom>
          <a:solidFill>
            <a:srgbClr val="FFFFFF"/>
          </a:solidFill>
        </p:spPr>
      </p:sp>
      <p:sp>
        <p:nvSpPr>
          <p:cNvPr id="20" name="Text 18"/>
          <p:cNvSpPr/>
          <p:nvPr/>
        </p:nvSpPr>
        <p:spPr>
          <a:xfrm>
            <a:off x="4462272" y="1801368"/>
            <a:ext cx="4206240" cy="374904"/>
          </a:xfrm>
          <a:prstGeom prst="rect">
            <a:avLst/>
          </a:prstGeom>
          <a:noFill/>
        </p:spPr>
        <p:txBody>
          <a:bodyPr wrap="square" rtlCol="0" anchor="ctr"/>
          <a:lstStyle/>
          <a:p>
            <a:pPr marL="0" indent="0">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Humidity (%)          |   30–90%   → Equalize range</a:t>
            </a:r>
            <a:endParaRPr lang="en-US" sz="1000" dirty="0"/>
          </a:p>
        </p:txBody>
      </p:sp>
      <p:sp>
        <p:nvSpPr>
          <p:cNvPr id="21" name="Shape 19"/>
          <p:cNvSpPr/>
          <p:nvPr/>
        </p:nvSpPr>
        <p:spPr>
          <a:xfrm>
            <a:off x="4343400" y="2194560"/>
            <a:ext cx="4480560" cy="393192"/>
          </a:xfrm>
          <a:prstGeom prst="rect">
            <a:avLst/>
          </a:prstGeom>
          <a:solidFill>
            <a:srgbClr val="EDF5F0"/>
          </a:solidFill>
        </p:spPr>
      </p:sp>
      <p:sp>
        <p:nvSpPr>
          <p:cNvPr id="22" name="Text 20"/>
          <p:cNvSpPr/>
          <p:nvPr/>
        </p:nvSpPr>
        <p:spPr>
          <a:xfrm>
            <a:off x="4462272" y="2203704"/>
            <a:ext cx="4206240" cy="374904"/>
          </a:xfrm>
          <a:prstGeom prst="rect">
            <a:avLst/>
          </a:prstGeom>
          <a:noFill/>
        </p:spPr>
        <p:txBody>
          <a:bodyPr wrap="square" rtlCol="0" anchor="ctr"/>
          <a:lstStyle/>
          <a:p>
            <a:pPr marL="0" indent="0">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Soil Moisture (%)   |   20–65%   → Nutrient solubility</a:t>
            </a:r>
            <a:endParaRPr lang="en-US" sz="1000" dirty="0"/>
          </a:p>
        </p:txBody>
      </p:sp>
      <p:sp>
        <p:nvSpPr>
          <p:cNvPr id="23" name="Shape 21"/>
          <p:cNvSpPr/>
          <p:nvPr/>
        </p:nvSpPr>
        <p:spPr>
          <a:xfrm>
            <a:off x="4343400" y="2596896"/>
            <a:ext cx="4480560" cy="393192"/>
          </a:xfrm>
          <a:prstGeom prst="rect">
            <a:avLst/>
          </a:prstGeom>
          <a:solidFill>
            <a:srgbClr val="FFFFFF"/>
          </a:solidFill>
        </p:spPr>
      </p:sp>
      <p:sp>
        <p:nvSpPr>
          <p:cNvPr id="24" name="Text 22"/>
          <p:cNvSpPr/>
          <p:nvPr/>
        </p:nvSpPr>
        <p:spPr>
          <a:xfrm>
            <a:off x="4462272" y="2606040"/>
            <a:ext cx="4206240" cy="374904"/>
          </a:xfrm>
          <a:prstGeom prst="rect">
            <a:avLst/>
          </a:prstGeom>
          <a:noFill/>
        </p:spPr>
        <p:txBody>
          <a:bodyPr wrap="square" rtlCol="0" anchor="ctr"/>
          <a:lstStyle/>
          <a:p>
            <a:pPr marL="0" indent="0">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Soil Type (enc.)     |   0–4         → Match numeric range</a:t>
            </a:r>
            <a:endParaRPr lang="en-US" sz="1000" dirty="0"/>
          </a:p>
        </p:txBody>
      </p:sp>
      <p:sp>
        <p:nvSpPr>
          <p:cNvPr id="25" name="Shape 23"/>
          <p:cNvSpPr/>
          <p:nvPr/>
        </p:nvSpPr>
        <p:spPr>
          <a:xfrm>
            <a:off x="4343400" y="2999232"/>
            <a:ext cx="4480560" cy="393192"/>
          </a:xfrm>
          <a:prstGeom prst="rect">
            <a:avLst/>
          </a:prstGeom>
          <a:solidFill>
            <a:srgbClr val="EDF5F0"/>
          </a:solidFill>
        </p:spPr>
      </p:sp>
      <p:sp>
        <p:nvSpPr>
          <p:cNvPr id="26" name="Text 24"/>
          <p:cNvSpPr/>
          <p:nvPr/>
        </p:nvSpPr>
        <p:spPr>
          <a:xfrm>
            <a:off x="4462272" y="3008376"/>
            <a:ext cx="4206240" cy="374904"/>
          </a:xfrm>
          <a:prstGeom prst="rect">
            <a:avLst/>
          </a:prstGeom>
          <a:noFill/>
        </p:spPr>
        <p:txBody>
          <a:bodyPr wrap="square" rtlCol="0" anchor="ctr"/>
          <a:lstStyle/>
          <a:p>
            <a:pPr marL="0" indent="0">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Crop Type (enc.)   |   0–8         → Prevent index domination</a:t>
            </a:r>
            <a:endParaRPr lang="en-US" sz="1000" dirty="0"/>
          </a:p>
        </p:txBody>
      </p:sp>
      <p:sp>
        <p:nvSpPr>
          <p:cNvPr id="27" name="Shape 25"/>
          <p:cNvSpPr/>
          <p:nvPr/>
        </p:nvSpPr>
        <p:spPr>
          <a:xfrm>
            <a:off x="4343400" y="3401568"/>
            <a:ext cx="4480560" cy="393192"/>
          </a:xfrm>
          <a:prstGeom prst="rect">
            <a:avLst/>
          </a:prstGeom>
          <a:solidFill>
            <a:srgbClr val="FFFFFF"/>
          </a:solidFill>
        </p:spPr>
      </p:sp>
      <p:sp>
        <p:nvSpPr>
          <p:cNvPr id="28" name="Text 26"/>
          <p:cNvSpPr/>
          <p:nvPr/>
        </p:nvSpPr>
        <p:spPr>
          <a:xfrm>
            <a:off x="4462272" y="3410712"/>
            <a:ext cx="4206240" cy="374904"/>
          </a:xfrm>
          <a:prstGeom prst="rect">
            <a:avLst/>
          </a:prstGeom>
          <a:noFill/>
        </p:spPr>
        <p:txBody>
          <a:bodyPr wrap="square" rtlCol="0" anchor="ctr"/>
          <a:lstStyle/>
          <a:p>
            <a:pPr marL="0" indent="0">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Nitrogen (kg/ha)   |   Varies      → Neutralize large values</a:t>
            </a:r>
            <a:endParaRPr lang="en-US" sz="1000" dirty="0"/>
          </a:p>
        </p:txBody>
      </p:sp>
      <p:sp>
        <p:nvSpPr>
          <p:cNvPr id="29" name="Shape 27"/>
          <p:cNvSpPr/>
          <p:nvPr/>
        </p:nvSpPr>
        <p:spPr>
          <a:xfrm>
            <a:off x="4343400" y="3803904"/>
            <a:ext cx="4480560" cy="393192"/>
          </a:xfrm>
          <a:prstGeom prst="rect">
            <a:avLst/>
          </a:prstGeom>
          <a:solidFill>
            <a:srgbClr val="EDF5F0"/>
          </a:solidFill>
        </p:spPr>
      </p:sp>
      <p:sp>
        <p:nvSpPr>
          <p:cNvPr id="30" name="Text 28"/>
          <p:cNvSpPr/>
          <p:nvPr/>
        </p:nvSpPr>
        <p:spPr>
          <a:xfrm>
            <a:off x="4462272" y="3813048"/>
            <a:ext cx="4206240" cy="374904"/>
          </a:xfrm>
          <a:prstGeom prst="rect">
            <a:avLst/>
          </a:prstGeom>
          <a:noFill/>
        </p:spPr>
        <p:txBody>
          <a:bodyPr wrap="square" rtlCol="0" anchor="ctr"/>
          <a:lstStyle/>
          <a:p>
            <a:pPr marL="0" indent="0">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Phosphorus (kg/ha)|   Varies     → Equal contribution</a:t>
            </a:r>
            <a:endParaRPr lang="en-US" sz="1000" dirty="0"/>
          </a:p>
        </p:txBody>
      </p:sp>
      <p:sp>
        <p:nvSpPr>
          <p:cNvPr id="31" name="Shape 29"/>
          <p:cNvSpPr/>
          <p:nvPr/>
        </p:nvSpPr>
        <p:spPr>
          <a:xfrm>
            <a:off x="4343400" y="4206240"/>
            <a:ext cx="4480560" cy="393192"/>
          </a:xfrm>
          <a:prstGeom prst="rect">
            <a:avLst/>
          </a:prstGeom>
          <a:solidFill>
            <a:srgbClr val="FFFFFF"/>
          </a:solidFill>
        </p:spPr>
      </p:sp>
      <p:sp>
        <p:nvSpPr>
          <p:cNvPr id="32" name="Text 30"/>
          <p:cNvSpPr/>
          <p:nvPr/>
        </p:nvSpPr>
        <p:spPr>
          <a:xfrm>
            <a:off x="4462272" y="4215384"/>
            <a:ext cx="4206240" cy="374904"/>
          </a:xfrm>
          <a:prstGeom prst="rect">
            <a:avLst/>
          </a:prstGeom>
          <a:noFill/>
        </p:spPr>
        <p:txBody>
          <a:bodyPr wrap="square" rtlCol="0" anchor="ctr"/>
          <a:lstStyle/>
          <a:p>
            <a:pPr marL="0" indent="0">
              <a:buNone/>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Potassium (kg/ha) |   Varies      → Avoid suppression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9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76749"/>
          </a:solidFill>
        </p:spPr>
      </p:sp>
      <p:sp>
        <p:nvSpPr>
          <p:cNvPr id="3" name="Text 1"/>
          <p:cNvSpPr/>
          <p:nvPr/>
        </p:nvSpPr>
        <p:spPr>
          <a:xfrm>
            <a:off x="320040" y="0"/>
            <a:ext cx="8229600" cy="658368"/>
          </a:xfrm>
          <a:prstGeom prst="rect">
            <a:avLst/>
          </a:prstGeom>
          <a:noFill/>
        </p:spPr>
        <p:txBody>
          <a:bodyPr wrap="square" lIns="0" tIns="0" rIns="0" bIns="0"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Chapter 8: Algorithms Used</a:t>
            </a:r>
            <a:endParaRPr lang="en-US" sz="2200" dirty="0"/>
          </a:p>
        </p:txBody>
      </p:sp>
      <p:sp>
        <p:nvSpPr>
          <p:cNvPr id="4" name="Text 2"/>
          <p:cNvSpPr/>
          <p:nvPr/>
        </p:nvSpPr>
        <p:spPr>
          <a:xfrm>
            <a:off x="320040" y="658368"/>
            <a:ext cx="8503920" cy="320040"/>
          </a:xfrm>
          <a:prstGeom prst="rect">
            <a:avLst/>
          </a:prstGeom>
          <a:noFill/>
        </p:spPr>
        <p:txBody>
          <a:bodyPr wrap="square" rtlCol="0" anchor="ctr"/>
          <a:lstStyle/>
          <a:p>
            <a:pPr marL="0" indent="0">
              <a:buNone/>
            </a:pPr>
            <a:r>
              <a:rPr lang="en-US" sz="1100" i="1" dirty="0">
                <a:solidFill>
                  <a:srgbClr val="4A6B58"/>
                </a:solidFill>
                <a:latin typeface="Calibri" panose="020F0502020204030204" pitchFamily="34" charset="0"/>
                <a:ea typeface="Calibri" panose="020F0502020204030204" pitchFamily="34" charset="-122"/>
                <a:cs typeface="Calibri" panose="020F0502020204030204" pitchFamily="34" charset="-120"/>
              </a:rPr>
              <a:t>Five model configurations compared</a:t>
            </a:r>
            <a:endParaRPr lang="en-US" sz="1100" dirty="0"/>
          </a:p>
        </p:txBody>
      </p:sp>
      <p:sp>
        <p:nvSpPr>
          <p:cNvPr id="5" name="Shape 3"/>
          <p:cNvSpPr/>
          <p:nvPr/>
        </p:nvSpPr>
        <p:spPr>
          <a:xfrm>
            <a:off x="0" y="4983480"/>
            <a:ext cx="9144000" cy="164592"/>
          </a:xfrm>
          <a:prstGeom prst="rect">
            <a:avLst/>
          </a:prstGeom>
          <a:solidFill>
            <a:srgbClr val="1A4731"/>
          </a:solidFill>
        </p:spPr>
      </p:sp>
      <p:sp>
        <p:nvSpPr>
          <p:cNvPr id="6" name="Text 4"/>
          <p:cNvSpPr/>
          <p:nvPr/>
        </p:nvSpPr>
        <p:spPr>
          <a:xfrm>
            <a:off x="182880" y="4974336"/>
            <a:ext cx="8778240" cy="164592"/>
          </a:xfrm>
          <a:prstGeom prst="rect">
            <a:avLst/>
          </a:prstGeom>
          <a:noFill/>
        </p:spPr>
        <p:txBody>
          <a:bodyPr wrap="square" rtlCol="0" anchor="ctr"/>
          <a:lstStyle/>
          <a:p>
            <a:pPr marL="0" indent="0">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EAI421 – Application of AI &amp; ML  |  UAS Bangalore-560065</a:t>
            </a:r>
            <a:endParaRPr lang="en-US" sz="800" dirty="0"/>
          </a:p>
        </p:txBody>
      </p:sp>
      <p:sp>
        <p:nvSpPr>
          <p:cNvPr id="7" name="Shape 5"/>
          <p:cNvSpPr/>
          <p:nvPr/>
        </p:nvSpPr>
        <p:spPr>
          <a:xfrm>
            <a:off x="320040" y="1024128"/>
            <a:ext cx="8503920" cy="713232"/>
          </a:xfrm>
          <a:prstGeom prst="rect">
            <a:avLst/>
          </a:prstGeom>
          <a:solidFill>
            <a:srgbClr val="EDF7F1"/>
          </a:solidFill>
          <a:effectLst>
            <a:outerShdw blurRad="101600" dist="38100" dir="8100000" algn="bl" rotWithShape="0">
              <a:srgbClr val="000000">
                <a:alpha val="12000"/>
              </a:srgbClr>
            </a:outerShdw>
          </a:effectLst>
        </p:spPr>
      </p:sp>
      <p:sp>
        <p:nvSpPr>
          <p:cNvPr id="8" name="Shape 6"/>
          <p:cNvSpPr/>
          <p:nvPr/>
        </p:nvSpPr>
        <p:spPr>
          <a:xfrm>
            <a:off x="320040" y="1024128"/>
            <a:ext cx="82296" cy="713232"/>
          </a:xfrm>
          <a:prstGeom prst="rect">
            <a:avLst/>
          </a:prstGeom>
          <a:solidFill>
            <a:srgbClr val="1A4731"/>
          </a:solidFill>
        </p:spPr>
      </p:sp>
      <p:sp>
        <p:nvSpPr>
          <p:cNvPr id="9" name="Text 7"/>
          <p:cNvSpPr/>
          <p:nvPr/>
        </p:nvSpPr>
        <p:spPr>
          <a:xfrm>
            <a:off x="484632" y="1060704"/>
            <a:ext cx="2560320" cy="292608"/>
          </a:xfrm>
          <a:prstGeom prst="rect">
            <a:avLst/>
          </a:prstGeom>
          <a:noFill/>
        </p:spPr>
        <p:txBody>
          <a:bodyPr wrap="square" rtlCol="0" anchor="ctr"/>
          <a:lstStyle/>
          <a:p>
            <a:pPr marL="0" indent="0">
              <a:buNone/>
            </a:pPr>
            <a:r>
              <a:rPr lang="en-US" sz="1150" b="1" dirty="0">
                <a:solidFill>
                  <a:srgbClr val="1A4731"/>
                </a:solidFill>
                <a:latin typeface="Calibri" panose="020F0502020204030204" pitchFamily="34" charset="0"/>
                <a:ea typeface="Calibri" panose="020F0502020204030204" pitchFamily="34" charset="-122"/>
                <a:cs typeface="Calibri" panose="020F0502020204030204" pitchFamily="34" charset="-120"/>
              </a:rPr>
              <a:t>Decision Tree (Original) ★</a:t>
            </a:r>
            <a:endParaRPr lang="en-US" sz="1150" dirty="0"/>
          </a:p>
        </p:txBody>
      </p:sp>
      <p:sp>
        <p:nvSpPr>
          <p:cNvPr id="10" name="Text 8"/>
          <p:cNvSpPr/>
          <p:nvPr/>
        </p:nvSpPr>
        <p:spPr>
          <a:xfrm>
            <a:off x="484632" y="1353312"/>
            <a:ext cx="2560320" cy="274320"/>
          </a:xfrm>
          <a:prstGeom prst="rect">
            <a:avLst/>
          </a:prstGeom>
          <a:noFill/>
        </p:spPr>
        <p:txBody>
          <a:bodyPr wrap="square" rtlCol="0" anchor="ctr"/>
          <a:lstStyle/>
          <a:p>
            <a:pPr marL="0" indent="0">
              <a:buNone/>
            </a:pPr>
            <a:r>
              <a:rPr lang="en-US" sz="900" i="1" dirty="0">
                <a:solidFill>
                  <a:srgbClr val="4A6B58"/>
                </a:solidFill>
                <a:latin typeface="Calibri" panose="020F0502020204030204" pitchFamily="34" charset="0"/>
                <a:ea typeface="Calibri" panose="020F0502020204030204" pitchFamily="34" charset="-122"/>
                <a:cs typeface="Calibri" panose="020F0502020204030204" pitchFamily="34" charset="-120"/>
              </a:rPr>
              <a:t>Scikit-learn</a:t>
            </a:r>
            <a:endParaRPr lang="en-US" sz="900" dirty="0"/>
          </a:p>
        </p:txBody>
      </p:sp>
      <p:sp>
        <p:nvSpPr>
          <p:cNvPr id="11" name="Text 9"/>
          <p:cNvSpPr/>
          <p:nvPr/>
        </p:nvSpPr>
        <p:spPr>
          <a:xfrm>
            <a:off x="3154680" y="1078992"/>
            <a:ext cx="2743200" cy="603504"/>
          </a:xfrm>
          <a:prstGeom prst="rect">
            <a:avLst/>
          </a:prstGeom>
          <a:noFill/>
        </p:spPr>
        <p:txBody>
          <a:bodyPr wrap="square" rtlCol="0" anchor="ctr"/>
          <a:lstStyle/>
          <a:p>
            <a:pPr marL="0" indent="0">
              <a:buNone/>
            </a:pPr>
            <a:r>
              <a:rPr lang="en-US" sz="900" dirty="0">
                <a:solidFill>
                  <a:srgbClr val="1C2C24"/>
                </a:solidFill>
                <a:latin typeface="Consolas" panose="020B0609020204030204" pitchFamily="34" charset="0"/>
                <a:ea typeface="Consolas" panose="020B0609020204030204" pitchFamily="34" charset="-122"/>
                <a:cs typeface="Consolas" panose="020B0609020204030204" pitchFamily="34" charset="-120"/>
              </a:rPr>
              <a:t>criterion='entropy', max_depth=None,</a:t>
            </a:r>
            <a:endParaRPr lang="en-US" sz="900" dirty="0"/>
          </a:p>
          <a:p>
            <a:pPr marL="0" indent="0">
              <a:buNone/>
            </a:pPr>
            <a:r>
              <a:rPr lang="en-US" sz="900" dirty="0">
                <a:solidFill>
                  <a:srgbClr val="1C2C24"/>
                </a:solidFill>
                <a:latin typeface="Consolas" panose="020B0609020204030204" pitchFamily="34" charset="0"/>
                <a:ea typeface="Consolas" panose="020B0609020204030204" pitchFamily="34" charset="-122"/>
                <a:cs typeface="Consolas" panose="020B0609020204030204" pitchFamily="34" charset="-120"/>
              </a:rPr>
              <a:t>min_samples_split=5, min_samples_leaf=2</a:t>
            </a:r>
            <a:endParaRPr lang="en-US" sz="900" dirty="0"/>
          </a:p>
        </p:txBody>
      </p:sp>
      <p:sp>
        <p:nvSpPr>
          <p:cNvPr id="12" name="Text 10"/>
          <p:cNvSpPr/>
          <p:nvPr/>
        </p:nvSpPr>
        <p:spPr>
          <a:xfrm>
            <a:off x="5989320" y="1078992"/>
            <a:ext cx="2971800" cy="603504"/>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Recursively splits data on entropy (information gain). Highly interpretable and fast. Best model with 92.11% accuracy.</a:t>
            </a:r>
            <a:endParaRPr lang="en-US" sz="950" dirty="0"/>
          </a:p>
        </p:txBody>
      </p:sp>
      <p:sp>
        <p:nvSpPr>
          <p:cNvPr id="13" name="Shape 11"/>
          <p:cNvSpPr/>
          <p:nvPr/>
        </p:nvSpPr>
        <p:spPr>
          <a:xfrm>
            <a:off x="320040" y="1801368"/>
            <a:ext cx="8503920" cy="713232"/>
          </a:xfrm>
          <a:prstGeom prst="rect">
            <a:avLst/>
          </a:prstGeom>
          <a:solidFill>
            <a:srgbClr val="FFFFFF"/>
          </a:solidFill>
          <a:effectLst>
            <a:outerShdw blurRad="101600" dist="38100" dir="8100000" algn="bl" rotWithShape="0">
              <a:srgbClr val="000000">
                <a:alpha val="12000"/>
              </a:srgbClr>
            </a:outerShdw>
          </a:effectLst>
        </p:spPr>
      </p:sp>
      <p:sp>
        <p:nvSpPr>
          <p:cNvPr id="14" name="Shape 12"/>
          <p:cNvSpPr/>
          <p:nvPr/>
        </p:nvSpPr>
        <p:spPr>
          <a:xfrm>
            <a:off x="320040" y="1801368"/>
            <a:ext cx="82296" cy="713232"/>
          </a:xfrm>
          <a:prstGeom prst="rect">
            <a:avLst/>
          </a:prstGeom>
          <a:solidFill>
            <a:srgbClr val="276749"/>
          </a:solidFill>
        </p:spPr>
      </p:sp>
      <p:sp>
        <p:nvSpPr>
          <p:cNvPr id="15" name="Text 13"/>
          <p:cNvSpPr/>
          <p:nvPr/>
        </p:nvSpPr>
        <p:spPr>
          <a:xfrm>
            <a:off x="484632" y="1837944"/>
            <a:ext cx="2560320" cy="292608"/>
          </a:xfrm>
          <a:prstGeom prst="rect">
            <a:avLst/>
          </a:prstGeom>
          <a:noFill/>
        </p:spPr>
        <p:txBody>
          <a:bodyPr wrap="square" rtlCol="0" anchor="ctr"/>
          <a:lstStyle/>
          <a:p>
            <a:pPr marL="0" indent="0">
              <a:buNone/>
            </a:pPr>
            <a:r>
              <a:rPr lang="en-US" sz="1150" b="1" dirty="0">
                <a:solidFill>
                  <a:srgbClr val="276749"/>
                </a:solidFill>
                <a:latin typeface="Calibri" panose="020F0502020204030204" pitchFamily="34" charset="0"/>
                <a:ea typeface="Calibri" panose="020F0502020204030204" pitchFamily="34" charset="-122"/>
                <a:cs typeface="Calibri" panose="020F0502020204030204" pitchFamily="34" charset="-120"/>
              </a:rPr>
              <a:t>Decision Tree (Tuned)</a:t>
            </a:r>
            <a:endParaRPr lang="en-US" sz="1150" dirty="0"/>
          </a:p>
        </p:txBody>
      </p:sp>
      <p:sp>
        <p:nvSpPr>
          <p:cNvPr id="16" name="Text 14"/>
          <p:cNvSpPr/>
          <p:nvPr/>
        </p:nvSpPr>
        <p:spPr>
          <a:xfrm>
            <a:off x="484632" y="2130552"/>
            <a:ext cx="2560320" cy="274320"/>
          </a:xfrm>
          <a:prstGeom prst="rect">
            <a:avLst/>
          </a:prstGeom>
          <a:noFill/>
        </p:spPr>
        <p:txBody>
          <a:bodyPr wrap="square" rtlCol="0" anchor="ctr"/>
          <a:lstStyle/>
          <a:p>
            <a:pPr marL="0" indent="0">
              <a:buNone/>
            </a:pPr>
            <a:r>
              <a:rPr lang="en-US" sz="900" i="1" dirty="0">
                <a:solidFill>
                  <a:srgbClr val="4A6B58"/>
                </a:solidFill>
                <a:latin typeface="Calibri" panose="020F0502020204030204" pitchFamily="34" charset="0"/>
                <a:ea typeface="Calibri" panose="020F0502020204030204" pitchFamily="34" charset="-122"/>
                <a:cs typeface="Calibri" panose="020F0502020204030204" pitchFamily="34" charset="-120"/>
              </a:rPr>
              <a:t>Scikit-learn + GridSearchCV</a:t>
            </a:r>
            <a:endParaRPr lang="en-US" sz="900" dirty="0"/>
          </a:p>
        </p:txBody>
      </p:sp>
      <p:sp>
        <p:nvSpPr>
          <p:cNvPr id="17" name="Text 15"/>
          <p:cNvSpPr/>
          <p:nvPr/>
        </p:nvSpPr>
        <p:spPr>
          <a:xfrm>
            <a:off x="3154680" y="1856232"/>
            <a:ext cx="2743200" cy="603504"/>
          </a:xfrm>
          <a:prstGeom prst="rect">
            <a:avLst/>
          </a:prstGeom>
          <a:noFill/>
        </p:spPr>
        <p:txBody>
          <a:bodyPr wrap="square" rtlCol="0" anchor="ctr"/>
          <a:lstStyle/>
          <a:p>
            <a:pPr marL="0" indent="0">
              <a:buNone/>
            </a:pPr>
            <a:r>
              <a:rPr lang="en-US" sz="900" dirty="0">
                <a:solidFill>
                  <a:srgbClr val="1C2C24"/>
                </a:solidFill>
                <a:latin typeface="Consolas" panose="020B0609020204030204" pitchFamily="34" charset="0"/>
                <a:ea typeface="Consolas" panose="020B0609020204030204" pitchFamily="34" charset="-122"/>
                <a:cs typeface="Consolas" panose="020B0609020204030204" pitchFamily="34" charset="-120"/>
              </a:rPr>
              <a:t>criterion='gini', max_depth=None,</a:t>
            </a:r>
            <a:endParaRPr lang="en-US" sz="900" dirty="0"/>
          </a:p>
          <a:p>
            <a:pPr marL="0" indent="0">
              <a:buNone/>
            </a:pPr>
            <a:r>
              <a:rPr lang="en-US" sz="900" dirty="0">
                <a:solidFill>
                  <a:srgbClr val="1C2C24"/>
                </a:solidFill>
                <a:latin typeface="Consolas" panose="020B0609020204030204" pitchFamily="34" charset="0"/>
                <a:ea typeface="Consolas" panose="020B0609020204030204" pitchFamily="34" charset="-122"/>
                <a:cs typeface="Consolas" panose="020B0609020204030204" pitchFamily="34" charset="-120"/>
              </a:rPr>
              <a:t>min_samples_split=2, min_samples_leaf=1</a:t>
            </a:r>
            <a:endParaRPr lang="en-US" sz="900" dirty="0"/>
          </a:p>
        </p:txBody>
      </p:sp>
      <p:sp>
        <p:nvSpPr>
          <p:cNvPr id="18" name="Text 16"/>
          <p:cNvSpPr/>
          <p:nvPr/>
        </p:nvSpPr>
        <p:spPr>
          <a:xfrm>
            <a:off x="5989320" y="1856232"/>
            <a:ext cx="2971800" cy="603504"/>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Hyperparameters optimised via GridSearchCV with </a:t>
            </a:r>
            <a:r>
              <a:rPr lang="en-US" sz="950" dirty="0" smtClean="0">
                <a:solidFill>
                  <a:srgbClr val="1C2C24"/>
                </a:solidFill>
                <a:latin typeface="Calibri" panose="020F0502020204030204" pitchFamily="34" charset="0"/>
                <a:ea typeface="Calibri" panose="020F0502020204030204" pitchFamily="34" charset="-122"/>
                <a:cs typeface="Calibri" panose="020F0502020204030204" pitchFamily="34" charset="-120"/>
              </a:rPr>
              <a:t>-3fold </a:t>
            </a:r>
            <a:r>
              <a:rPr lang="en-US" sz="950" dirty="0" smtClean="0">
                <a:solidFill>
                  <a:srgbClr val="1C2C24"/>
                </a:solidFill>
                <a:latin typeface="Calibri" panose="020F0502020204030204" pitchFamily="34" charset="0"/>
                <a:ea typeface="Calibri" panose="020F0502020204030204" pitchFamily="34" charset="-122"/>
                <a:cs typeface="Calibri" panose="020F0502020204030204" pitchFamily="34" charset="-120"/>
              </a:rPr>
              <a:t>CV </a:t>
            </a:r>
            <a:r>
              <a:rPr lang="en-US" sz="950" dirty="0" smtClean="0">
                <a:solidFill>
                  <a:srgbClr val="1C2C24"/>
                </a:solidFill>
                <a:latin typeface="Calibri" panose="020F0502020204030204" pitchFamily="34" charset="0"/>
                <a:ea typeface="Calibri" panose="020F0502020204030204" pitchFamily="34" charset="-122"/>
                <a:cs typeface="Calibri" panose="020F0502020204030204" pitchFamily="34" charset="-120"/>
              </a:rPr>
              <a:t>over </a:t>
            </a: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72 combinations. CV accuracy 98.20%.</a:t>
            </a:r>
            <a:endParaRPr lang="en-US" sz="950" dirty="0"/>
          </a:p>
        </p:txBody>
      </p:sp>
      <p:sp>
        <p:nvSpPr>
          <p:cNvPr id="19" name="Shape 17"/>
          <p:cNvSpPr/>
          <p:nvPr/>
        </p:nvSpPr>
        <p:spPr>
          <a:xfrm>
            <a:off x="320040" y="2578608"/>
            <a:ext cx="8503920" cy="713232"/>
          </a:xfrm>
          <a:prstGeom prst="rect">
            <a:avLst/>
          </a:prstGeom>
          <a:solidFill>
            <a:srgbClr val="FFFFFF"/>
          </a:solidFill>
          <a:effectLst>
            <a:outerShdw blurRad="101600" dist="38100" dir="8100000" algn="bl" rotWithShape="0">
              <a:srgbClr val="000000">
                <a:alpha val="12000"/>
              </a:srgbClr>
            </a:outerShdw>
          </a:effectLst>
        </p:spPr>
      </p:sp>
      <p:sp>
        <p:nvSpPr>
          <p:cNvPr id="20" name="Shape 18"/>
          <p:cNvSpPr/>
          <p:nvPr/>
        </p:nvSpPr>
        <p:spPr>
          <a:xfrm>
            <a:off x="320040" y="2578608"/>
            <a:ext cx="82296" cy="713232"/>
          </a:xfrm>
          <a:prstGeom prst="rect">
            <a:avLst/>
          </a:prstGeom>
          <a:solidFill>
            <a:srgbClr val="4CAF7A"/>
          </a:solidFill>
        </p:spPr>
      </p:sp>
      <p:sp>
        <p:nvSpPr>
          <p:cNvPr id="21" name="Text 19"/>
          <p:cNvSpPr/>
          <p:nvPr/>
        </p:nvSpPr>
        <p:spPr>
          <a:xfrm>
            <a:off x="484632" y="2615184"/>
            <a:ext cx="2560320" cy="292608"/>
          </a:xfrm>
          <a:prstGeom prst="rect">
            <a:avLst/>
          </a:prstGeom>
          <a:noFill/>
        </p:spPr>
        <p:txBody>
          <a:bodyPr wrap="square" rtlCol="0" anchor="ctr"/>
          <a:lstStyle/>
          <a:p>
            <a:pPr marL="0" indent="0">
              <a:buNone/>
            </a:pPr>
            <a:r>
              <a:rPr lang="en-US" sz="1150" b="1" dirty="0">
                <a:solidFill>
                  <a:srgbClr val="4CAF7A"/>
                </a:solidFill>
                <a:latin typeface="Calibri" panose="020F0502020204030204" pitchFamily="34" charset="0"/>
                <a:ea typeface="Calibri" panose="020F0502020204030204" pitchFamily="34" charset="-122"/>
                <a:cs typeface="Calibri" panose="020F0502020204030204" pitchFamily="34" charset="-120"/>
              </a:rPr>
              <a:t>Random Forest</a:t>
            </a:r>
            <a:endParaRPr lang="en-US" sz="1150" dirty="0"/>
          </a:p>
        </p:txBody>
      </p:sp>
      <p:sp>
        <p:nvSpPr>
          <p:cNvPr id="22" name="Text 20"/>
          <p:cNvSpPr/>
          <p:nvPr/>
        </p:nvSpPr>
        <p:spPr>
          <a:xfrm>
            <a:off x="484632" y="2907792"/>
            <a:ext cx="2560320" cy="274320"/>
          </a:xfrm>
          <a:prstGeom prst="rect">
            <a:avLst/>
          </a:prstGeom>
          <a:noFill/>
        </p:spPr>
        <p:txBody>
          <a:bodyPr wrap="square" rtlCol="0" anchor="ctr"/>
          <a:lstStyle/>
          <a:p>
            <a:pPr marL="0" indent="0">
              <a:buNone/>
            </a:pPr>
            <a:r>
              <a:rPr lang="en-US" sz="900" i="1" dirty="0">
                <a:solidFill>
                  <a:srgbClr val="4A6B58"/>
                </a:solidFill>
                <a:latin typeface="Calibri" panose="020F0502020204030204" pitchFamily="34" charset="0"/>
                <a:ea typeface="Calibri" panose="020F0502020204030204" pitchFamily="34" charset="-122"/>
                <a:cs typeface="Calibri" panose="020F0502020204030204" pitchFamily="34" charset="-120"/>
              </a:rPr>
              <a:t>Scikit-learn</a:t>
            </a:r>
            <a:endParaRPr lang="en-US" sz="900" dirty="0"/>
          </a:p>
        </p:txBody>
      </p:sp>
      <p:sp>
        <p:nvSpPr>
          <p:cNvPr id="23" name="Text 21"/>
          <p:cNvSpPr/>
          <p:nvPr/>
        </p:nvSpPr>
        <p:spPr>
          <a:xfrm>
            <a:off x="3154680" y="2633472"/>
            <a:ext cx="2743200" cy="603504"/>
          </a:xfrm>
          <a:prstGeom prst="rect">
            <a:avLst/>
          </a:prstGeom>
          <a:noFill/>
        </p:spPr>
        <p:txBody>
          <a:bodyPr wrap="square" rtlCol="0" anchor="ctr"/>
          <a:lstStyle/>
          <a:p>
            <a:pPr marL="0" indent="0">
              <a:buNone/>
            </a:pPr>
            <a:r>
              <a:rPr lang="en-US" sz="900" dirty="0">
                <a:solidFill>
                  <a:srgbClr val="1C2C24"/>
                </a:solidFill>
                <a:latin typeface="Consolas" panose="020B0609020204030204" pitchFamily="34" charset="0"/>
                <a:ea typeface="Consolas" panose="020B0609020204030204" pitchFamily="34" charset="-122"/>
                <a:cs typeface="Consolas" panose="020B0609020204030204" pitchFamily="34" charset="-120"/>
              </a:rPr>
              <a:t>n_estimators=200, criterion='entropy'</a:t>
            </a:r>
            <a:endParaRPr lang="en-US" sz="900" dirty="0"/>
          </a:p>
        </p:txBody>
      </p:sp>
      <p:sp>
        <p:nvSpPr>
          <p:cNvPr id="24" name="Text 22"/>
          <p:cNvSpPr/>
          <p:nvPr/>
        </p:nvSpPr>
        <p:spPr>
          <a:xfrm>
            <a:off x="5989320" y="2633472"/>
            <a:ext cx="2971800" cy="603504"/>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Ensemble of 200 decision trees. Majority voting reduces variance vs single tree. 86.84% accuracy.</a:t>
            </a:r>
            <a:endParaRPr lang="en-US" sz="950" dirty="0"/>
          </a:p>
        </p:txBody>
      </p:sp>
      <p:sp>
        <p:nvSpPr>
          <p:cNvPr id="25" name="Shape 23"/>
          <p:cNvSpPr/>
          <p:nvPr/>
        </p:nvSpPr>
        <p:spPr>
          <a:xfrm>
            <a:off x="320040" y="3355848"/>
            <a:ext cx="8503920" cy="713232"/>
          </a:xfrm>
          <a:prstGeom prst="rect">
            <a:avLst/>
          </a:prstGeom>
          <a:solidFill>
            <a:srgbClr val="FFFFFF"/>
          </a:solidFill>
          <a:effectLst>
            <a:outerShdw blurRad="101600" dist="38100" dir="8100000" algn="bl" rotWithShape="0">
              <a:srgbClr val="000000">
                <a:alpha val="12000"/>
              </a:srgbClr>
            </a:outerShdw>
          </a:effectLst>
        </p:spPr>
      </p:sp>
      <p:sp>
        <p:nvSpPr>
          <p:cNvPr id="26" name="Shape 24"/>
          <p:cNvSpPr/>
          <p:nvPr/>
        </p:nvSpPr>
        <p:spPr>
          <a:xfrm>
            <a:off x="320040" y="3355848"/>
            <a:ext cx="82296" cy="713232"/>
          </a:xfrm>
          <a:prstGeom prst="rect">
            <a:avLst/>
          </a:prstGeom>
          <a:solidFill>
            <a:srgbClr val="4A6B58"/>
          </a:solidFill>
        </p:spPr>
      </p:sp>
      <p:sp>
        <p:nvSpPr>
          <p:cNvPr id="27" name="Text 25"/>
          <p:cNvSpPr/>
          <p:nvPr/>
        </p:nvSpPr>
        <p:spPr>
          <a:xfrm>
            <a:off x="484632" y="3392424"/>
            <a:ext cx="2560320" cy="292608"/>
          </a:xfrm>
          <a:prstGeom prst="rect">
            <a:avLst/>
          </a:prstGeom>
          <a:noFill/>
        </p:spPr>
        <p:txBody>
          <a:bodyPr wrap="square" rtlCol="0" anchor="ctr"/>
          <a:lstStyle/>
          <a:p>
            <a:pPr marL="0" indent="0">
              <a:buNone/>
            </a:pPr>
            <a:r>
              <a:rPr lang="en-US" sz="1150" b="1" dirty="0">
                <a:solidFill>
                  <a:srgbClr val="4A6B58"/>
                </a:solidFill>
                <a:latin typeface="Calibri" panose="020F0502020204030204" pitchFamily="34" charset="0"/>
                <a:ea typeface="Calibri" panose="020F0502020204030204" pitchFamily="34" charset="-122"/>
                <a:cs typeface="Calibri" panose="020F0502020204030204" pitchFamily="34" charset="-120"/>
              </a:rPr>
              <a:t>Logistic Regression</a:t>
            </a:r>
            <a:endParaRPr lang="en-US" sz="1150" dirty="0"/>
          </a:p>
        </p:txBody>
      </p:sp>
      <p:sp>
        <p:nvSpPr>
          <p:cNvPr id="28" name="Text 26"/>
          <p:cNvSpPr/>
          <p:nvPr/>
        </p:nvSpPr>
        <p:spPr>
          <a:xfrm>
            <a:off x="484632" y="3685032"/>
            <a:ext cx="2560320" cy="274320"/>
          </a:xfrm>
          <a:prstGeom prst="rect">
            <a:avLst/>
          </a:prstGeom>
          <a:noFill/>
        </p:spPr>
        <p:txBody>
          <a:bodyPr wrap="square" rtlCol="0" anchor="ctr"/>
          <a:lstStyle/>
          <a:p>
            <a:pPr marL="0" indent="0">
              <a:buNone/>
            </a:pPr>
            <a:r>
              <a:rPr lang="en-US" sz="900" i="1" dirty="0">
                <a:solidFill>
                  <a:srgbClr val="4A6B58"/>
                </a:solidFill>
                <a:latin typeface="Calibri" panose="020F0502020204030204" pitchFamily="34" charset="0"/>
                <a:ea typeface="Calibri" panose="020F0502020204030204" pitchFamily="34" charset="-122"/>
                <a:cs typeface="Calibri" panose="020F0502020204030204" pitchFamily="34" charset="-120"/>
              </a:rPr>
              <a:t>Scikit-learn</a:t>
            </a:r>
            <a:endParaRPr lang="en-US" sz="900" dirty="0"/>
          </a:p>
        </p:txBody>
      </p:sp>
      <p:sp>
        <p:nvSpPr>
          <p:cNvPr id="29" name="Text 27"/>
          <p:cNvSpPr/>
          <p:nvPr/>
        </p:nvSpPr>
        <p:spPr>
          <a:xfrm>
            <a:off x="3154680" y="3410712"/>
            <a:ext cx="2743200" cy="603504"/>
          </a:xfrm>
          <a:prstGeom prst="rect">
            <a:avLst/>
          </a:prstGeom>
          <a:noFill/>
        </p:spPr>
        <p:txBody>
          <a:bodyPr wrap="square" rtlCol="0" anchor="ctr"/>
          <a:lstStyle/>
          <a:p>
            <a:pPr marL="0" indent="0">
              <a:buNone/>
            </a:pPr>
            <a:r>
              <a:rPr lang="en-US" sz="900" dirty="0">
                <a:solidFill>
                  <a:srgbClr val="1C2C24"/>
                </a:solidFill>
                <a:latin typeface="Consolas" panose="020B0609020204030204" pitchFamily="34" charset="0"/>
                <a:ea typeface="Consolas" panose="020B0609020204030204" pitchFamily="34" charset="-122"/>
                <a:cs typeface="Consolas" panose="020B0609020204030204" pitchFamily="34" charset="-120"/>
              </a:rPr>
              <a:t>max_iter=1000</a:t>
            </a:r>
            <a:endParaRPr lang="en-US" sz="900" dirty="0"/>
          </a:p>
        </p:txBody>
      </p:sp>
      <p:sp>
        <p:nvSpPr>
          <p:cNvPr id="30" name="Text 28"/>
          <p:cNvSpPr/>
          <p:nvPr/>
        </p:nvSpPr>
        <p:spPr>
          <a:xfrm>
            <a:off x="5989320" y="3410712"/>
            <a:ext cx="2971800" cy="603504"/>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Linear model estimating class probabilities via softmax. L2 regularization prevents overfitting. 71.05% accuracy.</a:t>
            </a:r>
            <a:endParaRPr lang="en-US" sz="950" dirty="0"/>
          </a:p>
        </p:txBody>
      </p:sp>
      <p:sp>
        <p:nvSpPr>
          <p:cNvPr id="31" name="Shape 29"/>
          <p:cNvSpPr/>
          <p:nvPr/>
        </p:nvSpPr>
        <p:spPr>
          <a:xfrm>
            <a:off x="320040" y="4133088"/>
            <a:ext cx="8503920" cy="713232"/>
          </a:xfrm>
          <a:prstGeom prst="rect">
            <a:avLst/>
          </a:prstGeom>
          <a:solidFill>
            <a:srgbClr val="FFFFFF"/>
          </a:solidFill>
          <a:effectLst>
            <a:outerShdw blurRad="101600" dist="38100" dir="8100000" algn="bl" rotWithShape="0">
              <a:srgbClr val="000000">
                <a:alpha val="12000"/>
              </a:srgbClr>
            </a:outerShdw>
          </a:effectLst>
        </p:spPr>
      </p:sp>
      <p:sp>
        <p:nvSpPr>
          <p:cNvPr id="32" name="Shape 30"/>
          <p:cNvSpPr/>
          <p:nvPr/>
        </p:nvSpPr>
        <p:spPr>
          <a:xfrm>
            <a:off x="320040" y="4133088"/>
            <a:ext cx="82296" cy="713232"/>
          </a:xfrm>
          <a:prstGeom prst="rect">
            <a:avLst/>
          </a:prstGeom>
          <a:solidFill>
            <a:srgbClr val="7A7A7A"/>
          </a:solidFill>
        </p:spPr>
      </p:sp>
      <p:sp>
        <p:nvSpPr>
          <p:cNvPr id="33" name="Text 31"/>
          <p:cNvSpPr/>
          <p:nvPr/>
        </p:nvSpPr>
        <p:spPr>
          <a:xfrm>
            <a:off x="484632" y="4169664"/>
            <a:ext cx="2560320" cy="292608"/>
          </a:xfrm>
          <a:prstGeom prst="rect">
            <a:avLst/>
          </a:prstGeom>
          <a:noFill/>
        </p:spPr>
        <p:txBody>
          <a:bodyPr wrap="square" rtlCol="0" anchor="ctr"/>
          <a:lstStyle/>
          <a:p>
            <a:pPr marL="0" indent="0">
              <a:buNone/>
            </a:pPr>
            <a:r>
              <a:rPr lang="en-US" sz="1150" b="1" dirty="0">
                <a:solidFill>
                  <a:srgbClr val="7A7A7A"/>
                </a:solidFill>
                <a:latin typeface="Calibri" panose="020F0502020204030204" pitchFamily="34" charset="0"/>
                <a:ea typeface="Calibri" panose="020F0502020204030204" pitchFamily="34" charset="-122"/>
                <a:cs typeface="Calibri" panose="020F0502020204030204" pitchFamily="34" charset="-120"/>
              </a:rPr>
              <a:t>ANN — MLP Classifier</a:t>
            </a:r>
            <a:endParaRPr lang="en-US" sz="1150" dirty="0"/>
          </a:p>
        </p:txBody>
      </p:sp>
      <p:sp>
        <p:nvSpPr>
          <p:cNvPr id="34" name="Text 32"/>
          <p:cNvSpPr/>
          <p:nvPr/>
        </p:nvSpPr>
        <p:spPr>
          <a:xfrm>
            <a:off x="484632" y="4462272"/>
            <a:ext cx="2560320" cy="274320"/>
          </a:xfrm>
          <a:prstGeom prst="rect">
            <a:avLst/>
          </a:prstGeom>
          <a:noFill/>
        </p:spPr>
        <p:txBody>
          <a:bodyPr wrap="square" rtlCol="0" anchor="ctr"/>
          <a:lstStyle/>
          <a:p>
            <a:pPr marL="0" indent="0">
              <a:buNone/>
            </a:pPr>
            <a:r>
              <a:rPr lang="en-US" sz="900" i="1" dirty="0">
                <a:solidFill>
                  <a:srgbClr val="4A6B58"/>
                </a:solidFill>
                <a:latin typeface="Calibri" panose="020F0502020204030204" pitchFamily="34" charset="0"/>
                <a:ea typeface="Calibri" panose="020F0502020204030204" pitchFamily="34" charset="-122"/>
                <a:cs typeface="Calibri" panose="020F0502020204030204" pitchFamily="34" charset="-120"/>
              </a:rPr>
              <a:t>Scikit-learn</a:t>
            </a:r>
            <a:endParaRPr lang="en-US" sz="900" dirty="0"/>
          </a:p>
        </p:txBody>
      </p:sp>
      <p:sp>
        <p:nvSpPr>
          <p:cNvPr id="35" name="Text 33"/>
          <p:cNvSpPr/>
          <p:nvPr/>
        </p:nvSpPr>
        <p:spPr>
          <a:xfrm>
            <a:off x="3154680" y="4187952"/>
            <a:ext cx="2743200" cy="603504"/>
          </a:xfrm>
          <a:prstGeom prst="rect">
            <a:avLst/>
          </a:prstGeom>
          <a:noFill/>
        </p:spPr>
        <p:txBody>
          <a:bodyPr wrap="square" rtlCol="0" anchor="ctr"/>
          <a:lstStyle/>
          <a:p>
            <a:pPr marL="0" indent="0">
              <a:buNone/>
            </a:pPr>
            <a:r>
              <a:rPr lang="en-US" sz="900" dirty="0">
                <a:solidFill>
                  <a:srgbClr val="1C2C24"/>
                </a:solidFill>
                <a:latin typeface="Consolas" panose="020B0609020204030204" pitchFamily="34" charset="0"/>
                <a:ea typeface="Consolas" panose="020B0609020204030204" pitchFamily="34" charset="-122"/>
                <a:cs typeface="Consolas" panose="020B0609020204030204" pitchFamily="34" charset="-120"/>
              </a:rPr>
              <a:t>hidden_layers=(6,6), activation='relu',</a:t>
            </a:r>
            <a:endParaRPr lang="en-US" sz="900" dirty="0"/>
          </a:p>
          <a:p>
            <a:pPr marL="0" indent="0">
              <a:buNone/>
            </a:pPr>
            <a:r>
              <a:rPr lang="en-US" sz="900" dirty="0">
                <a:solidFill>
                  <a:srgbClr val="1C2C24"/>
                </a:solidFill>
                <a:latin typeface="Consolas" panose="020B0609020204030204" pitchFamily="34" charset="0"/>
                <a:ea typeface="Consolas" panose="020B0609020204030204" pitchFamily="34" charset="-122"/>
                <a:cs typeface="Consolas" panose="020B0609020204030204" pitchFamily="34" charset="-120"/>
              </a:rPr>
              <a:t> max_iter=1000</a:t>
            </a:r>
            <a:endParaRPr lang="en-US" sz="900" dirty="0"/>
          </a:p>
        </p:txBody>
      </p:sp>
      <p:sp>
        <p:nvSpPr>
          <p:cNvPr id="36" name="Text 34"/>
          <p:cNvSpPr/>
          <p:nvPr/>
        </p:nvSpPr>
        <p:spPr>
          <a:xfrm>
            <a:off x="5989320" y="4187952"/>
            <a:ext cx="2971800" cy="603504"/>
          </a:xfrm>
          <a:prstGeom prst="rect">
            <a:avLst/>
          </a:prstGeom>
          <a:noFill/>
        </p:spPr>
        <p:txBody>
          <a:bodyPr wrap="square" rtlCol="0" anchor="ctr"/>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Two hidden layers (6 neurons each). Did not converge within 1000 iterations. 65.79% accuracy.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9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76749"/>
          </a:solidFill>
        </p:spPr>
      </p:sp>
      <p:sp>
        <p:nvSpPr>
          <p:cNvPr id="3" name="Text 1"/>
          <p:cNvSpPr/>
          <p:nvPr/>
        </p:nvSpPr>
        <p:spPr>
          <a:xfrm>
            <a:off x="320040" y="0"/>
            <a:ext cx="8229600" cy="658368"/>
          </a:xfrm>
          <a:prstGeom prst="rect">
            <a:avLst/>
          </a:prstGeom>
          <a:noFill/>
        </p:spPr>
        <p:txBody>
          <a:bodyPr wrap="square" lIns="0" tIns="0" rIns="0" bIns="0"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Chapter 9: Results &amp; Model Evaluation</a:t>
            </a:r>
            <a:endParaRPr lang="en-US" sz="2200" dirty="0"/>
          </a:p>
        </p:txBody>
      </p:sp>
      <p:sp>
        <p:nvSpPr>
          <p:cNvPr id="4" name="Shape 2"/>
          <p:cNvSpPr/>
          <p:nvPr/>
        </p:nvSpPr>
        <p:spPr>
          <a:xfrm>
            <a:off x="0" y="4983480"/>
            <a:ext cx="9144000" cy="164592"/>
          </a:xfrm>
          <a:prstGeom prst="rect">
            <a:avLst/>
          </a:prstGeom>
          <a:solidFill>
            <a:srgbClr val="1A4731"/>
          </a:solidFill>
        </p:spPr>
      </p:sp>
      <p:sp>
        <p:nvSpPr>
          <p:cNvPr id="5" name="Text 3"/>
          <p:cNvSpPr/>
          <p:nvPr/>
        </p:nvSpPr>
        <p:spPr>
          <a:xfrm>
            <a:off x="182880" y="4974336"/>
            <a:ext cx="8778240" cy="164592"/>
          </a:xfrm>
          <a:prstGeom prst="rect">
            <a:avLst/>
          </a:prstGeom>
          <a:noFill/>
        </p:spPr>
        <p:txBody>
          <a:bodyPr wrap="square" rtlCol="0" anchor="ctr"/>
          <a:lstStyle/>
          <a:p>
            <a:pPr marL="0" indent="0">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EAI421 – Application of AI &amp; ML  |  UAS Bangalore-560065</a:t>
            </a:r>
            <a:endParaRPr lang="en-US" sz="800" dirty="0"/>
          </a:p>
        </p:txBody>
      </p:sp>
      <p:sp>
        <p:nvSpPr>
          <p:cNvPr id="6" name="Shape 4"/>
          <p:cNvSpPr/>
          <p:nvPr/>
        </p:nvSpPr>
        <p:spPr>
          <a:xfrm>
            <a:off x="320040" y="987552"/>
            <a:ext cx="8503920" cy="347472"/>
          </a:xfrm>
          <a:prstGeom prst="rect">
            <a:avLst/>
          </a:prstGeom>
          <a:solidFill>
            <a:srgbClr val="276749"/>
          </a:solidFill>
        </p:spPr>
      </p:sp>
      <p:sp>
        <p:nvSpPr>
          <p:cNvPr id="7" name="Text 5"/>
          <p:cNvSpPr/>
          <p:nvPr/>
        </p:nvSpPr>
        <p:spPr>
          <a:xfrm>
            <a:off x="347472" y="987552"/>
            <a:ext cx="3200400" cy="347472"/>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a:t>
            </a:r>
            <a:endParaRPr lang="en-US" sz="1100" dirty="0"/>
          </a:p>
        </p:txBody>
      </p:sp>
      <p:sp>
        <p:nvSpPr>
          <p:cNvPr id="8" name="Text 6"/>
          <p:cNvSpPr/>
          <p:nvPr/>
        </p:nvSpPr>
        <p:spPr>
          <a:xfrm>
            <a:off x="3547872" y="987552"/>
            <a:ext cx="1737360" cy="347472"/>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Accuracy</a:t>
            </a:r>
            <a:endParaRPr lang="en-US" sz="1100" dirty="0"/>
          </a:p>
        </p:txBody>
      </p:sp>
      <p:sp>
        <p:nvSpPr>
          <p:cNvPr id="9" name="Text 7"/>
          <p:cNvSpPr/>
          <p:nvPr/>
        </p:nvSpPr>
        <p:spPr>
          <a:xfrm>
            <a:off x="5285232" y="987552"/>
            <a:ext cx="1737360" cy="347472"/>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Precision</a:t>
            </a:r>
            <a:endParaRPr lang="en-US" sz="1100" dirty="0"/>
          </a:p>
        </p:txBody>
      </p:sp>
      <p:sp>
        <p:nvSpPr>
          <p:cNvPr id="10" name="Text 8"/>
          <p:cNvSpPr/>
          <p:nvPr/>
        </p:nvSpPr>
        <p:spPr>
          <a:xfrm>
            <a:off x="7022592" y="987552"/>
            <a:ext cx="1737360" cy="347472"/>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Recall</a:t>
            </a:r>
            <a:endParaRPr lang="en-US" sz="1100" dirty="0"/>
          </a:p>
        </p:txBody>
      </p:sp>
      <p:sp>
        <p:nvSpPr>
          <p:cNvPr id="11" name="Shape 9"/>
          <p:cNvSpPr/>
          <p:nvPr/>
        </p:nvSpPr>
        <p:spPr>
          <a:xfrm>
            <a:off x="320040" y="1353312"/>
            <a:ext cx="8503920" cy="457200"/>
          </a:xfrm>
          <a:prstGeom prst="rect">
            <a:avLst/>
          </a:prstGeom>
          <a:solidFill>
            <a:srgbClr val="D4EDDA"/>
          </a:solidFill>
          <a:ln w="6350">
            <a:solidFill>
              <a:srgbClr val="D5E8D8"/>
            </a:solidFill>
            <a:prstDash val="solid"/>
          </a:ln>
        </p:spPr>
      </p:sp>
      <p:sp>
        <p:nvSpPr>
          <p:cNvPr id="12" name="Text 10"/>
          <p:cNvSpPr/>
          <p:nvPr/>
        </p:nvSpPr>
        <p:spPr>
          <a:xfrm>
            <a:off x="347472" y="1389888"/>
            <a:ext cx="3200400" cy="384048"/>
          </a:xfrm>
          <a:prstGeom prst="rect">
            <a:avLst/>
          </a:prstGeom>
          <a:noFill/>
        </p:spPr>
        <p:txBody>
          <a:bodyPr wrap="square" rtlCol="0" anchor="ctr"/>
          <a:lstStyle/>
          <a:p>
            <a:pPr marL="0" indent="0" algn="ctr">
              <a:buNone/>
            </a:pPr>
            <a:r>
              <a:rPr lang="en-US" sz="1200" b="1" dirty="0">
                <a:solidFill>
                  <a:srgbClr val="1A4731"/>
                </a:solidFill>
                <a:latin typeface="Calibri" panose="020F0502020204030204" pitchFamily="34" charset="0"/>
                <a:ea typeface="Calibri" panose="020F0502020204030204" pitchFamily="34" charset="-122"/>
                <a:cs typeface="Calibri" panose="020F0502020204030204" pitchFamily="34" charset="-120"/>
              </a:rPr>
              <a:t>DT Original ★</a:t>
            </a:r>
            <a:endParaRPr lang="en-US" sz="1200" dirty="0"/>
          </a:p>
        </p:txBody>
      </p:sp>
      <p:sp>
        <p:nvSpPr>
          <p:cNvPr id="13" name="Text 11"/>
          <p:cNvSpPr/>
          <p:nvPr/>
        </p:nvSpPr>
        <p:spPr>
          <a:xfrm>
            <a:off x="3547872" y="1389888"/>
            <a:ext cx="1737360" cy="384048"/>
          </a:xfrm>
          <a:prstGeom prst="rect">
            <a:avLst/>
          </a:prstGeom>
          <a:noFill/>
        </p:spPr>
        <p:txBody>
          <a:bodyPr wrap="square" rtlCol="0" anchor="ctr"/>
          <a:lstStyle/>
          <a:p>
            <a:pPr marL="0" indent="0" algn="ctr">
              <a:buNone/>
            </a:pPr>
            <a:r>
              <a:rPr lang="en-US" sz="1200" b="1" dirty="0">
                <a:solidFill>
                  <a:srgbClr val="1A4731"/>
                </a:solidFill>
                <a:latin typeface="Calibri" panose="020F0502020204030204" pitchFamily="34" charset="0"/>
                <a:ea typeface="Calibri" panose="020F0502020204030204" pitchFamily="34" charset="-122"/>
                <a:cs typeface="Calibri" panose="020F0502020204030204" pitchFamily="34" charset="-120"/>
              </a:rPr>
              <a:t>92.11%</a:t>
            </a:r>
            <a:endParaRPr lang="en-US" sz="1200" dirty="0"/>
          </a:p>
        </p:txBody>
      </p:sp>
      <p:sp>
        <p:nvSpPr>
          <p:cNvPr id="14" name="Text 12"/>
          <p:cNvSpPr/>
          <p:nvPr/>
        </p:nvSpPr>
        <p:spPr>
          <a:xfrm>
            <a:off x="5285232" y="1389888"/>
            <a:ext cx="1737360" cy="384048"/>
          </a:xfrm>
          <a:prstGeom prst="rect">
            <a:avLst/>
          </a:prstGeom>
          <a:noFill/>
        </p:spPr>
        <p:txBody>
          <a:bodyPr wrap="square" rtlCol="0" anchor="ctr"/>
          <a:lstStyle/>
          <a:p>
            <a:pPr marL="0" indent="0" algn="ctr">
              <a:buNone/>
            </a:pPr>
            <a:r>
              <a:rPr lang="en-US" sz="1200" b="1" dirty="0">
                <a:solidFill>
                  <a:srgbClr val="1A4731"/>
                </a:solidFill>
                <a:latin typeface="Calibri" panose="020F0502020204030204" pitchFamily="34" charset="0"/>
                <a:ea typeface="Calibri" panose="020F0502020204030204" pitchFamily="34" charset="-122"/>
                <a:cs typeface="Calibri" panose="020F0502020204030204" pitchFamily="34" charset="-120"/>
              </a:rPr>
              <a:t>91.75%</a:t>
            </a:r>
            <a:endParaRPr lang="en-US" sz="1200" dirty="0"/>
          </a:p>
        </p:txBody>
      </p:sp>
      <p:sp>
        <p:nvSpPr>
          <p:cNvPr id="15" name="Text 13"/>
          <p:cNvSpPr/>
          <p:nvPr/>
        </p:nvSpPr>
        <p:spPr>
          <a:xfrm>
            <a:off x="7022592" y="1389888"/>
            <a:ext cx="1737360" cy="384048"/>
          </a:xfrm>
          <a:prstGeom prst="rect">
            <a:avLst/>
          </a:prstGeom>
          <a:noFill/>
        </p:spPr>
        <p:txBody>
          <a:bodyPr wrap="square" rtlCol="0" anchor="ctr"/>
          <a:lstStyle/>
          <a:p>
            <a:pPr marL="0" indent="0" algn="ctr">
              <a:buNone/>
            </a:pPr>
            <a:r>
              <a:rPr lang="en-US" sz="1200" b="1" dirty="0">
                <a:solidFill>
                  <a:srgbClr val="1A4731"/>
                </a:solidFill>
                <a:latin typeface="Calibri" panose="020F0502020204030204" pitchFamily="34" charset="0"/>
                <a:ea typeface="Calibri" panose="020F0502020204030204" pitchFamily="34" charset="-122"/>
                <a:cs typeface="Calibri" panose="020F0502020204030204" pitchFamily="34" charset="-120"/>
              </a:rPr>
              <a:t>92.11%</a:t>
            </a:r>
            <a:endParaRPr lang="en-US" sz="1200" dirty="0"/>
          </a:p>
        </p:txBody>
      </p:sp>
      <p:sp>
        <p:nvSpPr>
          <p:cNvPr id="16" name="Shape 14"/>
          <p:cNvSpPr/>
          <p:nvPr/>
        </p:nvSpPr>
        <p:spPr>
          <a:xfrm>
            <a:off x="320040" y="1828800"/>
            <a:ext cx="8503920" cy="457200"/>
          </a:xfrm>
          <a:prstGeom prst="rect">
            <a:avLst/>
          </a:prstGeom>
          <a:solidFill>
            <a:srgbClr val="FFFFFF"/>
          </a:solidFill>
          <a:ln w="6350">
            <a:solidFill>
              <a:srgbClr val="D5E8D8"/>
            </a:solidFill>
            <a:prstDash val="solid"/>
          </a:ln>
        </p:spPr>
      </p:sp>
      <p:sp>
        <p:nvSpPr>
          <p:cNvPr id="17" name="Text 15"/>
          <p:cNvSpPr/>
          <p:nvPr/>
        </p:nvSpPr>
        <p:spPr>
          <a:xfrm>
            <a:off x="347472" y="1865376"/>
            <a:ext cx="320040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DT Tuned</a:t>
            </a:r>
            <a:endParaRPr lang="en-US" sz="1100" dirty="0"/>
          </a:p>
        </p:txBody>
      </p:sp>
      <p:sp>
        <p:nvSpPr>
          <p:cNvPr id="18" name="Text 16"/>
          <p:cNvSpPr/>
          <p:nvPr/>
        </p:nvSpPr>
        <p:spPr>
          <a:xfrm>
            <a:off x="3547872" y="1865376"/>
            <a:ext cx="173736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89.47%</a:t>
            </a:r>
            <a:endParaRPr lang="en-US" sz="1100" dirty="0"/>
          </a:p>
        </p:txBody>
      </p:sp>
      <p:sp>
        <p:nvSpPr>
          <p:cNvPr id="19" name="Text 17"/>
          <p:cNvSpPr/>
          <p:nvPr/>
        </p:nvSpPr>
        <p:spPr>
          <a:xfrm>
            <a:off x="5285232" y="1865376"/>
            <a:ext cx="173736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88.28%</a:t>
            </a:r>
            <a:endParaRPr lang="en-US" sz="1100" dirty="0"/>
          </a:p>
        </p:txBody>
      </p:sp>
      <p:sp>
        <p:nvSpPr>
          <p:cNvPr id="20" name="Text 18"/>
          <p:cNvSpPr/>
          <p:nvPr/>
        </p:nvSpPr>
        <p:spPr>
          <a:xfrm>
            <a:off x="7022592" y="1865376"/>
            <a:ext cx="173736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89.47%</a:t>
            </a:r>
            <a:endParaRPr lang="en-US" sz="1100" dirty="0"/>
          </a:p>
        </p:txBody>
      </p:sp>
      <p:sp>
        <p:nvSpPr>
          <p:cNvPr id="21" name="Shape 19"/>
          <p:cNvSpPr/>
          <p:nvPr/>
        </p:nvSpPr>
        <p:spPr>
          <a:xfrm>
            <a:off x="320040" y="2304288"/>
            <a:ext cx="8503920" cy="457200"/>
          </a:xfrm>
          <a:prstGeom prst="rect">
            <a:avLst/>
          </a:prstGeom>
          <a:solidFill>
            <a:srgbClr val="EDF5F0"/>
          </a:solidFill>
          <a:ln w="6350">
            <a:solidFill>
              <a:srgbClr val="D5E8D8"/>
            </a:solidFill>
            <a:prstDash val="solid"/>
          </a:ln>
        </p:spPr>
      </p:sp>
      <p:sp>
        <p:nvSpPr>
          <p:cNvPr id="22" name="Text 20"/>
          <p:cNvSpPr/>
          <p:nvPr/>
        </p:nvSpPr>
        <p:spPr>
          <a:xfrm>
            <a:off x="347472" y="2340864"/>
            <a:ext cx="320040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Random Forest</a:t>
            </a:r>
            <a:endParaRPr lang="en-US" sz="1100" dirty="0"/>
          </a:p>
        </p:txBody>
      </p:sp>
      <p:sp>
        <p:nvSpPr>
          <p:cNvPr id="23" name="Text 21"/>
          <p:cNvSpPr/>
          <p:nvPr/>
        </p:nvSpPr>
        <p:spPr>
          <a:xfrm>
            <a:off x="3547872" y="2340864"/>
            <a:ext cx="173736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86.84%</a:t>
            </a:r>
            <a:endParaRPr lang="en-US" sz="1100" dirty="0"/>
          </a:p>
        </p:txBody>
      </p:sp>
      <p:sp>
        <p:nvSpPr>
          <p:cNvPr id="24" name="Text 22"/>
          <p:cNvSpPr/>
          <p:nvPr/>
        </p:nvSpPr>
        <p:spPr>
          <a:xfrm>
            <a:off x="5285232" y="2340864"/>
            <a:ext cx="173736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79.47%</a:t>
            </a:r>
            <a:endParaRPr lang="en-US" sz="1100" dirty="0"/>
          </a:p>
        </p:txBody>
      </p:sp>
      <p:sp>
        <p:nvSpPr>
          <p:cNvPr id="25" name="Text 23"/>
          <p:cNvSpPr/>
          <p:nvPr/>
        </p:nvSpPr>
        <p:spPr>
          <a:xfrm>
            <a:off x="7022592" y="2340864"/>
            <a:ext cx="173736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86.84%</a:t>
            </a:r>
            <a:endParaRPr lang="en-US" sz="1100" dirty="0"/>
          </a:p>
        </p:txBody>
      </p:sp>
      <p:sp>
        <p:nvSpPr>
          <p:cNvPr id="26" name="Shape 24"/>
          <p:cNvSpPr/>
          <p:nvPr/>
        </p:nvSpPr>
        <p:spPr>
          <a:xfrm>
            <a:off x="320040" y="2779776"/>
            <a:ext cx="8503920" cy="457200"/>
          </a:xfrm>
          <a:prstGeom prst="rect">
            <a:avLst/>
          </a:prstGeom>
          <a:solidFill>
            <a:srgbClr val="FFFFFF"/>
          </a:solidFill>
          <a:ln w="6350">
            <a:solidFill>
              <a:srgbClr val="D5E8D8"/>
            </a:solidFill>
            <a:prstDash val="solid"/>
          </a:ln>
        </p:spPr>
      </p:sp>
      <p:sp>
        <p:nvSpPr>
          <p:cNvPr id="27" name="Text 25"/>
          <p:cNvSpPr/>
          <p:nvPr/>
        </p:nvSpPr>
        <p:spPr>
          <a:xfrm>
            <a:off x="347472" y="2816352"/>
            <a:ext cx="320040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Logistic Reg.</a:t>
            </a:r>
            <a:endParaRPr lang="en-US" sz="1100" dirty="0"/>
          </a:p>
        </p:txBody>
      </p:sp>
      <p:sp>
        <p:nvSpPr>
          <p:cNvPr id="28" name="Text 26"/>
          <p:cNvSpPr/>
          <p:nvPr/>
        </p:nvSpPr>
        <p:spPr>
          <a:xfrm>
            <a:off x="3547872" y="2816352"/>
            <a:ext cx="173736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71.05%</a:t>
            </a:r>
            <a:endParaRPr lang="en-US" sz="1100" dirty="0"/>
          </a:p>
        </p:txBody>
      </p:sp>
      <p:sp>
        <p:nvSpPr>
          <p:cNvPr id="29" name="Text 27"/>
          <p:cNvSpPr/>
          <p:nvPr/>
        </p:nvSpPr>
        <p:spPr>
          <a:xfrm>
            <a:off x="5285232" y="2816352"/>
            <a:ext cx="173736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69.34%</a:t>
            </a:r>
            <a:endParaRPr lang="en-US" sz="1100" dirty="0"/>
          </a:p>
        </p:txBody>
      </p:sp>
      <p:sp>
        <p:nvSpPr>
          <p:cNvPr id="30" name="Text 28"/>
          <p:cNvSpPr/>
          <p:nvPr/>
        </p:nvSpPr>
        <p:spPr>
          <a:xfrm>
            <a:off x="7022592" y="2816352"/>
            <a:ext cx="173736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71.05%</a:t>
            </a:r>
            <a:endParaRPr lang="en-US" sz="1100" dirty="0"/>
          </a:p>
        </p:txBody>
      </p:sp>
      <p:sp>
        <p:nvSpPr>
          <p:cNvPr id="31" name="Shape 29"/>
          <p:cNvSpPr/>
          <p:nvPr/>
        </p:nvSpPr>
        <p:spPr>
          <a:xfrm>
            <a:off x="320040" y="3255264"/>
            <a:ext cx="8503920" cy="457200"/>
          </a:xfrm>
          <a:prstGeom prst="rect">
            <a:avLst/>
          </a:prstGeom>
          <a:solidFill>
            <a:srgbClr val="EDF5F0"/>
          </a:solidFill>
          <a:ln w="6350">
            <a:solidFill>
              <a:srgbClr val="D5E8D8"/>
            </a:solidFill>
            <a:prstDash val="solid"/>
          </a:ln>
        </p:spPr>
      </p:sp>
      <p:sp>
        <p:nvSpPr>
          <p:cNvPr id="32" name="Text 30"/>
          <p:cNvSpPr/>
          <p:nvPr/>
        </p:nvSpPr>
        <p:spPr>
          <a:xfrm>
            <a:off x="347472" y="3291840"/>
            <a:ext cx="320040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ANN (MLP)</a:t>
            </a:r>
            <a:endParaRPr lang="en-US" sz="1100" dirty="0"/>
          </a:p>
        </p:txBody>
      </p:sp>
      <p:sp>
        <p:nvSpPr>
          <p:cNvPr id="33" name="Text 31"/>
          <p:cNvSpPr/>
          <p:nvPr/>
        </p:nvSpPr>
        <p:spPr>
          <a:xfrm>
            <a:off x="3547872" y="3291840"/>
            <a:ext cx="173736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65.79%</a:t>
            </a:r>
            <a:endParaRPr lang="en-US" sz="1100" dirty="0"/>
          </a:p>
        </p:txBody>
      </p:sp>
      <p:sp>
        <p:nvSpPr>
          <p:cNvPr id="34" name="Text 32"/>
          <p:cNvSpPr/>
          <p:nvPr/>
        </p:nvSpPr>
        <p:spPr>
          <a:xfrm>
            <a:off x="5285232" y="3291840"/>
            <a:ext cx="173736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63.16%</a:t>
            </a:r>
            <a:endParaRPr lang="en-US" sz="1100" dirty="0"/>
          </a:p>
        </p:txBody>
      </p:sp>
      <p:sp>
        <p:nvSpPr>
          <p:cNvPr id="35" name="Text 33"/>
          <p:cNvSpPr/>
          <p:nvPr/>
        </p:nvSpPr>
        <p:spPr>
          <a:xfrm>
            <a:off x="7022592" y="3291840"/>
            <a:ext cx="1737360" cy="384048"/>
          </a:xfrm>
          <a:prstGeom prst="rect">
            <a:avLst/>
          </a:prstGeom>
          <a:noFill/>
        </p:spPr>
        <p:txBody>
          <a:bodyPr wrap="square" rtlCol="0" anchor="ctr"/>
          <a:lstStyle/>
          <a:p>
            <a:pPr marL="0" indent="0" algn="ctr">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65.79%</a:t>
            </a:r>
            <a:endParaRPr lang="en-US" sz="1100" dirty="0"/>
          </a:p>
        </p:txBody>
      </p:sp>
      <p:sp>
        <p:nvSpPr>
          <p:cNvPr id="36" name="Text 34"/>
          <p:cNvSpPr/>
          <p:nvPr/>
        </p:nvSpPr>
        <p:spPr>
          <a:xfrm>
            <a:off x="320040" y="3794760"/>
            <a:ext cx="8503920" cy="256032"/>
          </a:xfrm>
          <a:prstGeom prst="rect">
            <a:avLst/>
          </a:prstGeom>
          <a:noFill/>
        </p:spPr>
        <p:txBody>
          <a:bodyPr wrap="square" rtlCol="0" anchor="ctr"/>
          <a:lstStyle/>
          <a:p>
            <a:pPr marL="0" indent="0">
              <a:buNone/>
            </a:pPr>
            <a:endParaRPr lang="en-US" sz="1100" dirty="0"/>
          </a:p>
        </p:txBody>
      </p:sp>
      <p:sp>
        <p:nvSpPr>
          <p:cNvPr id="41" name="Text 39"/>
          <p:cNvSpPr/>
          <p:nvPr/>
        </p:nvSpPr>
        <p:spPr>
          <a:xfrm>
            <a:off x="320040" y="4224528"/>
            <a:ext cx="1463040" cy="164592"/>
          </a:xfrm>
          <a:prstGeom prst="rect">
            <a:avLst/>
          </a:prstGeom>
          <a:noFill/>
        </p:spPr>
        <p:txBody>
          <a:bodyPr wrap="square" rtlCol="0" anchor="ctr"/>
          <a:lstStyle/>
          <a:p>
            <a:pPr marL="0" indent="0" algn="r">
              <a:buNone/>
            </a:pPr>
            <a:endParaRPr lang="en-US" sz="850" dirty="0"/>
          </a:p>
        </p:txBody>
      </p:sp>
      <p:sp>
        <p:nvSpPr>
          <p:cNvPr id="42" name="Text 40"/>
          <p:cNvSpPr/>
          <p:nvPr/>
        </p:nvSpPr>
        <p:spPr>
          <a:xfrm>
            <a:off x="5974232" y="4224528"/>
            <a:ext cx="548640" cy="164592"/>
          </a:xfrm>
          <a:prstGeom prst="rect">
            <a:avLst/>
          </a:prstGeom>
          <a:noFill/>
        </p:spPr>
        <p:txBody>
          <a:bodyPr wrap="square" rtlCol="0" anchor="ctr"/>
          <a:lstStyle/>
          <a:p>
            <a:pPr marL="0" indent="0">
              <a:buNone/>
            </a:pPr>
            <a:endParaRPr lang="en-US" sz="850" dirty="0"/>
          </a:p>
        </p:txBody>
      </p:sp>
      <p:sp>
        <p:nvSpPr>
          <p:cNvPr id="44" name="Text 42"/>
          <p:cNvSpPr/>
          <p:nvPr/>
        </p:nvSpPr>
        <p:spPr>
          <a:xfrm>
            <a:off x="320040" y="4389120"/>
            <a:ext cx="1463040" cy="164592"/>
          </a:xfrm>
          <a:prstGeom prst="rect">
            <a:avLst/>
          </a:prstGeom>
          <a:noFill/>
        </p:spPr>
        <p:txBody>
          <a:bodyPr wrap="square" rtlCol="0" anchor="ctr"/>
          <a:lstStyle/>
          <a:p>
            <a:pPr marL="0" indent="0" algn="r">
              <a:buNone/>
            </a:pPr>
            <a:endParaRPr lang="en-US" sz="850" dirty="0"/>
          </a:p>
        </p:txBody>
      </p:sp>
      <p:sp>
        <p:nvSpPr>
          <p:cNvPr id="45" name="Text 43"/>
          <p:cNvSpPr/>
          <p:nvPr/>
        </p:nvSpPr>
        <p:spPr>
          <a:xfrm>
            <a:off x="5853989" y="4389120"/>
            <a:ext cx="548640" cy="164592"/>
          </a:xfrm>
          <a:prstGeom prst="rect">
            <a:avLst/>
          </a:prstGeom>
          <a:noFill/>
        </p:spPr>
        <p:txBody>
          <a:bodyPr wrap="square" rtlCol="0" anchor="ctr"/>
          <a:lstStyle/>
          <a:p>
            <a:pPr marL="0" indent="0">
              <a:buNone/>
            </a:pPr>
            <a:endParaRPr lang="en-US" sz="850" dirty="0"/>
          </a:p>
        </p:txBody>
      </p:sp>
      <p:sp>
        <p:nvSpPr>
          <p:cNvPr id="47" name="Text 45"/>
          <p:cNvSpPr/>
          <p:nvPr/>
        </p:nvSpPr>
        <p:spPr>
          <a:xfrm>
            <a:off x="320040" y="4553712"/>
            <a:ext cx="1463040" cy="164592"/>
          </a:xfrm>
          <a:prstGeom prst="rect">
            <a:avLst/>
          </a:prstGeom>
          <a:noFill/>
        </p:spPr>
        <p:txBody>
          <a:bodyPr wrap="square" rtlCol="0" anchor="ctr"/>
          <a:lstStyle/>
          <a:p>
            <a:pPr marL="0" indent="0" algn="r">
              <a:buNone/>
            </a:pPr>
            <a:r>
              <a:rPr lang="en-US" sz="850" dirty="0">
                <a:solidFill>
                  <a:srgbClr val="1C2C24"/>
                </a:solidFill>
                <a:latin typeface="Calibri" panose="020F0502020204030204" pitchFamily="34" charset="0"/>
                <a:ea typeface="Calibri" panose="020F0502020204030204" pitchFamily="34" charset="-122"/>
                <a:cs typeface="Calibri" panose="020F0502020204030204" pitchFamily="34" charset="-120"/>
              </a:rPr>
              <a:t>.</a:t>
            </a:r>
            <a:endParaRPr lang="en-US" sz="850" dirty="0"/>
          </a:p>
        </p:txBody>
      </p:sp>
      <p:sp>
        <p:nvSpPr>
          <p:cNvPr id="48" name="Text 46"/>
          <p:cNvSpPr/>
          <p:nvPr/>
        </p:nvSpPr>
        <p:spPr>
          <a:xfrm>
            <a:off x="5132070" y="4553712"/>
            <a:ext cx="548640" cy="164592"/>
          </a:xfrm>
          <a:prstGeom prst="rect">
            <a:avLst/>
          </a:prstGeom>
          <a:noFill/>
        </p:spPr>
        <p:txBody>
          <a:bodyPr wrap="square" rtlCol="0" anchor="ctr"/>
          <a:lstStyle/>
          <a:p>
            <a:pPr marL="0" indent="0">
              <a:buNone/>
            </a:pPr>
            <a:endParaRPr lang="en-US" sz="850" dirty="0"/>
          </a:p>
        </p:txBody>
      </p:sp>
      <p:sp>
        <p:nvSpPr>
          <p:cNvPr id="51" name="Text 49"/>
          <p:cNvSpPr/>
          <p:nvPr/>
        </p:nvSpPr>
        <p:spPr>
          <a:xfrm>
            <a:off x="4891583" y="4718304"/>
            <a:ext cx="548640" cy="164592"/>
          </a:xfrm>
          <a:prstGeom prst="rect">
            <a:avLst/>
          </a:prstGeom>
          <a:noFill/>
        </p:spPr>
        <p:txBody>
          <a:bodyPr wrap="square" rtlCol="0" anchor="ctr"/>
          <a:lstStyle/>
          <a:p>
            <a:pPr marL="0" indent="0">
              <a:buNone/>
            </a:pP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03910" y="194310"/>
            <a:ext cx="7536180" cy="3963035"/>
          </a:xfrm>
          <a:prstGeom prst="rect">
            <a:avLst/>
          </a:prstGeom>
        </p:spPr>
      </p:pic>
      <p:sp>
        <p:nvSpPr>
          <p:cNvPr id="3" name="Text Box 2"/>
          <p:cNvSpPr txBox="1"/>
          <p:nvPr/>
        </p:nvSpPr>
        <p:spPr>
          <a:xfrm>
            <a:off x="1991995" y="4411980"/>
            <a:ext cx="5052695" cy="368300"/>
          </a:xfrm>
          <a:prstGeom prst="rect">
            <a:avLst/>
          </a:prstGeom>
          <a:noFill/>
        </p:spPr>
        <p:txBody>
          <a:bodyPr wrap="square" rtlCol="0">
            <a:spAutoFit/>
          </a:bodyPr>
          <a:lstStyle/>
          <a:p>
            <a:r>
              <a:rPr lang="en-US"/>
              <a:t> Figure 9.1-Model accuracy camparison graph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45845" y="365760"/>
            <a:ext cx="6928485" cy="3787775"/>
          </a:xfrm>
          <a:prstGeom prst="rect">
            <a:avLst/>
          </a:prstGeom>
        </p:spPr>
      </p:pic>
      <p:sp>
        <p:nvSpPr>
          <p:cNvPr id="3" name="Text Box 2"/>
          <p:cNvSpPr txBox="1"/>
          <p:nvPr/>
        </p:nvSpPr>
        <p:spPr>
          <a:xfrm>
            <a:off x="2096135" y="4533900"/>
            <a:ext cx="5706745" cy="368300"/>
          </a:xfrm>
          <a:prstGeom prst="rect">
            <a:avLst/>
          </a:prstGeom>
          <a:noFill/>
        </p:spPr>
        <p:txBody>
          <a:bodyPr wrap="square" rtlCol="0">
            <a:spAutoFit/>
          </a:bodyPr>
          <a:lstStyle/>
          <a:p>
            <a:r>
              <a:rPr lang="en-US"/>
              <a:t>figure 9.2- precision and recall camparision graph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9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76749"/>
          </a:solidFill>
        </p:spPr>
      </p:sp>
      <p:sp>
        <p:nvSpPr>
          <p:cNvPr id="3" name="Text 1"/>
          <p:cNvSpPr/>
          <p:nvPr/>
        </p:nvSpPr>
        <p:spPr>
          <a:xfrm>
            <a:off x="320040" y="0"/>
            <a:ext cx="8229600" cy="658368"/>
          </a:xfrm>
          <a:prstGeom prst="rect">
            <a:avLst/>
          </a:prstGeom>
          <a:noFill/>
        </p:spPr>
        <p:txBody>
          <a:bodyPr wrap="square" lIns="0" tIns="0" rIns="0" bIns="0"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Chapter </a:t>
            </a:r>
            <a:r>
              <a:rPr lang="en-US" sz="2200" b="1" dirty="0" smtClean="0">
                <a:solidFill>
                  <a:srgbClr val="FFFFFF"/>
                </a:solidFill>
                <a:latin typeface="Georgia" panose="02040502050405020303" pitchFamily="34" charset="0"/>
                <a:ea typeface="Georgia" panose="02040502050405020303" pitchFamily="34" charset="-122"/>
                <a:cs typeface="Georgia" panose="02040502050405020303" pitchFamily="34" charset="-120"/>
              </a:rPr>
              <a:t>10: </a:t>
            </a: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Visualization — Confusion Matrix &amp; Decision Tree</a:t>
            </a:r>
            <a:endParaRPr lang="en-US" sz="2200" dirty="0"/>
          </a:p>
        </p:txBody>
      </p:sp>
      <p:sp>
        <p:nvSpPr>
          <p:cNvPr id="4" name="Shape 2"/>
          <p:cNvSpPr/>
          <p:nvPr/>
        </p:nvSpPr>
        <p:spPr>
          <a:xfrm>
            <a:off x="0" y="4983480"/>
            <a:ext cx="9144000" cy="164592"/>
          </a:xfrm>
          <a:prstGeom prst="rect">
            <a:avLst/>
          </a:prstGeom>
          <a:solidFill>
            <a:srgbClr val="1A4731"/>
          </a:solidFill>
        </p:spPr>
      </p:sp>
      <p:sp>
        <p:nvSpPr>
          <p:cNvPr id="5" name="Text 3"/>
          <p:cNvSpPr/>
          <p:nvPr/>
        </p:nvSpPr>
        <p:spPr>
          <a:xfrm>
            <a:off x="182880" y="4974336"/>
            <a:ext cx="8778240" cy="164592"/>
          </a:xfrm>
          <a:prstGeom prst="rect">
            <a:avLst/>
          </a:prstGeom>
          <a:noFill/>
        </p:spPr>
        <p:txBody>
          <a:bodyPr wrap="square" rtlCol="0" anchor="ctr"/>
          <a:lstStyle/>
          <a:p>
            <a:pPr marL="0" indent="0">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EAI421 – Application of AI &amp; ML  |  UAS Bangalore-560065</a:t>
            </a:r>
            <a:endParaRPr lang="en-US" sz="800" dirty="0"/>
          </a:p>
        </p:txBody>
      </p:sp>
      <p:sp>
        <p:nvSpPr>
          <p:cNvPr id="6" name="Shape 4"/>
          <p:cNvSpPr/>
          <p:nvPr/>
        </p:nvSpPr>
        <p:spPr>
          <a:xfrm>
            <a:off x="320040" y="1005840"/>
            <a:ext cx="3931920" cy="3675888"/>
          </a:xfrm>
          <a:prstGeom prst="rect">
            <a:avLst/>
          </a:prstGeom>
          <a:solidFill>
            <a:srgbClr val="FFFFFF"/>
          </a:solidFill>
          <a:effectLst>
            <a:outerShdw blurRad="101600" dist="38100" dir="8100000" algn="bl" rotWithShape="0">
              <a:srgbClr val="000000">
                <a:alpha val="12000"/>
              </a:srgbClr>
            </a:outerShdw>
          </a:effectLst>
        </p:spPr>
      </p:sp>
      <p:sp>
        <p:nvSpPr>
          <p:cNvPr id="7" name="Shape 5"/>
          <p:cNvSpPr/>
          <p:nvPr/>
        </p:nvSpPr>
        <p:spPr>
          <a:xfrm>
            <a:off x="320040" y="1005840"/>
            <a:ext cx="3931920" cy="347472"/>
          </a:xfrm>
          <a:prstGeom prst="rect">
            <a:avLst/>
          </a:prstGeom>
          <a:solidFill>
            <a:srgbClr val="1A4731"/>
          </a:solidFill>
        </p:spPr>
      </p:sp>
      <p:sp>
        <p:nvSpPr>
          <p:cNvPr id="8" name="Text 6"/>
          <p:cNvSpPr/>
          <p:nvPr/>
        </p:nvSpPr>
        <p:spPr>
          <a:xfrm>
            <a:off x="320040" y="1005840"/>
            <a:ext cx="3931920" cy="347472"/>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Confusion Matrix — Decision Tree (Original)</a:t>
            </a:r>
            <a:endParaRPr lang="en-US" sz="1100" dirty="0"/>
          </a:p>
        </p:txBody>
      </p:sp>
      <p:sp>
        <p:nvSpPr>
          <p:cNvPr id="9" name="Shape 7"/>
          <p:cNvSpPr/>
          <p:nvPr/>
        </p:nvSpPr>
        <p:spPr>
          <a:xfrm>
            <a:off x="868680" y="1444752"/>
            <a:ext cx="566928" cy="365760"/>
          </a:xfrm>
          <a:prstGeom prst="rect">
            <a:avLst/>
          </a:prstGeom>
          <a:solidFill>
            <a:srgbClr val="276749"/>
          </a:solidFill>
        </p:spPr>
      </p:sp>
      <p:sp>
        <p:nvSpPr>
          <p:cNvPr id="10" name="Text 8"/>
          <p:cNvSpPr/>
          <p:nvPr/>
        </p:nvSpPr>
        <p:spPr>
          <a:xfrm>
            <a:off x="868680" y="1444752"/>
            <a:ext cx="566928" cy="365760"/>
          </a:xfrm>
          <a:prstGeom prst="rect">
            <a:avLst/>
          </a:prstGeom>
          <a:noFill/>
        </p:spPr>
        <p:txBody>
          <a:bodyPr wrap="square" rtlCol="0" anchor="ctr"/>
          <a:lstStyle/>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Cls 0</a:t>
            </a:r>
            <a:endParaRPr lang="en-US" sz="750" dirty="0"/>
          </a:p>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Urea</a:t>
            </a:r>
            <a:endParaRPr lang="en-US" sz="750" dirty="0"/>
          </a:p>
        </p:txBody>
      </p:sp>
      <p:sp>
        <p:nvSpPr>
          <p:cNvPr id="11" name="Shape 9"/>
          <p:cNvSpPr/>
          <p:nvPr/>
        </p:nvSpPr>
        <p:spPr>
          <a:xfrm>
            <a:off x="1435608" y="1444752"/>
            <a:ext cx="566928" cy="365760"/>
          </a:xfrm>
          <a:prstGeom prst="rect">
            <a:avLst/>
          </a:prstGeom>
          <a:solidFill>
            <a:srgbClr val="276749"/>
          </a:solidFill>
        </p:spPr>
      </p:sp>
      <p:sp>
        <p:nvSpPr>
          <p:cNvPr id="12" name="Text 10"/>
          <p:cNvSpPr/>
          <p:nvPr/>
        </p:nvSpPr>
        <p:spPr>
          <a:xfrm>
            <a:off x="1435608" y="1444752"/>
            <a:ext cx="566928" cy="365760"/>
          </a:xfrm>
          <a:prstGeom prst="rect">
            <a:avLst/>
          </a:prstGeom>
          <a:noFill/>
        </p:spPr>
        <p:txBody>
          <a:bodyPr wrap="square" rtlCol="0" anchor="ctr"/>
          <a:lstStyle/>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Cls 1</a:t>
            </a:r>
            <a:endParaRPr lang="en-US" sz="750" dirty="0"/>
          </a:p>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DAP</a:t>
            </a:r>
            <a:endParaRPr lang="en-US" sz="750" dirty="0"/>
          </a:p>
        </p:txBody>
      </p:sp>
      <p:sp>
        <p:nvSpPr>
          <p:cNvPr id="13" name="Shape 11"/>
          <p:cNvSpPr/>
          <p:nvPr/>
        </p:nvSpPr>
        <p:spPr>
          <a:xfrm>
            <a:off x="2002536" y="1444752"/>
            <a:ext cx="566928" cy="365760"/>
          </a:xfrm>
          <a:prstGeom prst="rect">
            <a:avLst/>
          </a:prstGeom>
          <a:solidFill>
            <a:srgbClr val="276749"/>
          </a:solidFill>
        </p:spPr>
      </p:sp>
      <p:sp>
        <p:nvSpPr>
          <p:cNvPr id="14" name="Text 12"/>
          <p:cNvSpPr/>
          <p:nvPr/>
        </p:nvSpPr>
        <p:spPr>
          <a:xfrm>
            <a:off x="2002536" y="1444752"/>
            <a:ext cx="566928" cy="365760"/>
          </a:xfrm>
          <a:prstGeom prst="rect">
            <a:avLst/>
          </a:prstGeom>
          <a:noFill/>
        </p:spPr>
        <p:txBody>
          <a:bodyPr wrap="square" rtlCol="0" anchor="ctr"/>
          <a:lstStyle/>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Cls 2</a:t>
            </a:r>
            <a:endParaRPr lang="en-US" sz="750" dirty="0"/>
          </a:p>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MOP</a:t>
            </a:r>
            <a:endParaRPr lang="en-US" sz="750" dirty="0"/>
          </a:p>
        </p:txBody>
      </p:sp>
      <p:sp>
        <p:nvSpPr>
          <p:cNvPr id="15" name="Shape 13"/>
          <p:cNvSpPr/>
          <p:nvPr/>
        </p:nvSpPr>
        <p:spPr>
          <a:xfrm>
            <a:off x="2569464" y="1444752"/>
            <a:ext cx="566928" cy="365760"/>
          </a:xfrm>
          <a:prstGeom prst="rect">
            <a:avLst/>
          </a:prstGeom>
          <a:solidFill>
            <a:srgbClr val="276749"/>
          </a:solidFill>
        </p:spPr>
      </p:sp>
      <p:sp>
        <p:nvSpPr>
          <p:cNvPr id="16" name="Text 14"/>
          <p:cNvSpPr/>
          <p:nvPr/>
        </p:nvSpPr>
        <p:spPr>
          <a:xfrm>
            <a:off x="2569464" y="1444752"/>
            <a:ext cx="566928" cy="365760"/>
          </a:xfrm>
          <a:prstGeom prst="rect">
            <a:avLst/>
          </a:prstGeom>
          <a:noFill/>
        </p:spPr>
        <p:txBody>
          <a:bodyPr wrap="square" rtlCol="0" anchor="ctr"/>
          <a:lstStyle/>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Cls 3</a:t>
            </a:r>
            <a:endParaRPr lang="en-US" sz="750" dirty="0"/>
          </a:p>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10-26</a:t>
            </a:r>
            <a:endParaRPr lang="en-US" sz="750" dirty="0"/>
          </a:p>
        </p:txBody>
      </p:sp>
      <p:sp>
        <p:nvSpPr>
          <p:cNvPr id="17" name="Shape 15"/>
          <p:cNvSpPr/>
          <p:nvPr/>
        </p:nvSpPr>
        <p:spPr>
          <a:xfrm>
            <a:off x="3136392" y="1444752"/>
            <a:ext cx="566928" cy="365760"/>
          </a:xfrm>
          <a:prstGeom prst="rect">
            <a:avLst/>
          </a:prstGeom>
          <a:solidFill>
            <a:srgbClr val="276749"/>
          </a:solidFill>
        </p:spPr>
      </p:sp>
      <p:sp>
        <p:nvSpPr>
          <p:cNvPr id="18" name="Text 16"/>
          <p:cNvSpPr/>
          <p:nvPr/>
        </p:nvSpPr>
        <p:spPr>
          <a:xfrm>
            <a:off x="3136392" y="1444752"/>
            <a:ext cx="566928" cy="365760"/>
          </a:xfrm>
          <a:prstGeom prst="rect">
            <a:avLst/>
          </a:prstGeom>
          <a:noFill/>
        </p:spPr>
        <p:txBody>
          <a:bodyPr wrap="square" rtlCol="0" anchor="ctr"/>
          <a:lstStyle/>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Cls 4</a:t>
            </a:r>
            <a:endParaRPr lang="en-US" sz="750" dirty="0"/>
          </a:p>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14-35</a:t>
            </a:r>
            <a:endParaRPr lang="en-US" sz="750" dirty="0"/>
          </a:p>
        </p:txBody>
      </p:sp>
      <p:sp>
        <p:nvSpPr>
          <p:cNvPr id="19" name="Shape 17"/>
          <p:cNvSpPr/>
          <p:nvPr/>
        </p:nvSpPr>
        <p:spPr>
          <a:xfrm>
            <a:off x="347472" y="1810512"/>
            <a:ext cx="502920" cy="566928"/>
          </a:xfrm>
          <a:prstGeom prst="rect">
            <a:avLst/>
          </a:prstGeom>
          <a:solidFill>
            <a:srgbClr val="276749"/>
          </a:solidFill>
        </p:spPr>
      </p:sp>
      <p:sp>
        <p:nvSpPr>
          <p:cNvPr id="20" name="Text 18"/>
          <p:cNvSpPr/>
          <p:nvPr/>
        </p:nvSpPr>
        <p:spPr>
          <a:xfrm>
            <a:off x="347472" y="1810512"/>
            <a:ext cx="502920" cy="566928"/>
          </a:xfrm>
          <a:prstGeom prst="rect">
            <a:avLst/>
          </a:prstGeom>
          <a:noFill/>
        </p:spPr>
        <p:txBody>
          <a:bodyPr wrap="square" rtlCol="0" anchor="ctr"/>
          <a:lstStyle/>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Cls 0</a:t>
            </a:r>
            <a:endParaRPr lang="en-US" sz="750" dirty="0"/>
          </a:p>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Urea</a:t>
            </a:r>
            <a:endParaRPr lang="en-US" sz="750" dirty="0"/>
          </a:p>
        </p:txBody>
      </p:sp>
      <p:sp>
        <p:nvSpPr>
          <p:cNvPr id="21" name="Shape 19"/>
          <p:cNvSpPr/>
          <p:nvPr/>
        </p:nvSpPr>
        <p:spPr>
          <a:xfrm>
            <a:off x="347472" y="2377440"/>
            <a:ext cx="502920" cy="566928"/>
          </a:xfrm>
          <a:prstGeom prst="rect">
            <a:avLst/>
          </a:prstGeom>
          <a:solidFill>
            <a:srgbClr val="276749"/>
          </a:solidFill>
        </p:spPr>
      </p:sp>
      <p:sp>
        <p:nvSpPr>
          <p:cNvPr id="22" name="Text 20"/>
          <p:cNvSpPr/>
          <p:nvPr/>
        </p:nvSpPr>
        <p:spPr>
          <a:xfrm>
            <a:off x="347472" y="2377440"/>
            <a:ext cx="502920" cy="566928"/>
          </a:xfrm>
          <a:prstGeom prst="rect">
            <a:avLst/>
          </a:prstGeom>
          <a:noFill/>
        </p:spPr>
        <p:txBody>
          <a:bodyPr wrap="square" rtlCol="0" anchor="ctr"/>
          <a:lstStyle/>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Cls 1</a:t>
            </a:r>
            <a:endParaRPr lang="en-US" sz="750" dirty="0"/>
          </a:p>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DAP</a:t>
            </a:r>
            <a:endParaRPr lang="en-US" sz="750" dirty="0"/>
          </a:p>
        </p:txBody>
      </p:sp>
      <p:sp>
        <p:nvSpPr>
          <p:cNvPr id="23" name="Shape 21"/>
          <p:cNvSpPr/>
          <p:nvPr/>
        </p:nvSpPr>
        <p:spPr>
          <a:xfrm>
            <a:off x="347472" y="2944368"/>
            <a:ext cx="502920" cy="566928"/>
          </a:xfrm>
          <a:prstGeom prst="rect">
            <a:avLst/>
          </a:prstGeom>
          <a:solidFill>
            <a:srgbClr val="276749"/>
          </a:solidFill>
        </p:spPr>
      </p:sp>
      <p:sp>
        <p:nvSpPr>
          <p:cNvPr id="24" name="Text 22"/>
          <p:cNvSpPr/>
          <p:nvPr/>
        </p:nvSpPr>
        <p:spPr>
          <a:xfrm>
            <a:off x="347472" y="2944368"/>
            <a:ext cx="502920" cy="566928"/>
          </a:xfrm>
          <a:prstGeom prst="rect">
            <a:avLst/>
          </a:prstGeom>
          <a:noFill/>
        </p:spPr>
        <p:txBody>
          <a:bodyPr wrap="square" rtlCol="0" anchor="ctr"/>
          <a:lstStyle/>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Cls 2</a:t>
            </a:r>
            <a:endParaRPr lang="en-US" sz="750" dirty="0"/>
          </a:p>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MOP</a:t>
            </a:r>
            <a:endParaRPr lang="en-US" sz="750" dirty="0"/>
          </a:p>
        </p:txBody>
      </p:sp>
      <p:sp>
        <p:nvSpPr>
          <p:cNvPr id="25" name="Shape 23"/>
          <p:cNvSpPr/>
          <p:nvPr/>
        </p:nvSpPr>
        <p:spPr>
          <a:xfrm>
            <a:off x="347472" y="3511296"/>
            <a:ext cx="502920" cy="566928"/>
          </a:xfrm>
          <a:prstGeom prst="rect">
            <a:avLst/>
          </a:prstGeom>
          <a:solidFill>
            <a:srgbClr val="276749"/>
          </a:solidFill>
        </p:spPr>
      </p:sp>
      <p:sp>
        <p:nvSpPr>
          <p:cNvPr id="26" name="Text 24"/>
          <p:cNvSpPr/>
          <p:nvPr/>
        </p:nvSpPr>
        <p:spPr>
          <a:xfrm>
            <a:off x="347472" y="3511296"/>
            <a:ext cx="502920" cy="566928"/>
          </a:xfrm>
          <a:prstGeom prst="rect">
            <a:avLst/>
          </a:prstGeom>
          <a:noFill/>
        </p:spPr>
        <p:txBody>
          <a:bodyPr wrap="square" rtlCol="0" anchor="ctr"/>
          <a:lstStyle/>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Cls 3</a:t>
            </a:r>
            <a:endParaRPr lang="en-US" sz="750" dirty="0"/>
          </a:p>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10-26</a:t>
            </a:r>
            <a:endParaRPr lang="en-US" sz="750" dirty="0"/>
          </a:p>
        </p:txBody>
      </p:sp>
      <p:sp>
        <p:nvSpPr>
          <p:cNvPr id="27" name="Shape 25"/>
          <p:cNvSpPr/>
          <p:nvPr/>
        </p:nvSpPr>
        <p:spPr>
          <a:xfrm>
            <a:off x="347472" y="4078224"/>
            <a:ext cx="502920" cy="566928"/>
          </a:xfrm>
          <a:prstGeom prst="rect">
            <a:avLst/>
          </a:prstGeom>
          <a:solidFill>
            <a:srgbClr val="276749"/>
          </a:solidFill>
        </p:spPr>
      </p:sp>
      <p:sp>
        <p:nvSpPr>
          <p:cNvPr id="28" name="Text 26"/>
          <p:cNvSpPr/>
          <p:nvPr/>
        </p:nvSpPr>
        <p:spPr>
          <a:xfrm>
            <a:off x="347472" y="4078224"/>
            <a:ext cx="502920" cy="566928"/>
          </a:xfrm>
          <a:prstGeom prst="rect">
            <a:avLst/>
          </a:prstGeom>
          <a:noFill/>
        </p:spPr>
        <p:txBody>
          <a:bodyPr wrap="square" rtlCol="0" anchor="ctr"/>
          <a:lstStyle/>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Cls 4</a:t>
            </a:r>
            <a:endParaRPr lang="en-US" sz="750" dirty="0"/>
          </a:p>
          <a:p>
            <a:pPr marL="0" indent="0" algn="ctr">
              <a:buNone/>
            </a:pPr>
            <a:r>
              <a:rPr lang="en-US" sz="750" dirty="0">
                <a:solidFill>
                  <a:srgbClr val="FFFFFF"/>
                </a:solidFill>
                <a:latin typeface="Calibri" panose="020F0502020204030204" pitchFamily="34" charset="0"/>
                <a:ea typeface="Calibri" panose="020F0502020204030204" pitchFamily="34" charset="-122"/>
                <a:cs typeface="Calibri" panose="020F0502020204030204" pitchFamily="34" charset="-120"/>
              </a:rPr>
              <a:t>14-35</a:t>
            </a:r>
            <a:endParaRPr lang="en-US" sz="750" dirty="0"/>
          </a:p>
        </p:txBody>
      </p:sp>
      <p:sp>
        <p:nvSpPr>
          <p:cNvPr id="29" name="Shape 27"/>
          <p:cNvSpPr/>
          <p:nvPr/>
        </p:nvSpPr>
        <p:spPr>
          <a:xfrm>
            <a:off x="868680" y="1810512"/>
            <a:ext cx="566928" cy="566928"/>
          </a:xfrm>
          <a:prstGeom prst="rect">
            <a:avLst/>
          </a:prstGeom>
          <a:solidFill>
            <a:srgbClr val="4CAF7A"/>
          </a:solidFill>
          <a:ln w="6350">
            <a:solidFill>
              <a:srgbClr val="D5E8D8"/>
            </a:solidFill>
            <a:prstDash val="solid"/>
          </a:ln>
        </p:spPr>
      </p:sp>
      <p:sp>
        <p:nvSpPr>
          <p:cNvPr id="30" name="Text 28"/>
          <p:cNvSpPr/>
          <p:nvPr/>
        </p:nvSpPr>
        <p:spPr>
          <a:xfrm>
            <a:off x="868680" y="1810512"/>
            <a:ext cx="566928" cy="566928"/>
          </a:xfrm>
          <a:prstGeom prst="rect">
            <a:avLst/>
          </a:prstGeom>
          <a:noFill/>
        </p:spPr>
        <p:txBody>
          <a:bodyPr wrap="square" rtlCol="0" anchor="ctr"/>
          <a:lstStyle/>
          <a:p>
            <a:pPr marL="0" indent="0" algn="ctr">
              <a:buNone/>
            </a:pPr>
            <a:r>
              <a:rPr lang="en-US" sz="1400" b="1" dirty="0">
                <a:solidFill>
                  <a:srgbClr val="1A4731"/>
                </a:solidFill>
                <a:latin typeface="Calibri" panose="020F0502020204030204" pitchFamily="34" charset="0"/>
                <a:ea typeface="Calibri" panose="020F0502020204030204" pitchFamily="34" charset="-122"/>
                <a:cs typeface="Calibri" panose="020F0502020204030204" pitchFamily="34" charset="-120"/>
              </a:rPr>
              <a:t>11</a:t>
            </a:r>
            <a:endParaRPr lang="en-US" sz="1400" dirty="0"/>
          </a:p>
        </p:txBody>
      </p:sp>
      <p:sp>
        <p:nvSpPr>
          <p:cNvPr id="31" name="Shape 29"/>
          <p:cNvSpPr/>
          <p:nvPr/>
        </p:nvSpPr>
        <p:spPr>
          <a:xfrm>
            <a:off x="1435608" y="1810512"/>
            <a:ext cx="566928" cy="566928"/>
          </a:xfrm>
          <a:prstGeom prst="rect">
            <a:avLst/>
          </a:prstGeom>
          <a:solidFill>
            <a:srgbClr val="EDF5F0"/>
          </a:solidFill>
          <a:ln w="6350">
            <a:solidFill>
              <a:srgbClr val="D5E8D8"/>
            </a:solidFill>
            <a:prstDash val="solid"/>
          </a:ln>
        </p:spPr>
      </p:sp>
      <p:sp>
        <p:nvSpPr>
          <p:cNvPr id="32" name="Text 30"/>
          <p:cNvSpPr/>
          <p:nvPr/>
        </p:nvSpPr>
        <p:spPr>
          <a:xfrm>
            <a:off x="1435608" y="1810512"/>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33" name="Shape 31"/>
          <p:cNvSpPr/>
          <p:nvPr/>
        </p:nvSpPr>
        <p:spPr>
          <a:xfrm>
            <a:off x="2002536" y="1810512"/>
            <a:ext cx="566928" cy="566928"/>
          </a:xfrm>
          <a:prstGeom prst="rect">
            <a:avLst/>
          </a:prstGeom>
          <a:solidFill>
            <a:srgbClr val="EDF5F0"/>
          </a:solidFill>
          <a:ln w="6350">
            <a:solidFill>
              <a:srgbClr val="D5E8D8"/>
            </a:solidFill>
            <a:prstDash val="solid"/>
          </a:ln>
        </p:spPr>
      </p:sp>
      <p:sp>
        <p:nvSpPr>
          <p:cNvPr id="34" name="Text 32"/>
          <p:cNvSpPr/>
          <p:nvPr/>
        </p:nvSpPr>
        <p:spPr>
          <a:xfrm>
            <a:off x="2002536" y="1810512"/>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35" name="Shape 33"/>
          <p:cNvSpPr/>
          <p:nvPr/>
        </p:nvSpPr>
        <p:spPr>
          <a:xfrm>
            <a:off x="2569464" y="1810512"/>
            <a:ext cx="566928" cy="566928"/>
          </a:xfrm>
          <a:prstGeom prst="rect">
            <a:avLst/>
          </a:prstGeom>
          <a:solidFill>
            <a:srgbClr val="EDF5F0"/>
          </a:solidFill>
          <a:ln w="6350">
            <a:solidFill>
              <a:srgbClr val="D5E8D8"/>
            </a:solidFill>
            <a:prstDash val="solid"/>
          </a:ln>
        </p:spPr>
      </p:sp>
      <p:sp>
        <p:nvSpPr>
          <p:cNvPr id="36" name="Text 34"/>
          <p:cNvSpPr/>
          <p:nvPr/>
        </p:nvSpPr>
        <p:spPr>
          <a:xfrm>
            <a:off x="2569464" y="1810512"/>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37" name="Shape 35"/>
          <p:cNvSpPr/>
          <p:nvPr/>
        </p:nvSpPr>
        <p:spPr>
          <a:xfrm>
            <a:off x="3136392" y="1810512"/>
            <a:ext cx="566928" cy="566928"/>
          </a:xfrm>
          <a:prstGeom prst="rect">
            <a:avLst/>
          </a:prstGeom>
          <a:solidFill>
            <a:srgbClr val="EDF5F0"/>
          </a:solidFill>
          <a:ln w="6350">
            <a:solidFill>
              <a:srgbClr val="D5E8D8"/>
            </a:solidFill>
            <a:prstDash val="solid"/>
          </a:ln>
        </p:spPr>
      </p:sp>
      <p:sp>
        <p:nvSpPr>
          <p:cNvPr id="38" name="Text 36"/>
          <p:cNvSpPr/>
          <p:nvPr/>
        </p:nvSpPr>
        <p:spPr>
          <a:xfrm>
            <a:off x="3136392" y="1810512"/>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39" name="Shape 37"/>
          <p:cNvSpPr/>
          <p:nvPr/>
        </p:nvSpPr>
        <p:spPr>
          <a:xfrm>
            <a:off x="868680" y="2377440"/>
            <a:ext cx="566928" cy="566928"/>
          </a:xfrm>
          <a:prstGeom prst="rect">
            <a:avLst/>
          </a:prstGeom>
          <a:solidFill>
            <a:srgbClr val="EDF5F0"/>
          </a:solidFill>
          <a:ln w="6350">
            <a:solidFill>
              <a:srgbClr val="D5E8D8"/>
            </a:solidFill>
            <a:prstDash val="solid"/>
          </a:ln>
        </p:spPr>
      </p:sp>
      <p:sp>
        <p:nvSpPr>
          <p:cNvPr id="40" name="Text 38"/>
          <p:cNvSpPr/>
          <p:nvPr/>
        </p:nvSpPr>
        <p:spPr>
          <a:xfrm>
            <a:off x="868680" y="2377440"/>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41" name="Shape 39"/>
          <p:cNvSpPr/>
          <p:nvPr/>
        </p:nvSpPr>
        <p:spPr>
          <a:xfrm>
            <a:off x="1435608" y="2377440"/>
            <a:ext cx="566928" cy="566928"/>
          </a:xfrm>
          <a:prstGeom prst="rect">
            <a:avLst/>
          </a:prstGeom>
          <a:solidFill>
            <a:srgbClr val="4CAF7A"/>
          </a:solidFill>
          <a:ln w="6350">
            <a:solidFill>
              <a:srgbClr val="D5E8D8"/>
            </a:solidFill>
            <a:prstDash val="solid"/>
          </a:ln>
        </p:spPr>
      </p:sp>
      <p:sp>
        <p:nvSpPr>
          <p:cNvPr id="42" name="Text 40"/>
          <p:cNvSpPr/>
          <p:nvPr/>
        </p:nvSpPr>
        <p:spPr>
          <a:xfrm>
            <a:off x="1435608" y="2377440"/>
            <a:ext cx="566928" cy="566928"/>
          </a:xfrm>
          <a:prstGeom prst="rect">
            <a:avLst/>
          </a:prstGeom>
          <a:noFill/>
        </p:spPr>
        <p:txBody>
          <a:bodyPr wrap="square" rtlCol="0" anchor="ctr"/>
          <a:lstStyle/>
          <a:p>
            <a:pPr marL="0" indent="0" algn="ctr">
              <a:buNone/>
            </a:pPr>
            <a:r>
              <a:rPr lang="en-US" sz="1400" b="1" dirty="0">
                <a:solidFill>
                  <a:srgbClr val="1A4731"/>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43" name="Shape 41"/>
          <p:cNvSpPr/>
          <p:nvPr/>
        </p:nvSpPr>
        <p:spPr>
          <a:xfrm>
            <a:off x="2002536" y="2377440"/>
            <a:ext cx="566928" cy="566928"/>
          </a:xfrm>
          <a:prstGeom prst="rect">
            <a:avLst/>
          </a:prstGeom>
          <a:solidFill>
            <a:srgbClr val="EDF5F0"/>
          </a:solidFill>
          <a:ln w="6350">
            <a:solidFill>
              <a:srgbClr val="D5E8D8"/>
            </a:solidFill>
            <a:prstDash val="solid"/>
          </a:ln>
        </p:spPr>
      </p:sp>
      <p:sp>
        <p:nvSpPr>
          <p:cNvPr id="44" name="Text 42"/>
          <p:cNvSpPr/>
          <p:nvPr/>
        </p:nvSpPr>
        <p:spPr>
          <a:xfrm>
            <a:off x="2002536" y="2377440"/>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45" name="Shape 43"/>
          <p:cNvSpPr/>
          <p:nvPr/>
        </p:nvSpPr>
        <p:spPr>
          <a:xfrm>
            <a:off x="2569464" y="2377440"/>
            <a:ext cx="566928" cy="566928"/>
          </a:xfrm>
          <a:prstGeom prst="rect">
            <a:avLst/>
          </a:prstGeom>
          <a:solidFill>
            <a:srgbClr val="EDF5F0"/>
          </a:solidFill>
          <a:ln w="6350">
            <a:solidFill>
              <a:srgbClr val="D5E8D8"/>
            </a:solidFill>
            <a:prstDash val="solid"/>
          </a:ln>
        </p:spPr>
      </p:sp>
      <p:sp>
        <p:nvSpPr>
          <p:cNvPr id="46" name="Text 44"/>
          <p:cNvSpPr/>
          <p:nvPr/>
        </p:nvSpPr>
        <p:spPr>
          <a:xfrm>
            <a:off x="2569464" y="2377440"/>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47" name="Shape 45"/>
          <p:cNvSpPr/>
          <p:nvPr/>
        </p:nvSpPr>
        <p:spPr>
          <a:xfrm>
            <a:off x="3136392" y="2377440"/>
            <a:ext cx="566928" cy="566928"/>
          </a:xfrm>
          <a:prstGeom prst="rect">
            <a:avLst/>
          </a:prstGeom>
          <a:solidFill>
            <a:srgbClr val="EDF5F0"/>
          </a:solidFill>
          <a:ln w="6350">
            <a:solidFill>
              <a:srgbClr val="D5E8D8"/>
            </a:solidFill>
            <a:prstDash val="solid"/>
          </a:ln>
        </p:spPr>
      </p:sp>
      <p:sp>
        <p:nvSpPr>
          <p:cNvPr id="48" name="Text 46"/>
          <p:cNvSpPr/>
          <p:nvPr/>
        </p:nvSpPr>
        <p:spPr>
          <a:xfrm>
            <a:off x="3136392" y="2377440"/>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49" name="Shape 47"/>
          <p:cNvSpPr/>
          <p:nvPr/>
        </p:nvSpPr>
        <p:spPr>
          <a:xfrm>
            <a:off x="868680" y="2944368"/>
            <a:ext cx="566928" cy="566928"/>
          </a:xfrm>
          <a:prstGeom prst="rect">
            <a:avLst/>
          </a:prstGeom>
          <a:solidFill>
            <a:srgbClr val="EDF5F0"/>
          </a:solidFill>
          <a:ln w="6350">
            <a:solidFill>
              <a:srgbClr val="D5E8D8"/>
            </a:solidFill>
            <a:prstDash val="solid"/>
          </a:ln>
        </p:spPr>
      </p:sp>
      <p:sp>
        <p:nvSpPr>
          <p:cNvPr id="50" name="Text 48"/>
          <p:cNvSpPr/>
          <p:nvPr/>
        </p:nvSpPr>
        <p:spPr>
          <a:xfrm>
            <a:off x="868680" y="2944368"/>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51" name="Shape 49"/>
          <p:cNvSpPr/>
          <p:nvPr/>
        </p:nvSpPr>
        <p:spPr>
          <a:xfrm>
            <a:off x="1435608" y="2944368"/>
            <a:ext cx="566928" cy="566928"/>
          </a:xfrm>
          <a:prstGeom prst="rect">
            <a:avLst/>
          </a:prstGeom>
          <a:solidFill>
            <a:srgbClr val="EDF5F0"/>
          </a:solidFill>
          <a:ln w="6350">
            <a:solidFill>
              <a:srgbClr val="D5E8D8"/>
            </a:solidFill>
            <a:prstDash val="solid"/>
          </a:ln>
        </p:spPr>
      </p:sp>
      <p:sp>
        <p:nvSpPr>
          <p:cNvPr id="52" name="Text 50"/>
          <p:cNvSpPr/>
          <p:nvPr/>
        </p:nvSpPr>
        <p:spPr>
          <a:xfrm>
            <a:off x="1435608" y="2944368"/>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53" name="Shape 51"/>
          <p:cNvSpPr/>
          <p:nvPr/>
        </p:nvSpPr>
        <p:spPr>
          <a:xfrm>
            <a:off x="2002536" y="2944368"/>
            <a:ext cx="566928" cy="566928"/>
          </a:xfrm>
          <a:prstGeom prst="rect">
            <a:avLst/>
          </a:prstGeom>
          <a:solidFill>
            <a:srgbClr val="4CAF7A"/>
          </a:solidFill>
          <a:ln w="6350">
            <a:solidFill>
              <a:srgbClr val="D5E8D8"/>
            </a:solidFill>
            <a:prstDash val="solid"/>
          </a:ln>
        </p:spPr>
      </p:sp>
      <p:sp>
        <p:nvSpPr>
          <p:cNvPr id="54" name="Text 52"/>
          <p:cNvSpPr/>
          <p:nvPr/>
        </p:nvSpPr>
        <p:spPr>
          <a:xfrm>
            <a:off x="2002536" y="2944368"/>
            <a:ext cx="566928" cy="566928"/>
          </a:xfrm>
          <a:prstGeom prst="rect">
            <a:avLst/>
          </a:prstGeom>
          <a:noFill/>
        </p:spPr>
        <p:txBody>
          <a:bodyPr wrap="square" rtlCol="0" anchor="ctr"/>
          <a:lstStyle/>
          <a:p>
            <a:pPr marL="0" indent="0" algn="ctr">
              <a:buNone/>
            </a:pPr>
            <a:r>
              <a:rPr lang="en-US" sz="1400" b="1" dirty="0">
                <a:solidFill>
                  <a:srgbClr val="1A4731"/>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55" name="Shape 53"/>
          <p:cNvSpPr/>
          <p:nvPr/>
        </p:nvSpPr>
        <p:spPr>
          <a:xfrm>
            <a:off x="2569464" y="2944368"/>
            <a:ext cx="566928" cy="566928"/>
          </a:xfrm>
          <a:prstGeom prst="rect">
            <a:avLst/>
          </a:prstGeom>
          <a:solidFill>
            <a:srgbClr val="FFD5D5"/>
          </a:solidFill>
          <a:ln w="6350">
            <a:solidFill>
              <a:srgbClr val="D5E8D8"/>
            </a:solidFill>
            <a:prstDash val="solid"/>
          </a:ln>
        </p:spPr>
      </p:sp>
      <p:sp>
        <p:nvSpPr>
          <p:cNvPr id="56" name="Text 54"/>
          <p:cNvSpPr/>
          <p:nvPr/>
        </p:nvSpPr>
        <p:spPr>
          <a:xfrm>
            <a:off x="2569464" y="2944368"/>
            <a:ext cx="566928" cy="566928"/>
          </a:xfrm>
          <a:prstGeom prst="rect">
            <a:avLst/>
          </a:prstGeom>
          <a:noFill/>
        </p:spPr>
        <p:txBody>
          <a:bodyPr wrap="square" rtlCol="0" anchor="ctr"/>
          <a:lstStyle/>
          <a:p>
            <a:pPr marL="0" indent="0" algn="ctr">
              <a:buNone/>
            </a:pPr>
            <a:r>
              <a:rPr lang="en-US" sz="1400" dirty="0">
                <a:solidFill>
                  <a:srgbClr val="CC0000"/>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57" name="Shape 55"/>
          <p:cNvSpPr/>
          <p:nvPr/>
        </p:nvSpPr>
        <p:spPr>
          <a:xfrm>
            <a:off x="3136392" y="2944368"/>
            <a:ext cx="566928" cy="566928"/>
          </a:xfrm>
          <a:prstGeom prst="rect">
            <a:avLst/>
          </a:prstGeom>
          <a:solidFill>
            <a:srgbClr val="EDF5F0"/>
          </a:solidFill>
          <a:ln w="6350">
            <a:solidFill>
              <a:srgbClr val="D5E8D8"/>
            </a:solidFill>
            <a:prstDash val="solid"/>
          </a:ln>
        </p:spPr>
      </p:sp>
      <p:sp>
        <p:nvSpPr>
          <p:cNvPr id="58" name="Text 56"/>
          <p:cNvSpPr/>
          <p:nvPr/>
        </p:nvSpPr>
        <p:spPr>
          <a:xfrm>
            <a:off x="3136392" y="2944368"/>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59" name="Shape 57"/>
          <p:cNvSpPr/>
          <p:nvPr/>
        </p:nvSpPr>
        <p:spPr>
          <a:xfrm>
            <a:off x="868680" y="3511296"/>
            <a:ext cx="566928" cy="566928"/>
          </a:xfrm>
          <a:prstGeom prst="rect">
            <a:avLst/>
          </a:prstGeom>
          <a:solidFill>
            <a:srgbClr val="EDF5F0"/>
          </a:solidFill>
          <a:ln w="6350">
            <a:solidFill>
              <a:srgbClr val="D5E8D8"/>
            </a:solidFill>
            <a:prstDash val="solid"/>
          </a:ln>
        </p:spPr>
      </p:sp>
      <p:sp>
        <p:nvSpPr>
          <p:cNvPr id="60" name="Text 58"/>
          <p:cNvSpPr/>
          <p:nvPr/>
        </p:nvSpPr>
        <p:spPr>
          <a:xfrm>
            <a:off x="868680" y="3511296"/>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61" name="Shape 59"/>
          <p:cNvSpPr/>
          <p:nvPr/>
        </p:nvSpPr>
        <p:spPr>
          <a:xfrm>
            <a:off x="1435608" y="3511296"/>
            <a:ext cx="566928" cy="566928"/>
          </a:xfrm>
          <a:prstGeom prst="rect">
            <a:avLst/>
          </a:prstGeom>
          <a:solidFill>
            <a:srgbClr val="EDF5F0"/>
          </a:solidFill>
          <a:ln w="6350">
            <a:solidFill>
              <a:srgbClr val="D5E8D8"/>
            </a:solidFill>
            <a:prstDash val="solid"/>
          </a:ln>
        </p:spPr>
      </p:sp>
      <p:sp>
        <p:nvSpPr>
          <p:cNvPr id="62" name="Text 60"/>
          <p:cNvSpPr/>
          <p:nvPr/>
        </p:nvSpPr>
        <p:spPr>
          <a:xfrm>
            <a:off x="1435608" y="3511296"/>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63" name="Shape 61"/>
          <p:cNvSpPr/>
          <p:nvPr/>
        </p:nvSpPr>
        <p:spPr>
          <a:xfrm>
            <a:off x="2002536" y="3511296"/>
            <a:ext cx="566928" cy="566928"/>
          </a:xfrm>
          <a:prstGeom prst="rect">
            <a:avLst/>
          </a:prstGeom>
          <a:solidFill>
            <a:srgbClr val="FFD5D5"/>
          </a:solidFill>
          <a:ln w="6350">
            <a:solidFill>
              <a:srgbClr val="D5E8D8"/>
            </a:solidFill>
            <a:prstDash val="solid"/>
          </a:ln>
        </p:spPr>
      </p:sp>
      <p:sp>
        <p:nvSpPr>
          <p:cNvPr id="64" name="Text 62"/>
          <p:cNvSpPr/>
          <p:nvPr/>
        </p:nvSpPr>
        <p:spPr>
          <a:xfrm>
            <a:off x="2002536" y="3511296"/>
            <a:ext cx="566928" cy="566928"/>
          </a:xfrm>
          <a:prstGeom prst="rect">
            <a:avLst/>
          </a:prstGeom>
          <a:noFill/>
        </p:spPr>
        <p:txBody>
          <a:bodyPr wrap="square" rtlCol="0" anchor="ctr"/>
          <a:lstStyle/>
          <a:p>
            <a:pPr marL="0" indent="0" algn="ctr">
              <a:buNone/>
            </a:pPr>
            <a:r>
              <a:rPr lang="en-US" sz="1400" dirty="0">
                <a:solidFill>
                  <a:srgbClr val="CC0000"/>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65" name="Shape 63"/>
          <p:cNvSpPr/>
          <p:nvPr/>
        </p:nvSpPr>
        <p:spPr>
          <a:xfrm>
            <a:off x="2569464" y="3511296"/>
            <a:ext cx="566928" cy="566928"/>
          </a:xfrm>
          <a:prstGeom prst="rect">
            <a:avLst/>
          </a:prstGeom>
          <a:solidFill>
            <a:srgbClr val="4CAF7A"/>
          </a:solidFill>
          <a:ln w="6350">
            <a:solidFill>
              <a:srgbClr val="D5E8D8"/>
            </a:solidFill>
            <a:prstDash val="solid"/>
          </a:ln>
        </p:spPr>
      </p:sp>
      <p:sp>
        <p:nvSpPr>
          <p:cNvPr id="66" name="Text 64"/>
          <p:cNvSpPr/>
          <p:nvPr/>
        </p:nvSpPr>
        <p:spPr>
          <a:xfrm>
            <a:off x="2569464" y="3511296"/>
            <a:ext cx="566928" cy="566928"/>
          </a:xfrm>
          <a:prstGeom prst="rect">
            <a:avLst/>
          </a:prstGeom>
          <a:noFill/>
        </p:spPr>
        <p:txBody>
          <a:bodyPr wrap="square" rtlCol="0" anchor="ctr"/>
          <a:lstStyle/>
          <a:p>
            <a:pPr marL="0" indent="0" algn="ctr">
              <a:buNone/>
            </a:pPr>
            <a:r>
              <a:rPr lang="en-US" sz="1400" b="1" dirty="0">
                <a:solidFill>
                  <a:srgbClr val="1A4731"/>
                </a:solidFill>
                <a:latin typeface="Calibri" panose="020F0502020204030204" pitchFamily="34" charset="0"/>
                <a:ea typeface="Calibri" panose="020F0502020204030204" pitchFamily="34" charset="-122"/>
                <a:cs typeface="Calibri" panose="020F0502020204030204" pitchFamily="34" charset="-120"/>
              </a:rPr>
              <a:t>8</a:t>
            </a:r>
            <a:endParaRPr lang="en-US" sz="1400" dirty="0"/>
          </a:p>
        </p:txBody>
      </p:sp>
      <p:sp>
        <p:nvSpPr>
          <p:cNvPr id="67" name="Shape 65"/>
          <p:cNvSpPr/>
          <p:nvPr/>
        </p:nvSpPr>
        <p:spPr>
          <a:xfrm>
            <a:off x="3136392" y="3511296"/>
            <a:ext cx="566928" cy="566928"/>
          </a:xfrm>
          <a:prstGeom prst="rect">
            <a:avLst/>
          </a:prstGeom>
          <a:solidFill>
            <a:srgbClr val="EDF5F0"/>
          </a:solidFill>
          <a:ln w="6350">
            <a:solidFill>
              <a:srgbClr val="D5E8D8"/>
            </a:solidFill>
            <a:prstDash val="solid"/>
          </a:ln>
        </p:spPr>
      </p:sp>
      <p:sp>
        <p:nvSpPr>
          <p:cNvPr id="68" name="Text 66"/>
          <p:cNvSpPr/>
          <p:nvPr/>
        </p:nvSpPr>
        <p:spPr>
          <a:xfrm>
            <a:off x="3136392" y="3511296"/>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69" name="Shape 67"/>
          <p:cNvSpPr/>
          <p:nvPr/>
        </p:nvSpPr>
        <p:spPr>
          <a:xfrm>
            <a:off x="868680" y="4078224"/>
            <a:ext cx="566928" cy="566928"/>
          </a:xfrm>
          <a:prstGeom prst="rect">
            <a:avLst/>
          </a:prstGeom>
          <a:solidFill>
            <a:srgbClr val="EDF5F0"/>
          </a:solidFill>
          <a:ln w="6350">
            <a:solidFill>
              <a:srgbClr val="D5E8D8"/>
            </a:solidFill>
            <a:prstDash val="solid"/>
          </a:ln>
        </p:spPr>
      </p:sp>
      <p:sp>
        <p:nvSpPr>
          <p:cNvPr id="70" name="Text 68"/>
          <p:cNvSpPr/>
          <p:nvPr/>
        </p:nvSpPr>
        <p:spPr>
          <a:xfrm>
            <a:off x="868680" y="4078224"/>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71" name="Shape 69"/>
          <p:cNvSpPr/>
          <p:nvPr/>
        </p:nvSpPr>
        <p:spPr>
          <a:xfrm>
            <a:off x="1435608" y="4078224"/>
            <a:ext cx="566928" cy="566928"/>
          </a:xfrm>
          <a:prstGeom prst="rect">
            <a:avLst/>
          </a:prstGeom>
          <a:solidFill>
            <a:srgbClr val="EDF5F0"/>
          </a:solidFill>
          <a:ln w="6350">
            <a:solidFill>
              <a:srgbClr val="D5E8D8"/>
            </a:solidFill>
            <a:prstDash val="solid"/>
          </a:ln>
        </p:spPr>
      </p:sp>
      <p:sp>
        <p:nvSpPr>
          <p:cNvPr id="72" name="Text 70"/>
          <p:cNvSpPr/>
          <p:nvPr/>
        </p:nvSpPr>
        <p:spPr>
          <a:xfrm>
            <a:off x="1435608" y="4078224"/>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73" name="Shape 71"/>
          <p:cNvSpPr/>
          <p:nvPr/>
        </p:nvSpPr>
        <p:spPr>
          <a:xfrm>
            <a:off x="2002536" y="4078224"/>
            <a:ext cx="566928" cy="566928"/>
          </a:xfrm>
          <a:prstGeom prst="rect">
            <a:avLst/>
          </a:prstGeom>
          <a:solidFill>
            <a:srgbClr val="EDF5F0"/>
          </a:solidFill>
          <a:ln w="6350">
            <a:solidFill>
              <a:srgbClr val="D5E8D8"/>
            </a:solidFill>
            <a:prstDash val="solid"/>
          </a:ln>
        </p:spPr>
      </p:sp>
      <p:sp>
        <p:nvSpPr>
          <p:cNvPr id="74" name="Text 72"/>
          <p:cNvSpPr/>
          <p:nvPr/>
        </p:nvSpPr>
        <p:spPr>
          <a:xfrm>
            <a:off x="2002536" y="4078224"/>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75" name="Shape 73"/>
          <p:cNvSpPr/>
          <p:nvPr/>
        </p:nvSpPr>
        <p:spPr>
          <a:xfrm>
            <a:off x="2569464" y="4078224"/>
            <a:ext cx="566928" cy="566928"/>
          </a:xfrm>
          <a:prstGeom prst="rect">
            <a:avLst/>
          </a:prstGeom>
          <a:solidFill>
            <a:srgbClr val="EDF5F0"/>
          </a:solidFill>
          <a:ln w="6350">
            <a:solidFill>
              <a:srgbClr val="D5E8D8"/>
            </a:solidFill>
            <a:prstDash val="solid"/>
          </a:ln>
        </p:spPr>
      </p:sp>
      <p:sp>
        <p:nvSpPr>
          <p:cNvPr id="76" name="Text 74"/>
          <p:cNvSpPr/>
          <p:nvPr/>
        </p:nvSpPr>
        <p:spPr>
          <a:xfrm>
            <a:off x="2569464" y="4078224"/>
            <a:ext cx="566928" cy="566928"/>
          </a:xfrm>
          <a:prstGeom prst="rect">
            <a:avLst/>
          </a:prstGeom>
          <a:noFill/>
        </p:spPr>
        <p:txBody>
          <a:bodyPr wrap="square" rtlCol="0" anchor="ctr"/>
          <a:lstStyle/>
          <a:p>
            <a:pPr marL="0" indent="0" algn="ctr">
              <a:buNone/>
            </a:pPr>
            <a:r>
              <a:rPr lang="en-US" sz="1400" dirty="0">
                <a:solidFill>
                  <a:srgbClr val="4A6B58"/>
                </a:solidFill>
                <a:latin typeface="Calibri" panose="020F0502020204030204" pitchFamily="34" charset="0"/>
                <a:ea typeface="Calibri" panose="020F0502020204030204" pitchFamily="34" charset="-122"/>
                <a:cs typeface="Calibri" panose="020F0502020204030204" pitchFamily="34" charset="-120"/>
              </a:rPr>
              <a:t>0</a:t>
            </a:r>
            <a:endParaRPr lang="en-US" sz="1400" dirty="0"/>
          </a:p>
        </p:txBody>
      </p:sp>
      <p:sp>
        <p:nvSpPr>
          <p:cNvPr id="77" name="Shape 75"/>
          <p:cNvSpPr/>
          <p:nvPr/>
        </p:nvSpPr>
        <p:spPr>
          <a:xfrm>
            <a:off x="3136392" y="4078224"/>
            <a:ext cx="566928" cy="566928"/>
          </a:xfrm>
          <a:prstGeom prst="rect">
            <a:avLst/>
          </a:prstGeom>
          <a:solidFill>
            <a:srgbClr val="4CAF7A"/>
          </a:solidFill>
          <a:ln w="6350">
            <a:solidFill>
              <a:srgbClr val="D5E8D8"/>
            </a:solidFill>
            <a:prstDash val="solid"/>
          </a:ln>
        </p:spPr>
      </p:sp>
      <p:sp>
        <p:nvSpPr>
          <p:cNvPr id="78" name="Text 76"/>
          <p:cNvSpPr/>
          <p:nvPr/>
        </p:nvSpPr>
        <p:spPr>
          <a:xfrm>
            <a:off x="3136392" y="4078224"/>
            <a:ext cx="566928" cy="566928"/>
          </a:xfrm>
          <a:prstGeom prst="rect">
            <a:avLst/>
          </a:prstGeom>
          <a:noFill/>
        </p:spPr>
        <p:txBody>
          <a:bodyPr wrap="square" rtlCol="0" anchor="ctr"/>
          <a:lstStyle/>
          <a:p>
            <a:pPr marL="0" indent="0" algn="ctr">
              <a:buNone/>
            </a:pPr>
            <a:r>
              <a:rPr lang="en-US" sz="1400" b="1" dirty="0">
                <a:solidFill>
                  <a:srgbClr val="1A4731"/>
                </a:solidFill>
                <a:latin typeface="Calibri" panose="020F0502020204030204" pitchFamily="34" charset="0"/>
                <a:ea typeface="Calibri" panose="020F0502020204030204" pitchFamily="34" charset="-122"/>
                <a:cs typeface="Calibri" panose="020F0502020204030204" pitchFamily="34" charset="-120"/>
              </a:rPr>
              <a:t>10</a:t>
            </a:r>
            <a:endParaRPr lang="en-US" sz="1400" dirty="0"/>
          </a:p>
        </p:txBody>
      </p:sp>
      <p:sp>
        <p:nvSpPr>
          <p:cNvPr id="79" name="Text 77"/>
          <p:cNvSpPr/>
          <p:nvPr/>
        </p:nvSpPr>
        <p:spPr>
          <a:xfrm>
            <a:off x="347472" y="4233672"/>
            <a:ext cx="3840480" cy="365760"/>
          </a:xfrm>
          <a:prstGeom prst="rect">
            <a:avLst/>
          </a:prstGeom>
          <a:noFill/>
        </p:spPr>
        <p:txBody>
          <a:bodyPr wrap="square" rtlCol="0" anchor="ctr"/>
          <a:lstStyle/>
          <a:p>
            <a:pPr marL="0" indent="0">
              <a:buNone/>
            </a:pPr>
            <a:r>
              <a:rPr lang="en-US" sz="850" i="1" dirty="0">
                <a:solidFill>
                  <a:srgbClr val="4A6B58"/>
                </a:solidFill>
                <a:latin typeface="Calibri" panose="020F0502020204030204" pitchFamily="34" charset="0"/>
                <a:ea typeface="Calibri" panose="020F0502020204030204" pitchFamily="34" charset="-122"/>
                <a:cs typeface="Calibri" panose="020F0502020204030204" pitchFamily="34" charset="-120"/>
              </a:rPr>
              <a:t>✓ Diagonal = Correct predictions   ✗ Off-diagonal = Misclassifications</a:t>
            </a:r>
            <a:endParaRPr lang="en-US" sz="850" dirty="0"/>
          </a:p>
          <a:p>
            <a:pPr marL="0" indent="0">
              <a:buNone/>
            </a:pPr>
            <a:r>
              <a:rPr lang="en-US" sz="850" i="1" dirty="0">
                <a:solidFill>
                  <a:srgbClr val="4A6B58"/>
                </a:solidFill>
                <a:latin typeface="Calibri" panose="020F0502020204030204" pitchFamily="34" charset="0"/>
                <a:ea typeface="Calibri" panose="020F0502020204030204" pitchFamily="34" charset="-122"/>
                <a:cs typeface="Calibri" panose="020F0502020204030204" pitchFamily="34" charset="-120"/>
              </a:rPr>
              <a:t>Minor confusion between Class 2 (MOP) and Class 3 (10-26-26) only</a:t>
            </a:r>
            <a:endParaRPr lang="en-US" sz="850" dirty="0"/>
          </a:p>
        </p:txBody>
      </p:sp>
      <p:sp>
        <p:nvSpPr>
          <p:cNvPr id="80" name="Shape 78"/>
          <p:cNvSpPr/>
          <p:nvPr/>
        </p:nvSpPr>
        <p:spPr>
          <a:xfrm>
            <a:off x="4434840" y="1005840"/>
            <a:ext cx="4389120" cy="3675888"/>
          </a:xfrm>
          <a:prstGeom prst="rect">
            <a:avLst/>
          </a:prstGeom>
          <a:solidFill>
            <a:srgbClr val="FFFFFF"/>
          </a:solidFill>
          <a:effectLst>
            <a:outerShdw blurRad="101600" dist="38100" dir="8100000" algn="bl" rotWithShape="0">
              <a:srgbClr val="000000">
                <a:alpha val="12000"/>
              </a:srgbClr>
            </a:outerShdw>
          </a:effectLst>
        </p:spPr>
      </p:sp>
      <p:sp>
        <p:nvSpPr>
          <p:cNvPr id="81" name="Shape 79"/>
          <p:cNvSpPr/>
          <p:nvPr/>
        </p:nvSpPr>
        <p:spPr>
          <a:xfrm>
            <a:off x="4434840" y="1005840"/>
            <a:ext cx="4389120" cy="347472"/>
          </a:xfrm>
          <a:prstGeom prst="rect">
            <a:avLst/>
          </a:prstGeom>
          <a:solidFill>
            <a:srgbClr val="276749"/>
          </a:solidFill>
        </p:spPr>
      </p:sp>
      <p:sp>
        <p:nvSpPr>
          <p:cNvPr id="82" name="Text 80"/>
          <p:cNvSpPr/>
          <p:nvPr/>
        </p:nvSpPr>
        <p:spPr>
          <a:xfrm>
            <a:off x="4434840" y="1005840"/>
            <a:ext cx="4389120" cy="347472"/>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Decision Tree Visualization &amp; Key Findings</a:t>
            </a:r>
            <a:endParaRPr lang="en-US" sz="1100" dirty="0"/>
          </a:p>
        </p:txBody>
      </p:sp>
      <p:sp>
        <p:nvSpPr>
          <p:cNvPr id="83" name="Text 81"/>
          <p:cNvSpPr/>
          <p:nvPr/>
        </p:nvSpPr>
        <p:spPr>
          <a:xfrm>
            <a:off x="4572000" y="1417320"/>
            <a:ext cx="4160520" cy="640080"/>
          </a:xfrm>
          <a:prstGeom prst="rect">
            <a:avLst/>
          </a:prstGeom>
          <a:noFill/>
        </p:spPr>
        <p:txBody>
          <a:bodyPr wrap="square" rtlCol="0" anchor="ctr"/>
          <a:lstStyle/>
          <a:p>
            <a:pPr marL="0" indent="0">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Decision Tree (Tuned) was visualized using</a:t>
            </a:r>
            <a:endParaRPr lang="en-US" sz="1100" dirty="0"/>
          </a:p>
          <a:p>
            <a:pPr marL="0" indent="0">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Scikit-learn's plot_tree with filled=True,</a:t>
            </a:r>
            <a:endParaRPr lang="en-US" sz="1100" dirty="0"/>
          </a:p>
          <a:p>
            <a:pPr marL="0" indent="0">
              <a:buNone/>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colour-coding each leaf by fertilizer class.</a:t>
            </a:r>
            <a:endParaRPr lang="en-US" sz="1100" dirty="0"/>
          </a:p>
        </p:txBody>
      </p:sp>
      <p:sp>
        <p:nvSpPr>
          <p:cNvPr id="84" name="Text 82"/>
          <p:cNvSpPr/>
          <p:nvPr/>
        </p:nvSpPr>
        <p:spPr>
          <a:xfrm>
            <a:off x="4572000" y="2103120"/>
            <a:ext cx="4160520" cy="274320"/>
          </a:xfrm>
          <a:prstGeom prst="rect">
            <a:avLst/>
          </a:prstGeom>
          <a:noFill/>
        </p:spPr>
        <p:txBody>
          <a:bodyPr wrap="square" rtlCol="0" anchor="ctr"/>
          <a:lstStyle/>
          <a:p>
            <a:pPr marL="0" indent="0">
              <a:buNone/>
            </a:pPr>
            <a:r>
              <a:rPr lang="en-US" sz="1100" b="1" dirty="0">
                <a:solidFill>
                  <a:srgbClr val="1A4731"/>
                </a:solidFill>
                <a:latin typeface="Calibri" panose="020F0502020204030204" pitchFamily="34" charset="0"/>
                <a:ea typeface="Calibri" panose="020F0502020204030204" pitchFamily="34" charset="-122"/>
                <a:cs typeface="Calibri" panose="020F0502020204030204" pitchFamily="34" charset="-120"/>
              </a:rPr>
              <a:t>Key Splitting Features:</a:t>
            </a:r>
            <a:endParaRPr lang="en-US" sz="1100" dirty="0"/>
          </a:p>
        </p:txBody>
      </p:sp>
      <p:sp>
        <p:nvSpPr>
          <p:cNvPr id="85" name="Shape 83"/>
          <p:cNvSpPr/>
          <p:nvPr/>
        </p:nvSpPr>
        <p:spPr>
          <a:xfrm>
            <a:off x="4572000" y="2423160"/>
            <a:ext cx="914400" cy="640080"/>
          </a:xfrm>
          <a:prstGeom prst="ellipse">
            <a:avLst/>
          </a:prstGeom>
          <a:solidFill>
            <a:srgbClr val="1A4731"/>
          </a:solidFill>
          <a:effectLst>
            <a:outerShdw blurRad="101600" dist="38100" dir="8100000" algn="bl" rotWithShape="0">
              <a:srgbClr val="000000">
                <a:alpha val="12000"/>
              </a:srgbClr>
            </a:outerShdw>
          </a:effectLst>
        </p:spPr>
      </p:sp>
      <p:sp>
        <p:nvSpPr>
          <p:cNvPr id="86" name="Text 84"/>
          <p:cNvSpPr/>
          <p:nvPr/>
        </p:nvSpPr>
        <p:spPr>
          <a:xfrm>
            <a:off x="4572000" y="2423160"/>
            <a:ext cx="914400" cy="640080"/>
          </a:xfrm>
          <a:prstGeom prst="rect">
            <a:avLst/>
          </a:prstGeom>
          <a:noFill/>
        </p:spPr>
        <p:txBody>
          <a:bodyPr wrap="square"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Nitrogen (N)</a:t>
            </a:r>
            <a:endParaRPr lang="en-US" sz="900" dirty="0"/>
          </a:p>
        </p:txBody>
      </p:sp>
      <p:sp>
        <p:nvSpPr>
          <p:cNvPr id="87" name="Shape 85"/>
          <p:cNvSpPr/>
          <p:nvPr/>
        </p:nvSpPr>
        <p:spPr>
          <a:xfrm>
            <a:off x="5596128" y="2423160"/>
            <a:ext cx="914400" cy="640080"/>
          </a:xfrm>
          <a:prstGeom prst="ellipse">
            <a:avLst/>
          </a:prstGeom>
          <a:solidFill>
            <a:srgbClr val="1A4731"/>
          </a:solidFill>
          <a:effectLst>
            <a:outerShdw blurRad="101600" dist="38100" dir="8100000" algn="bl" rotWithShape="0">
              <a:srgbClr val="000000">
                <a:alpha val="12000"/>
              </a:srgbClr>
            </a:outerShdw>
          </a:effectLst>
        </p:spPr>
      </p:sp>
      <p:sp>
        <p:nvSpPr>
          <p:cNvPr id="88" name="Text 86"/>
          <p:cNvSpPr/>
          <p:nvPr/>
        </p:nvSpPr>
        <p:spPr>
          <a:xfrm>
            <a:off x="5596128" y="2423160"/>
            <a:ext cx="914400" cy="640080"/>
          </a:xfrm>
          <a:prstGeom prst="rect">
            <a:avLst/>
          </a:prstGeom>
          <a:noFill/>
        </p:spPr>
        <p:txBody>
          <a:bodyPr wrap="square"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Potassium (K)</a:t>
            </a:r>
            <a:endParaRPr lang="en-US" sz="900" dirty="0"/>
          </a:p>
        </p:txBody>
      </p:sp>
      <p:sp>
        <p:nvSpPr>
          <p:cNvPr id="89" name="Shape 87"/>
          <p:cNvSpPr/>
          <p:nvPr/>
        </p:nvSpPr>
        <p:spPr>
          <a:xfrm>
            <a:off x="6620256" y="2423160"/>
            <a:ext cx="914400" cy="640080"/>
          </a:xfrm>
          <a:prstGeom prst="ellipse">
            <a:avLst/>
          </a:prstGeom>
          <a:solidFill>
            <a:srgbClr val="276749"/>
          </a:solidFill>
          <a:effectLst>
            <a:outerShdw blurRad="101600" dist="38100" dir="8100000" algn="bl" rotWithShape="0">
              <a:srgbClr val="000000">
                <a:alpha val="12000"/>
              </a:srgbClr>
            </a:outerShdw>
          </a:effectLst>
        </p:spPr>
      </p:sp>
      <p:sp>
        <p:nvSpPr>
          <p:cNvPr id="90" name="Text 88"/>
          <p:cNvSpPr/>
          <p:nvPr/>
        </p:nvSpPr>
        <p:spPr>
          <a:xfrm>
            <a:off x="6620256" y="2423160"/>
            <a:ext cx="914400" cy="640080"/>
          </a:xfrm>
          <a:prstGeom prst="rect">
            <a:avLst/>
          </a:prstGeom>
          <a:noFill/>
        </p:spPr>
        <p:txBody>
          <a:bodyPr wrap="square"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Phosphorus (P)</a:t>
            </a:r>
            <a:endParaRPr lang="en-US" sz="900" dirty="0"/>
          </a:p>
        </p:txBody>
      </p:sp>
      <p:sp>
        <p:nvSpPr>
          <p:cNvPr id="91" name="Shape 89"/>
          <p:cNvSpPr/>
          <p:nvPr/>
        </p:nvSpPr>
        <p:spPr>
          <a:xfrm>
            <a:off x="7644384" y="2423160"/>
            <a:ext cx="914400" cy="640080"/>
          </a:xfrm>
          <a:prstGeom prst="ellipse">
            <a:avLst/>
          </a:prstGeom>
          <a:solidFill>
            <a:srgbClr val="276749"/>
          </a:solidFill>
          <a:effectLst>
            <a:outerShdw blurRad="101600" dist="38100" dir="8100000" algn="bl" rotWithShape="0">
              <a:srgbClr val="000000">
                <a:alpha val="12000"/>
              </a:srgbClr>
            </a:outerShdw>
          </a:effectLst>
        </p:spPr>
      </p:sp>
      <p:sp>
        <p:nvSpPr>
          <p:cNvPr id="92" name="Text 90"/>
          <p:cNvSpPr/>
          <p:nvPr/>
        </p:nvSpPr>
        <p:spPr>
          <a:xfrm>
            <a:off x="7644384" y="2423160"/>
            <a:ext cx="914400" cy="640080"/>
          </a:xfrm>
          <a:prstGeom prst="rect">
            <a:avLst/>
          </a:prstGeom>
          <a:noFill/>
        </p:spPr>
        <p:txBody>
          <a:bodyPr wrap="square"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Temperature</a:t>
            </a:r>
            <a:endParaRPr lang="en-US" sz="900" dirty="0"/>
          </a:p>
        </p:txBody>
      </p:sp>
      <p:sp>
        <p:nvSpPr>
          <p:cNvPr id="93" name="Shape 91"/>
          <p:cNvSpPr/>
          <p:nvPr/>
        </p:nvSpPr>
        <p:spPr>
          <a:xfrm>
            <a:off x="4572000" y="3154680"/>
            <a:ext cx="4160520" cy="1389888"/>
          </a:xfrm>
          <a:prstGeom prst="rect">
            <a:avLst/>
          </a:prstGeom>
          <a:solidFill>
            <a:srgbClr val="F5F9F6"/>
          </a:solidFill>
          <a:ln w="12700">
            <a:solidFill>
              <a:srgbClr val="A8D5B5"/>
            </a:solidFill>
            <a:prstDash val="solid"/>
          </a:ln>
        </p:spPr>
      </p:sp>
      <p:sp>
        <p:nvSpPr>
          <p:cNvPr id="94" name="Text 92"/>
          <p:cNvSpPr/>
          <p:nvPr/>
        </p:nvSpPr>
        <p:spPr>
          <a:xfrm>
            <a:off x="4617720" y="3182112"/>
            <a:ext cx="4069080" cy="256032"/>
          </a:xfrm>
          <a:prstGeom prst="rect">
            <a:avLst/>
          </a:prstGeom>
          <a:noFill/>
        </p:spPr>
        <p:txBody>
          <a:bodyPr wrap="square" rtlCol="0" anchor="ctr"/>
          <a:lstStyle/>
          <a:p>
            <a:pPr marL="0" indent="0">
              <a:buNone/>
            </a:pPr>
            <a:r>
              <a:rPr lang="en-US" sz="1050" b="1" dirty="0">
                <a:solidFill>
                  <a:srgbClr val="1A4731"/>
                </a:solidFill>
                <a:latin typeface="Calibri" panose="020F0502020204030204" pitchFamily="34" charset="0"/>
                <a:ea typeface="Calibri" panose="020F0502020204030204" pitchFamily="34" charset="-122"/>
                <a:cs typeface="Calibri" panose="020F0502020204030204" pitchFamily="34" charset="-120"/>
              </a:rPr>
              <a:t>Precision &amp; Recall Comparison</a:t>
            </a:r>
            <a:endParaRPr lang="en-US" sz="1050" dirty="0"/>
          </a:p>
        </p:txBody>
      </p:sp>
      <p:sp>
        <p:nvSpPr>
          <p:cNvPr id="95" name="Text 93"/>
          <p:cNvSpPr/>
          <p:nvPr/>
        </p:nvSpPr>
        <p:spPr>
          <a:xfrm>
            <a:off x="4617720" y="3474720"/>
            <a:ext cx="1783080" cy="237744"/>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DT Original ★</a:t>
            </a:r>
            <a:endParaRPr lang="en-US" sz="900" dirty="0"/>
          </a:p>
        </p:txBody>
      </p:sp>
      <p:sp>
        <p:nvSpPr>
          <p:cNvPr id="96" name="Text 94"/>
          <p:cNvSpPr/>
          <p:nvPr/>
        </p:nvSpPr>
        <p:spPr>
          <a:xfrm>
            <a:off x="6446520" y="3474720"/>
            <a:ext cx="1005840" cy="237744"/>
          </a:xfrm>
          <a:prstGeom prst="rect">
            <a:avLst/>
          </a:prstGeom>
          <a:noFill/>
        </p:spPr>
        <p:txBody>
          <a:bodyPr wrap="square" rtlCol="0" anchor="ctr"/>
          <a:lstStyle/>
          <a:p>
            <a:pPr marL="0" indent="0">
              <a:buNone/>
            </a:pPr>
            <a:r>
              <a:rPr lang="en-US" sz="900" dirty="0">
                <a:solidFill>
                  <a:srgbClr val="276749"/>
                </a:solidFill>
                <a:latin typeface="Calibri" panose="020F0502020204030204" pitchFamily="34" charset="0"/>
                <a:ea typeface="Calibri" panose="020F0502020204030204" pitchFamily="34" charset="-122"/>
                <a:cs typeface="Calibri" panose="020F0502020204030204" pitchFamily="34" charset="-120"/>
              </a:rPr>
              <a:t>P: 91.75%</a:t>
            </a:r>
            <a:endParaRPr lang="en-US" sz="900" dirty="0"/>
          </a:p>
        </p:txBody>
      </p:sp>
      <p:sp>
        <p:nvSpPr>
          <p:cNvPr id="97" name="Text 95"/>
          <p:cNvSpPr/>
          <p:nvPr/>
        </p:nvSpPr>
        <p:spPr>
          <a:xfrm>
            <a:off x="7498080" y="3474720"/>
            <a:ext cx="1097280" cy="237744"/>
          </a:xfrm>
          <a:prstGeom prst="rect">
            <a:avLst/>
          </a:prstGeom>
          <a:noFill/>
        </p:spPr>
        <p:txBody>
          <a:bodyPr wrap="square" rtlCol="0" anchor="ctr"/>
          <a:lstStyle/>
          <a:p>
            <a:pPr marL="0" indent="0">
              <a:buNone/>
            </a:pPr>
            <a:r>
              <a:rPr lang="en-US" sz="900" dirty="0">
                <a:solidFill>
                  <a:srgbClr val="1A4731"/>
                </a:solidFill>
                <a:latin typeface="Calibri" panose="020F0502020204030204" pitchFamily="34" charset="0"/>
                <a:ea typeface="Calibri" panose="020F0502020204030204" pitchFamily="34" charset="-122"/>
                <a:cs typeface="Calibri" panose="020F0502020204030204" pitchFamily="34" charset="-120"/>
              </a:rPr>
              <a:t>R: 92.11%</a:t>
            </a:r>
            <a:endParaRPr lang="en-US" sz="900" dirty="0"/>
          </a:p>
        </p:txBody>
      </p:sp>
      <p:sp>
        <p:nvSpPr>
          <p:cNvPr id="98" name="Text 96"/>
          <p:cNvSpPr/>
          <p:nvPr/>
        </p:nvSpPr>
        <p:spPr>
          <a:xfrm>
            <a:off x="4617720" y="3730752"/>
            <a:ext cx="1783080" cy="237744"/>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DT Tuned</a:t>
            </a:r>
            <a:endParaRPr lang="en-US" sz="900" dirty="0"/>
          </a:p>
        </p:txBody>
      </p:sp>
      <p:sp>
        <p:nvSpPr>
          <p:cNvPr id="99" name="Text 97"/>
          <p:cNvSpPr/>
          <p:nvPr/>
        </p:nvSpPr>
        <p:spPr>
          <a:xfrm>
            <a:off x="6446520" y="3730752"/>
            <a:ext cx="1005840" cy="237744"/>
          </a:xfrm>
          <a:prstGeom prst="rect">
            <a:avLst/>
          </a:prstGeom>
          <a:noFill/>
        </p:spPr>
        <p:txBody>
          <a:bodyPr wrap="square" rtlCol="0" anchor="ctr"/>
          <a:lstStyle/>
          <a:p>
            <a:pPr marL="0" indent="0">
              <a:buNone/>
            </a:pPr>
            <a:r>
              <a:rPr lang="en-US" sz="900" dirty="0">
                <a:solidFill>
                  <a:srgbClr val="276749"/>
                </a:solidFill>
                <a:latin typeface="Calibri" panose="020F0502020204030204" pitchFamily="34" charset="0"/>
                <a:ea typeface="Calibri" panose="020F0502020204030204" pitchFamily="34" charset="-122"/>
                <a:cs typeface="Calibri" panose="020F0502020204030204" pitchFamily="34" charset="-120"/>
              </a:rPr>
              <a:t>P: 88.28%</a:t>
            </a:r>
            <a:endParaRPr lang="en-US" sz="900" dirty="0"/>
          </a:p>
        </p:txBody>
      </p:sp>
      <p:sp>
        <p:nvSpPr>
          <p:cNvPr id="100" name="Text 98"/>
          <p:cNvSpPr/>
          <p:nvPr/>
        </p:nvSpPr>
        <p:spPr>
          <a:xfrm>
            <a:off x="7498080" y="3730752"/>
            <a:ext cx="1097280" cy="237744"/>
          </a:xfrm>
          <a:prstGeom prst="rect">
            <a:avLst/>
          </a:prstGeom>
          <a:noFill/>
        </p:spPr>
        <p:txBody>
          <a:bodyPr wrap="square" rtlCol="0" anchor="ctr"/>
          <a:lstStyle/>
          <a:p>
            <a:pPr marL="0" indent="0">
              <a:buNone/>
            </a:pPr>
            <a:r>
              <a:rPr lang="en-US" sz="900" dirty="0">
                <a:solidFill>
                  <a:srgbClr val="1A4731"/>
                </a:solidFill>
                <a:latin typeface="Calibri" panose="020F0502020204030204" pitchFamily="34" charset="0"/>
                <a:ea typeface="Calibri" panose="020F0502020204030204" pitchFamily="34" charset="-122"/>
                <a:cs typeface="Calibri" panose="020F0502020204030204" pitchFamily="34" charset="-120"/>
              </a:rPr>
              <a:t>R: 89.47%</a:t>
            </a:r>
            <a:endParaRPr lang="en-US" sz="900" dirty="0"/>
          </a:p>
        </p:txBody>
      </p:sp>
      <p:sp>
        <p:nvSpPr>
          <p:cNvPr id="101" name="Text 99"/>
          <p:cNvSpPr/>
          <p:nvPr/>
        </p:nvSpPr>
        <p:spPr>
          <a:xfrm>
            <a:off x="4617720" y="3986784"/>
            <a:ext cx="1783080" cy="237744"/>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Random Forest</a:t>
            </a:r>
            <a:endParaRPr lang="en-US" sz="900" dirty="0"/>
          </a:p>
        </p:txBody>
      </p:sp>
      <p:sp>
        <p:nvSpPr>
          <p:cNvPr id="102" name="Text 100"/>
          <p:cNvSpPr/>
          <p:nvPr/>
        </p:nvSpPr>
        <p:spPr>
          <a:xfrm>
            <a:off x="6446520" y="3986784"/>
            <a:ext cx="1005840" cy="237744"/>
          </a:xfrm>
          <a:prstGeom prst="rect">
            <a:avLst/>
          </a:prstGeom>
          <a:noFill/>
        </p:spPr>
        <p:txBody>
          <a:bodyPr wrap="square" rtlCol="0" anchor="ctr"/>
          <a:lstStyle/>
          <a:p>
            <a:pPr marL="0" indent="0">
              <a:buNone/>
            </a:pPr>
            <a:r>
              <a:rPr lang="en-US" sz="900" dirty="0">
                <a:solidFill>
                  <a:srgbClr val="276749"/>
                </a:solidFill>
                <a:latin typeface="Calibri" panose="020F0502020204030204" pitchFamily="34" charset="0"/>
                <a:ea typeface="Calibri" panose="020F0502020204030204" pitchFamily="34" charset="-122"/>
                <a:cs typeface="Calibri" panose="020F0502020204030204" pitchFamily="34" charset="-120"/>
              </a:rPr>
              <a:t>P: 79.47%</a:t>
            </a:r>
            <a:endParaRPr lang="en-US" sz="900" dirty="0"/>
          </a:p>
        </p:txBody>
      </p:sp>
      <p:sp>
        <p:nvSpPr>
          <p:cNvPr id="103" name="Text 101"/>
          <p:cNvSpPr/>
          <p:nvPr/>
        </p:nvSpPr>
        <p:spPr>
          <a:xfrm>
            <a:off x="7498080" y="3986784"/>
            <a:ext cx="1097280" cy="237744"/>
          </a:xfrm>
          <a:prstGeom prst="rect">
            <a:avLst/>
          </a:prstGeom>
          <a:noFill/>
        </p:spPr>
        <p:txBody>
          <a:bodyPr wrap="square" rtlCol="0" anchor="ctr"/>
          <a:lstStyle/>
          <a:p>
            <a:pPr marL="0" indent="0">
              <a:buNone/>
            </a:pPr>
            <a:r>
              <a:rPr lang="en-US" sz="900" dirty="0">
                <a:solidFill>
                  <a:srgbClr val="1A4731"/>
                </a:solidFill>
                <a:latin typeface="Calibri" panose="020F0502020204030204" pitchFamily="34" charset="0"/>
                <a:ea typeface="Calibri" panose="020F0502020204030204" pitchFamily="34" charset="-122"/>
                <a:cs typeface="Calibri" panose="020F0502020204030204" pitchFamily="34" charset="-120"/>
              </a:rPr>
              <a:t>R: 86.84%</a:t>
            </a:r>
            <a:endParaRPr lang="en-US" sz="900" dirty="0"/>
          </a:p>
        </p:txBody>
      </p:sp>
      <p:sp>
        <p:nvSpPr>
          <p:cNvPr id="104" name="Text 102"/>
          <p:cNvSpPr/>
          <p:nvPr/>
        </p:nvSpPr>
        <p:spPr>
          <a:xfrm>
            <a:off x="4617720" y="4242816"/>
            <a:ext cx="1783080" cy="237744"/>
          </a:xfrm>
          <a:prstGeom prst="rect">
            <a:avLst/>
          </a:prstGeom>
          <a:noFill/>
        </p:spPr>
        <p:txBody>
          <a:bodyPr wrap="square" rtlCol="0" anchor="ctr"/>
          <a:lstStyle/>
          <a:p>
            <a:pPr marL="0" indent="0">
              <a:buNone/>
            </a:pPr>
            <a:r>
              <a:rPr lang="en-US" sz="900" dirty="0">
                <a:solidFill>
                  <a:srgbClr val="1C2C24"/>
                </a:solidFill>
                <a:latin typeface="Calibri" panose="020F0502020204030204" pitchFamily="34" charset="0"/>
                <a:ea typeface="Calibri" panose="020F0502020204030204" pitchFamily="34" charset="-122"/>
                <a:cs typeface="Calibri" panose="020F0502020204030204" pitchFamily="34" charset="-120"/>
              </a:rPr>
              <a:t>Logistic Reg.</a:t>
            </a:r>
            <a:endParaRPr lang="en-US" sz="900" dirty="0"/>
          </a:p>
        </p:txBody>
      </p:sp>
      <p:sp>
        <p:nvSpPr>
          <p:cNvPr id="105" name="Text 103"/>
          <p:cNvSpPr/>
          <p:nvPr/>
        </p:nvSpPr>
        <p:spPr>
          <a:xfrm>
            <a:off x="6446520" y="4242816"/>
            <a:ext cx="1005840" cy="237744"/>
          </a:xfrm>
          <a:prstGeom prst="rect">
            <a:avLst/>
          </a:prstGeom>
          <a:noFill/>
        </p:spPr>
        <p:txBody>
          <a:bodyPr wrap="square" rtlCol="0" anchor="ctr"/>
          <a:lstStyle/>
          <a:p>
            <a:pPr marL="0" indent="0">
              <a:buNone/>
            </a:pPr>
            <a:r>
              <a:rPr lang="en-US" sz="900" dirty="0">
                <a:solidFill>
                  <a:srgbClr val="276749"/>
                </a:solidFill>
                <a:latin typeface="Calibri" panose="020F0502020204030204" pitchFamily="34" charset="0"/>
                <a:ea typeface="Calibri" panose="020F0502020204030204" pitchFamily="34" charset="-122"/>
                <a:cs typeface="Calibri" panose="020F0502020204030204" pitchFamily="34" charset="-120"/>
              </a:rPr>
              <a:t>P: 69.34%</a:t>
            </a:r>
            <a:endParaRPr lang="en-US" sz="900" dirty="0"/>
          </a:p>
        </p:txBody>
      </p:sp>
      <p:sp>
        <p:nvSpPr>
          <p:cNvPr id="106" name="Text 104"/>
          <p:cNvSpPr/>
          <p:nvPr/>
        </p:nvSpPr>
        <p:spPr>
          <a:xfrm>
            <a:off x="7498080" y="4242816"/>
            <a:ext cx="1097280" cy="237744"/>
          </a:xfrm>
          <a:prstGeom prst="rect">
            <a:avLst/>
          </a:prstGeom>
          <a:noFill/>
        </p:spPr>
        <p:txBody>
          <a:bodyPr wrap="square" rtlCol="0" anchor="ctr"/>
          <a:lstStyle/>
          <a:p>
            <a:pPr marL="0" indent="0">
              <a:buNone/>
            </a:pPr>
            <a:r>
              <a:rPr lang="en-US" sz="900" dirty="0">
                <a:solidFill>
                  <a:srgbClr val="1A4731"/>
                </a:solidFill>
                <a:latin typeface="Calibri" panose="020F0502020204030204" pitchFamily="34" charset="0"/>
                <a:ea typeface="Calibri" panose="020F0502020204030204" pitchFamily="34" charset="-122"/>
                <a:cs typeface="Calibri" panose="020F0502020204030204" pitchFamily="34" charset="-120"/>
              </a:rPr>
              <a:t>R: 71.05%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02285" y="207010"/>
            <a:ext cx="7795895" cy="4142740"/>
          </a:xfrm>
          <a:prstGeom prst="rect">
            <a:avLst/>
          </a:prstGeom>
        </p:spPr>
      </p:pic>
      <p:sp>
        <p:nvSpPr>
          <p:cNvPr id="3" name="Text Box 2"/>
          <p:cNvSpPr txBox="1"/>
          <p:nvPr/>
        </p:nvSpPr>
        <p:spPr>
          <a:xfrm>
            <a:off x="1951355" y="4541520"/>
            <a:ext cx="4632325" cy="368300"/>
          </a:xfrm>
          <a:prstGeom prst="rect">
            <a:avLst/>
          </a:prstGeom>
          <a:noFill/>
        </p:spPr>
        <p:txBody>
          <a:bodyPr wrap="square" rtlCol="0">
            <a:spAutoFit/>
          </a:bodyPr>
          <a:lstStyle/>
          <a:p>
            <a:r>
              <a:rPr lang="en-US" dirty="0"/>
              <a:t>            </a:t>
            </a:r>
            <a:r>
              <a:rPr lang="en-US" dirty="0" smtClean="0"/>
              <a:t>figure9.1 -Decision </a:t>
            </a:r>
            <a:r>
              <a:rPr lang="en-US" dirty="0"/>
              <a:t>tree flow chart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9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76749"/>
          </a:solidFill>
        </p:spPr>
      </p:sp>
      <p:sp>
        <p:nvSpPr>
          <p:cNvPr id="3" name="Text 1"/>
          <p:cNvSpPr/>
          <p:nvPr/>
        </p:nvSpPr>
        <p:spPr>
          <a:xfrm>
            <a:off x="320040" y="0"/>
            <a:ext cx="8229600" cy="658368"/>
          </a:xfrm>
          <a:prstGeom prst="rect">
            <a:avLst/>
          </a:prstGeom>
          <a:noFill/>
        </p:spPr>
        <p:txBody>
          <a:bodyPr wrap="square" lIns="0" tIns="0" rIns="0" bIns="0"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Chapter </a:t>
            </a:r>
            <a:r>
              <a:rPr lang="en-US" sz="2200" b="1" dirty="0" smtClean="0">
                <a:solidFill>
                  <a:srgbClr val="FFFFFF"/>
                </a:solidFill>
                <a:latin typeface="Georgia" panose="02040502050405020303" pitchFamily="34" charset="0"/>
                <a:ea typeface="Georgia" panose="02040502050405020303" pitchFamily="34" charset="-122"/>
                <a:cs typeface="Georgia" panose="02040502050405020303" pitchFamily="34" charset="-120"/>
              </a:rPr>
              <a:t>9</a:t>
            </a:r>
            <a:r>
              <a:rPr lang="en-US" sz="2200" b="1" dirty="0" smtClean="0">
                <a:solidFill>
                  <a:srgbClr val="FFFFFF"/>
                </a:solidFill>
                <a:latin typeface="Georgia" panose="02040502050405020303" pitchFamily="34" charset="0"/>
                <a:ea typeface="Georgia" panose="02040502050405020303" pitchFamily="34" charset="-122"/>
                <a:cs typeface="Georgia" panose="02040502050405020303" pitchFamily="34" charset="-120"/>
              </a:rPr>
              <a:t>: </a:t>
            </a: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Hyperparameter Tuning — GridSearchCV</a:t>
            </a:r>
            <a:endParaRPr lang="en-US" sz="2200" dirty="0"/>
          </a:p>
        </p:txBody>
      </p:sp>
      <p:sp>
        <p:nvSpPr>
          <p:cNvPr id="4" name="Shape 2"/>
          <p:cNvSpPr/>
          <p:nvPr/>
        </p:nvSpPr>
        <p:spPr>
          <a:xfrm>
            <a:off x="0" y="4983480"/>
            <a:ext cx="9144000" cy="164592"/>
          </a:xfrm>
          <a:prstGeom prst="rect">
            <a:avLst/>
          </a:prstGeom>
          <a:solidFill>
            <a:srgbClr val="1A4731"/>
          </a:solidFill>
        </p:spPr>
      </p:sp>
      <p:sp>
        <p:nvSpPr>
          <p:cNvPr id="5" name="Text 3"/>
          <p:cNvSpPr/>
          <p:nvPr/>
        </p:nvSpPr>
        <p:spPr>
          <a:xfrm>
            <a:off x="182880" y="4974336"/>
            <a:ext cx="8778240" cy="164592"/>
          </a:xfrm>
          <a:prstGeom prst="rect">
            <a:avLst/>
          </a:prstGeom>
          <a:noFill/>
        </p:spPr>
        <p:txBody>
          <a:bodyPr wrap="square" rtlCol="0" anchor="ctr"/>
          <a:lstStyle/>
          <a:p>
            <a:pPr marL="0" indent="0">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EAI421 – Application of AI &amp; ML  |  UAS Bangalore-560065</a:t>
            </a:r>
            <a:endParaRPr lang="en-US" sz="800" dirty="0"/>
          </a:p>
        </p:txBody>
      </p:sp>
      <p:sp>
        <p:nvSpPr>
          <p:cNvPr id="6" name="Shape 4"/>
          <p:cNvSpPr/>
          <p:nvPr/>
        </p:nvSpPr>
        <p:spPr>
          <a:xfrm>
            <a:off x="320040" y="1005840"/>
            <a:ext cx="4206240" cy="3675888"/>
          </a:xfrm>
          <a:prstGeom prst="rect">
            <a:avLst/>
          </a:prstGeom>
          <a:solidFill>
            <a:srgbClr val="FFFFFF"/>
          </a:solidFill>
          <a:effectLst>
            <a:outerShdw blurRad="101600" dist="38100" dir="8100000" algn="bl" rotWithShape="0">
              <a:srgbClr val="000000">
                <a:alpha val="12000"/>
              </a:srgbClr>
            </a:outerShdw>
          </a:effectLst>
        </p:spPr>
      </p:sp>
      <p:sp>
        <p:nvSpPr>
          <p:cNvPr id="7" name="Shape 5"/>
          <p:cNvSpPr/>
          <p:nvPr/>
        </p:nvSpPr>
        <p:spPr>
          <a:xfrm>
            <a:off x="320040" y="1005840"/>
            <a:ext cx="4206240" cy="347472"/>
          </a:xfrm>
          <a:prstGeom prst="rect">
            <a:avLst/>
          </a:prstGeom>
          <a:solidFill>
            <a:srgbClr val="1A4731"/>
          </a:solidFill>
        </p:spPr>
      </p:sp>
      <p:sp>
        <p:nvSpPr>
          <p:cNvPr id="8" name="Text 6"/>
          <p:cNvSpPr/>
          <p:nvPr/>
        </p:nvSpPr>
        <p:spPr>
          <a:xfrm>
            <a:off x="320040" y="1005840"/>
            <a:ext cx="4206240" cy="347472"/>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GridSearchCV Setup</a:t>
            </a:r>
            <a:endParaRPr lang="en-US" sz="1300" dirty="0"/>
          </a:p>
        </p:txBody>
      </p:sp>
      <p:sp>
        <p:nvSpPr>
          <p:cNvPr id="9" name="Text 7"/>
          <p:cNvSpPr/>
          <p:nvPr/>
        </p:nvSpPr>
        <p:spPr>
          <a:xfrm>
            <a:off x="457200" y="1426464"/>
            <a:ext cx="3931920" cy="3063240"/>
          </a:xfrm>
          <a:prstGeom prst="rect">
            <a:avLst/>
          </a:prstGeom>
          <a:noFill/>
        </p:spPr>
        <p:txBody>
          <a:bodyPr wrap="square" rtlCol="0" anchor="t"/>
          <a:lstStyle/>
          <a:p>
            <a:pPr marL="342900" indent="-342900">
              <a:buSzPct val="100000"/>
              <a:buChar char="•"/>
            </a:pPr>
            <a:r>
              <a:rPr lang="en-US" sz="1200" dirty="0">
                <a:solidFill>
                  <a:srgbClr val="1C2C24"/>
                </a:solidFill>
                <a:latin typeface="Calibri" panose="020F0502020204030204" pitchFamily="34" charset="0"/>
                <a:ea typeface="Calibri" panose="020F0502020204030204" pitchFamily="34" charset="-122"/>
                <a:cs typeface="Calibri" panose="020F0502020204030204" pitchFamily="34" charset="-120"/>
              </a:rPr>
              <a:t>Algorithm: Decision Tree </a:t>
            </a:r>
            <a:r>
              <a:rPr lang="en-US" sz="1200" dirty="0" smtClean="0">
                <a:solidFill>
                  <a:srgbClr val="1C2C24"/>
                </a:solidFill>
                <a:latin typeface="Calibri" panose="020F0502020204030204" pitchFamily="34" charset="0"/>
                <a:ea typeface="Calibri" panose="020F0502020204030204" pitchFamily="34" charset="-122"/>
                <a:cs typeface="Calibri" panose="020F0502020204030204" pitchFamily="34" charset="-120"/>
              </a:rPr>
              <a:t>Classifier</a:t>
            </a:r>
            <a:endParaRPr lang="en-US" sz="1200" dirty="0"/>
          </a:p>
          <a:p>
            <a:pPr marL="342900" indent="-342900">
              <a:buSzPct val="100000"/>
              <a:buChar char="•"/>
            </a:pPr>
            <a:r>
              <a:rPr lang="en-US" sz="1200" dirty="0">
                <a:solidFill>
                  <a:srgbClr val="1C2C24"/>
                </a:solidFill>
                <a:latin typeface="Calibri" panose="020F0502020204030204" pitchFamily="34" charset="0"/>
                <a:ea typeface="Calibri" panose="020F0502020204030204" pitchFamily="34" charset="-122"/>
                <a:cs typeface="Calibri" panose="020F0502020204030204" pitchFamily="34" charset="-120"/>
              </a:rPr>
              <a:t>Total Combinations: 72 parameter sets</a:t>
            </a:r>
            <a:endParaRPr lang="en-US" sz="1200" dirty="0"/>
          </a:p>
          <a:p>
            <a:pPr marL="342900" indent="-342900">
              <a:buSzPct val="100000"/>
              <a:buChar char="•"/>
            </a:pPr>
            <a:r>
              <a:rPr lang="en-US" sz="1200" dirty="0">
                <a:solidFill>
                  <a:srgbClr val="1C2C24"/>
                </a:solidFill>
                <a:latin typeface="Calibri" panose="020F0502020204030204" pitchFamily="34" charset="0"/>
                <a:ea typeface="Calibri" panose="020F0502020204030204" pitchFamily="34" charset="-122"/>
                <a:cs typeface="Calibri" panose="020F0502020204030204" pitchFamily="34" charset="-120"/>
              </a:rPr>
              <a:t>CV Accuracy Achieved: 98.20%</a:t>
            </a:r>
            <a:endParaRPr lang="en-US" sz="1200" dirty="0"/>
          </a:p>
          <a:p>
            <a:pPr marL="342900" indent="-342900">
              <a:buSzPct val="100000"/>
              <a:buChar char="•"/>
            </a:pPr>
            <a:r>
              <a:rPr lang="en-US" sz="1200" dirty="0">
                <a:solidFill>
                  <a:srgbClr val="1C2C24"/>
                </a:solidFill>
                <a:latin typeface="Calibri" panose="020F0502020204030204" pitchFamily="34" charset="0"/>
                <a:ea typeface="Calibri" panose="020F0502020204030204" pitchFamily="34" charset="-122"/>
                <a:cs typeface="Calibri" panose="020F0502020204030204" pitchFamily="34" charset="-120"/>
              </a:rPr>
              <a:t>Test Accuracy: 89.47%</a:t>
            </a:r>
            <a:endParaRPr lang="en-US" sz="1200" dirty="0"/>
          </a:p>
          <a:p>
            <a:pPr marL="342900" indent="-342900">
              <a:buSzPct val="100000"/>
            </a:pPr>
            <a:endParaRPr lang="en-US" sz="1200" dirty="0"/>
          </a:p>
        </p:txBody>
      </p:sp>
      <p:sp>
        <p:nvSpPr>
          <p:cNvPr id="10" name="Shape 8"/>
          <p:cNvSpPr/>
          <p:nvPr/>
        </p:nvSpPr>
        <p:spPr>
          <a:xfrm>
            <a:off x="4754880" y="1005840"/>
            <a:ext cx="4069080" cy="3675888"/>
          </a:xfrm>
          <a:prstGeom prst="rect">
            <a:avLst/>
          </a:prstGeom>
          <a:solidFill>
            <a:srgbClr val="FFFFFF"/>
          </a:solidFill>
          <a:effectLst>
            <a:outerShdw blurRad="101600" dist="38100" dir="8100000" algn="bl" rotWithShape="0">
              <a:srgbClr val="000000">
                <a:alpha val="12000"/>
              </a:srgbClr>
            </a:outerShdw>
          </a:effectLst>
        </p:spPr>
      </p:sp>
      <p:sp>
        <p:nvSpPr>
          <p:cNvPr id="11" name="Shape 9"/>
          <p:cNvSpPr/>
          <p:nvPr/>
        </p:nvSpPr>
        <p:spPr>
          <a:xfrm>
            <a:off x="4754880" y="1005840"/>
            <a:ext cx="4069080" cy="347472"/>
          </a:xfrm>
          <a:prstGeom prst="rect">
            <a:avLst/>
          </a:prstGeom>
          <a:solidFill>
            <a:srgbClr val="276749"/>
          </a:solidFill>
        </p:spPr>
      </p:sp>
      <p:sp>
        <p:nvSpPr>
          <p:cNvPr id="12" name="Text 10"/>
          <p:cNvSpPr/>
          <p:nvPr/>
        </p:nvSpPr>
        <p:spPr>
          <a:xfrm>
            <a:off x="4754880" y="1005840"/>
            <a:ext cx="4069080" cy="347472"/>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Best Hyperparameters Found</a:t>
            </a:r>
            <a:endParaRPr lang="en-US" sz="1300" dirty="0"/>
          </a:p>
        </p:txBody>
      </p:sp>
      <p:sp>
        <p:nvSpPr>
          <p:cNvPr id="13" name="Shape 11"/>
          <p:cNvSpPr/>
          <p:nvPr/>
        </p:nvSpPr>
        <p:spPr>
          <a:xfrm>
            <a:off x="4773168" y="1389888"/>
            <a:ext cx="3950208" cy="329184"/>
          </a:xfrm>
          <a:prstGeom prst="rect">
            <a:avLst/>
          </a:prstGeom>
          <a:solidFill>
            <a:srgbClr val="276749"/>
          </a:solidFill>
        </p:spPr>
      </p:sp>
      <p:sp>
        <p:nvSpPr>
          <p:cNvPr id="14" name="Text 12"/>
          <p:cNvSpPr/>
          <p:nvPr/>
        </p:nvSpPr>
        <p:spPr>
          <a:xfrm>
            <a:off x="4773168" y="1389888"/>
            <a:ext cx="1417320" cy="329184"/>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Parameter</a:t>
            </a:r>
            <a:endParaRPr lang="en-US" sz="1050" dirty="0"/>
          </a:p>
        </p:txBody>
      </p:sp>
      <p:sp>
        <p:nvSpPr>
          <p:cNvPr id="15" name="Text 13"/>
          <p:cNvSpPr/>
          <p:nvPr/>
        </p:nvSpPr>
        <p:spPr>
          <a:xfrm>
            <a:off x="6190488" y="1389888"/>
            <a:ext cx="1417320" cy="329184"/>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Values Tested</a:t>
            </a:r>
            <a:endParaRPr lang="en-US" sz="1050" dirty="0"/>
          </a:p>
        </p:txBody>
      </p:sp>
      <p:sp>
        <p:nvSpPr>
          <p:cNvPr id="16" name="Text 14"/>
          <p:cNvSpPr/>
          <p:nvPr/>
        </p:nvSpPr>
        <p:spPr>
          <a:xfrm>
            <a:off x="7607808" y="1389888"/>
            <a:ext cx="1115568" cy="329184"/>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Best Value</a:t>
            </a:r>
            <a:endParaRPr lang="en-US" sz="1050" dirty="0"/>
          </a:p>
        </p:txBody>
      </p:sp>
      <p:sp>
        <p:nvSpPr>
          <p:cNvPr id="17" name="Shape 15"/>
          <p:cNvSpPr/>
          <p:nvPr/>
        </p:nvSpPr>
        <p:spPr>
          <a:xfrm>
            <a:off x="4773168" y="1719072"/>
            <a:ext cx="1417320" cy="457200"/>
          </a:xfrm>
          <a:prstGeom prst="rect">
            <a:avLst/>
          </a:prstGeom>
          <a:solidFill>
            <a:srgbClr val="EDF5F0"/>
          </a:solidFill>
          <a:ln w="6350">
            <a:solidFill>
              <a:srgbClr val="D5E8D8"/>
            </a:solidFill>
            <a:prstDash val="solid"/>
          </a:ln>
        </p:spPr>
      </p:sp>
      <p:sp>
        <p:nvSpPr>
          <p:cNvPr id="18" name="Text 16"/>
          <p:cNvSpPr/>
          <p:nvPr/>
        </p:nvSpPr>
        <p:spPr>
          <a:xfrm>
            <a:off x="4818888" y="1755648"/>
            <a:ext cx="1325880" cy="384048"/>
          </a:xfrm>
          <a:prstGeom prst="rect">
            <a:avLst/>
          </a:prstGeom>
          <a:noFill/>
        </p:spPr>
        <p:txBody>
          <a:bodyPr wrap="square" rtlCol="0" anchor="ctr"/>
          <a:lstStyle/>
          <a:p>
            <a:pPr marL="0" indent="0" algn="ctr">
              <a:buNone/>
            </a:pPr>
            <a:r>
              <a:rPr lang="en-US" sz="1000" dirty="0">
                <a:solidFill>
                  <a:srgbClr val="1C2C24"/>
                </a:solidFill>
                <a:latin typeface="Consolas" panose="020B0609020204030204" pitchFamily="34" charset="0"/>
                <a:ea typeface="Consolas" panose="020B0609020204030204" pitchFamily="34" charset="-122"/>
                <a:cs typeface="Consolas" panose="020B0609020204030204" pitchFamily="34" charset="-120"/>
              </a:rPr>
              <a:t>criterion</a:t>
            </a:r>
            <a:endParaRPr lang="en-US" sz="1000" dirty="0"/>
          </a:p>
        </p:txBody>
      </p:sp>
      <p:sp>
        <p:nvSpPr>
          <p:cNvPr id="19" name="Shape 17"/>
          <p:cNvSpPr/>
          <p:nvPr/>
        </p:nvSpPr>
        <p:spPr>
          <a:xfrm>
            <a:off x="6190488" y="1719072"/>
            <a:ext cx="1417320" cy="457200"/>
          </a:xfrm>
          <a:prstGeom prst="rect">
            <a:avLst/>
          </a:prstGeom>
          <a:solidFill>
            <a:srgbClr val="EDF5F0"/>
          </a:solidFill>
          <a:ln w="6350">
            <a:solidFill>
              <a:srgbClr val="D5E8D8"/>
            </a:solidFill>
            <a:prstDash val="solid"/>
          </a:ln>
        </p:spPr>
      </p:sp>
      <p:sp>
        <p:nvSpPr>
          <p:cNvPr id="20" name="Text 18"/>
          <p:cNvSpPr/>
          <p:nvPr/>
        </p:nvSpPr>
        <p:spPr>
          <a:xfrm>
            <a:off x="6236208" y="1755648"/>
            <a:ext cx="1325880" cy="384048"/>
          </a:xfrm>
          <a:prstGeom prst="rect">
            <a:avLst/>
          </a:prstGeom>
          <a:noFill/>
        </p:spPr>
        <p:txBody>
          <a:bodyPr wrap="square" rtlCol="0" anchor="ctr"/>
          <a:lstStyle/>
          <a:p>
            <a:pPr marL="0" indent="0" algn="ctr">
              <a:buNone/>
            </a:pPr>
            <a:r>
              <a:rPr lang="en-US" sz="1000" dirty="0">
                <a:solidFill>
                  <a:srgbClr val="1C2C24"/>
                </a:solidFill>
                <a:latin typeface="Consolas" panose="020B0609020204030204" pitchFamily="34" charset="0"/>
                <a:ea typeface="Consolas" panose="020B0609020204030204" pitchFamily="34" charset="-122"/>
                <a:cs typeface="Consolas" panose="020B0609020204030204" pitchFamily="34" charset="-120"/>
              </a:rPr>
              <a:t>gini, entropy</a:t>
            </a:r>
            <a:endParaRPr lang="en-US" sz="1000" dirty="0"/>
          </a:p>
        </p:txBody>
      </p:sp>
      <p:sp>
        <p:nvSpPr>
          <p:cNvPr id="21" name="Shape 19"/>
          <p:cNvSpPr/>
          <p:nvPr/>
        </p:nvSpPr>
        <p:spPr>
          <a:xfrm>
            <a:off x="7607808" y="1719072"/>
            <a:ext cx="1115568" cy="457200"/>
          </a:xfrm>
          <a:prstGeom prst="rect">
            <a:avLst/>
          </a:prstGeom>
          <a:solidFill>
            <a:srgbClr val="E8B84B"/>
          </a:solidFill>
          <a:ln w="6350">
            <a:solidFill>
              <a:srgbClr val="D5E8D8"/>
            </a:solidFill>
            <a:prstDash val="solid"/>
          </a:ln>
        </p:spPr>
      </p:sp>
      <p:sp>
        <p:nvSpPr>
          <p:cNvPr id="22" name="Text 20"/>
          <p:cNvSpPr/>
          <p:nvPr/>
        </p:nvSpPr>
        <p:spPr>
          <a:xfrm>
            <a:off x="7653528" y="1755648"/>
            <a:ext cx="1024128" cy="384048"/>
          </a:xfrm>
          <a:prstGeom prst="rect">
            <a:avLst/>
          </a:prstGeom>
          <a:noFill/>
        </p:spPr>
        <p:txBody>
          <a:bodyPr wrap="square" rtlCol="0" anchor="ctr"/>
          <a:lstStyle/>
          <a:p>
            <a:pPr marL="0" indent="0" algn="ctr">
              <a:buNone/>
            </a:pPr>
            <a:r>
              <a:rPr lang="en-US" sz="1100" b="1" dirty="0">
                <a:solidFill>
                  <a:srgbClr val="1A4731"/>
                </a:solidFill>
                <a:latin typeface="Calibri" panose="020F0502020204030204" pitchFamily="34" charset="0"/>
                <a:ea typeface="Calibri" panose="020F0502020204030204" pitchFamily="34" charset="-122"/>
                <a:cs typeface="Calibri" panose="020F0502020204030204" pitchFamily="34" charset="-120"/>
              </a:rPr>
              <a:t>gini</a:t>
            </a:r>
            <a:endParaRPr lang="en-US" sz="1100" dirty="0"/>
          </a:p>
        </p:txBody>
      </p:sp>
      <p:sp>
        <p:nvSpPr>
          <p:cNvPr id="23" name="Shape 21"/>
          <p:cNvSpPr/>
          <p:nvPr/>
        </p:nvSpPr>
        <p:spPr>
          <a:xfrm>
            <a:off x="4773168" y="2176272"/>
            <a:ext cx="1417320" cy="457200"/>
          </a:xfrm>
          <a:prstGeom prst="rect">
            <a:avLst/>
          </a:prstGeom>
          <a:solidFill>
            <a:srgbClr val="FFFFFF"/>
          </a:solidFill>
          <a:ln w="6350">
            <a:solidFill>
              <a:srgbClr val="D5E8D8"/>
            </a:solidFill>
            <a:prstDash val="solid"/>
          </a:ln>
        </p:spPr>
      </p:sp>
      <p:sp>
        <p:nvSpPr>
          <p:cNvPr id="24" name="Text 22"/>
          <p:cNvSpPr/>
          <p:nvPr/>
        </p:nvSpPr>
        <p:spPr>
          <a:xfrm>
            <a:off x="4818888" y="2212848"/>
            <a:ext cx="1325880" cy="384048"/>
          </a:xfrm>
          <a:prstGeom prst="rect">
            <a:avLst/>
          </a:prstGeom>
          <a:noFill/>
        </p:spPr>
        <p:txBody>
          <a:bodyPr wrap="square" rtlCol="0" anchor="ctr"/>
          <a:lstStyle/>
          <a:p>
            <a:pPr marL="0" indent="0" algn="ctr">
              <a:buNone/>
            </a:pPr>
            <a:r>
              <a:rPr lang="en-US" sz="1000" dirty="0">
                <a:solidFill>
                  <a:srgbClr val="1C2C24"/>
                </a:solidFill>
                <a:latin typeface="Consolas" panose="020B0609020204030204" pitchFamily="34" charset="0"/>
                <a:ea typeface="Consolas" panose="020B0609020204030204" pitchFamily="34" charset="-122"/>
                <a:cs typeface="Consolas" panose="020B0609020204030204" pitchFamily="34" charset="-120"/>
              </a:rPr>
              <a:t>max_depth</a:t>
            </a:r>
            <a:endParaRPr lang="en-US" sz="1000" dirty="0"/>
          </a:p>
        </p:txBody>
      </p:sp>
      <p:sp>
        <p:nvSpPr>
          <p:cNvPr id="25" name="Shape 23"/>
          <p:cNvSpPr/>
          <p:nvPr/>
        </p:nvSpPr>
        <p:spPr>
          <a:xfrm>
            <a:off x="6190488" y="2176272"/>
            <a:ext cx="1417320" cy="457200"/>
          </a:xfrm>
          <a:prstGeom prst="rect">
            <a:avLst/>
          </a:prstGeom>
          <a:solidFill>
            <a:srgbClr val="FFFFFF"/>
          </a:solidFill>
          <a:ln w="6350">
            <a:solidFill>
              <a:srgbClr val="D5E8D8"/>
            </a:solidFill>
            <a:prstDash val="solid"/>
          </a:ln>
        </p:spPr>
      </p:sp>
      <p:sp>
        <p:nvSpPr>
          <p:cNvPr id="26" name="Text 24"/>
          <p:cNvSpPr/>
          <p:nvPr/>
        </p:nvSpPr>
        <p:spPr>
          <a:xfrm>
            <a:off x="6236208" y="2212848"/>
            <a:ext cx="1325880" cy="384048"/>
          </a:xfrm>
          <a:prstGeom prst="rect">
            <a:avLst/>
          </a:prstGeom>
          <a:noFill/>
        </p:spPr>
        <p:txBody>
          <a:bodyPr wrap="square" rtlCol="0" anchor="ctr"/>
          <a:lstStyle/>
          <a:p>
            <a:pPr marL="0" indent="0" algn="ctr">
              <a:buNone/>
            </a:pPr>
            <a:r>
              <a:rPr lang="en-US" sz="1000" dirty="0">
                <a:solidFill>
                  <a:srgbClr val="1C2C24"/>
                </a:solidFill>
                <a:latin typeface="Consolas" panose="020B0609020204030204" pitchFamily="34" charset="0"/>
                <a:ea typeface="Consolas" panose="020B0609020204030204" pitchFamily="34" charset="-122"/>
                <a:cs typeface="Consolas" panose="020B0609020204030204" pitchFamily="34" charset="-120"/>
              </a:rPr>
              <a:t>None, 5, 10, 15</a:t>
            </a:r>
            <a:endParaRPr lang="en-US" sz="1000" dirty="0"/>
          </a:p>
        </p:txBody>
      </p:sp>
      <p:sp>
        <p:nvSpPr>
          <p:cNvPr id="27" name="Shape 25"/>
          <p:cNvSpPr/>
          <p:nvPr/>
        </p:nvSpPr>
        <p:spPr>
          <a:xfrm>
            <a:off x="7607808" y="2176272"/>
            <a:ext cx="1115568" cy="457200"/>
          </a:xfrm>
          <a:prstGeom prst="rect">
            <a:avLst/>
          </a:prstGeom>
          <a:solidFill>
            <a:srgbClr val="E8B84B"/>
          </a:solidFill>
          <a:ln w="6350">
            <a:solidFill>
              <a:srgbClr val="D5E8D8"/>
            </a:solidFill>
            <a:prstDash val="solid"/>
          </a:ln>
        </p:spPr>
      </p:sp>
      <p:sp>
        <p:nvSpPr>
          <p:cNvPr id="28" name="Text 26"/>
          <p:cNvSpPr/>
          <p:nvPr/>
        </p:nvSpPr>
        <p:spPr>
          <a:xfrm>
            <a:off x="7653528" y="2212848"/>
            <a:ext cx="1024128" cy="384048"/>
          </a:xfrm>
          <a:prstGeom prst="rect">
            <a:avLst/>
          </a:prstGeom>
          <a:noFill/>
        </p:spPr>
        <p:txBody>
          <a:bodyPr wrap="square" rtlCol="0" anchor="ctr"/>
          <a:lstStyle/>
          <a:p>
            <a:pPr marL="0" indent="0" algn="ctr">
              <a:buNone/>
            </a:pPr>
            <a:r>
              <a:rPr lang="en-US" sz="1100" b="1" dirty="0">
                <a:solidFill>
                  <a:srgbClr val="1A4731"/>
                </a:solidFill>
                <a:latin typeface="Calibri" panose="020F0502020204030204" pitchFamily="34" charset="0"/>
                <a:ea typeface="Calibri" panose="020F0502020204030204" pitchFamily="34" charset="-122"/>
                <a:cs typeface="Calibri" panose="020F0502020204030204" pitchFamily="34" charset="-120"/>
              </a:rPr>
              <a:t>None</a:t>
            </a:r>
            <a:endParaRPr lang="en-US" sz="1100" dirty="0"/>
          </a:p>
        </p:txBody>
      </p:sp>
      <p:sp>
        <p:nvSpPr>
          <p:cNvPr id="29" name="Shape 27"/>
          <p:cNvSpPr/>
          <p:nvPr/>
        </p:nvSpPr>
        <p:spPr>
          <a:xfrm>
            <a:off x="4773168" y="2633472"/>
            <a:ext cx="1417320" cy="457200"/>
          </a:xfrm>
          <a:prstGeom prst="rect">
            <a:avLst/>
          </a:prstGeom>
          <a:solidFill>
            <a:srgbClr val="EDF5F0"/>
          </a:solidFill>
          <a:ln w="6350">
            <a:solidFill>
              <a:srgbClr val="D5E8D8"/>
            </a:solidFill>
            <a:prstDash val="solid"/>
          </a:ln>
        </p:spPr>
      </p:sp>
      <p:sp>
        <p:nvSpPr>
          <p:cNvPr id="30" name="Text 28"/>
          <p:cNvSpPr/>
          <p:nvPr/>
        </p:nvSpPr>
        <p:spPr>
          <a:xfrm>
            <a:off x="4818888" y="2670048"/>
            <a:ext cx="1325880" cy="384048"/>
          </a:xfrm>
          <a:prstGeom prst="rect">
            <a:avLst/>
          </a:prstGeom>
          <a:noFill/>
        </p:spPr>
        <p:txBody>
          <a:bodyPr wrap="square" rtlCol="0" anchor="ctr"/>
          <a:lstStyle/>
          <a:p>
            <a:pPr marL="0" indent="0" algn="ctr">
              <a:buNone/>
            </a:pPr>
            <a:r>
              <a:rPr lang="en-US" sz="1000" dirty="0">
                <a:solidFill>
                  <a:srgbClr val="1C2C24"/>
                </a:solidFill>
                <a:latin typeface="Consolas" panose="020B0609020204030204" pitchFamily="34" charset="0"/>
                <a:ea typeface="Consolas" panose="020B0609020204030204" pitchFamily="34" charset="-122"/>
                <a:cs typeface="Consolas" panose="020B0609020204030204" pitchFamily="34" charset="-120"/>
              </a:rPr>
              <a:t>min_samples_split</a:t>
            </a:r>
            <a:endParaRPr lang="en-US" sz="1000" dirty="0"/>
          </a:p>
        </p:txBody>
      </p:sp>
      <p:sp>
        <p:nvSpPr>
          <p:cNvPr id="31" name="Shape 29"/>
          <p:cNvSpPr/>
          <p:nvPr/>
        </p:nvSpPr>
        <p:spPr>
          <a:xfrm>
            <a:off x="6190488" y="2633472"/>
            <a:ext cx="1417320" cy="457200"/>
          </a:xfrm>
          <a:prstGeom prst="rect">
            <a:avLst/>
          </a:prstGeom>
          <a:solidFill>
            <a:srgbClr val="EDF5F0"/>
          </a:solidFill>
          <a:ln w="6350">
            <a:solidFill>
              <a:srgbClr val="D5E8D8"/>
            </a:solidFill>
            <a:prstDash val="solid"/>
          </a:ln>
        </p:spPr>
      </p:sp>
      <p:sp>
        <p:nvSpPr>
          <p:cNvPr id="32" name="Text 30"/>
          <p:cNvSpPr/>
          <p:nvPr/>
        </p:nvSpPr>
        <p:spPr>
          <a:xfrm>
            <a:off x="6236208" y="2670048"/>
            <a:ext cx="1325880" cy="384048"/>
          </a:xfrm>
          <a:prstGeom prst="rect">
            <a:avLst/>
          </a:prstGeom>
          <a:noFill/>
        </p:spPr>
        <p:txBody>
          <a:bodyPr wrap="square" rtlCol="0" anchor="ctr"/>
          <a:lstStyle/>
          <a:p>
            <a:pPr marL="0" indent="0" algn="ctr">
              <a:buNone/>
            </a:pPr>
            <a:r>
              <a:rPr lang="en-US" sz="1000" dirty="0">
                <a:solidFill>
                  <a:srgbClr val="1C2C24"/>
                </a:solidFill>
                <a:latin typeface="Consolas" panose="020B0609020204030204" pitchFamily="34" charset="0"/>
                <a:ea typeface="Consolas" panose="020B0609020204030204" pitchFamily="34" charset="-122"/>
                <a:cs typeface="Consolas" panose="020B0609020204030204" pitchFamily="34" charset="-120"/>
              </a:rPr>
              <a:t>2, 5, 10</a:t>
            </a:r>
            <a:endParaRPr lang="en-US" sz="1000" dirty="0"/>
          </a:p>
        </p:txBody>
      </p:sp>
      <p:sp>
        <p:nvSpPr>
          <p:cNvPr id="33" name="Shape 31"/>
          <p:cNvSpPr/>
          <p:nvPr/>
        </p:nvSpPr>
        <p:spPr>
          <a:xfrm>
            <a:off x="7607808" y="2633472"/>
            <a:ext cx="1115568" cy="457200"/>
          </a:xfrm>
          <a:prstGeom prst="rect">
            <a:avLst/>
          </a:prstGeom>
          <a:solidFill>
            <a:srgbClr val="E8B84B"/>
          </a:solidFill>
          <a:ln w="6350">
            <a:solidFill>
              <a:srgbClr val="D5E8D8"/>
            </a:solidFill>
            <a:prstDash val="solid"/>
          </a:ln>
        </p:spPr>
      </p:sp>
      <p:sp>
        <p:nvSpPr>
          <p:cNvPr id="34" name="Text 32"/>
          <p:cNvSpPr/>
          <p:nvPr/>
        </p:nvSpPr>
        <p:spPr>
          <a:xfrm>
            <a:off x="7653528" y="2670048"/>
            <a:ext cx="1024128" cy="384048"/>
          </a:xfrm>
          <a:prstGeom prst="rect">
            <a:avLst/>
          </a:prstGeom>
          <a:noFill/>
        </p:spPr>
        <p:txBody>
          <a:bodyPr wrap="square" rtlCol="0" anchor="ctr"/>
          <a:lstStyle/>
          <a:p>
            <a:pPr marL="0" indent="0" algn="ctr">
              <a:buNone/>
            </a:pPr>
            <a:r>
              <a:rPr lang="en-US" sz="1100" b="1" dirty="0">
                <a:solidFill>
                  <a:srgbClr val="1A4731"/>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35" name="Shape 33"/>
          <p:cNvSpPr/>
          <p:nvPr/>
        </p:nvSpPr>
        <p:spPr>
          <a:xfrm>
            <a:off x="4773168" y="3090672"/>
            <a:ext cx="1417320" cy="457200"/>
          </a:xfrm>
          <a:prstGeom prst="rect">
            <a:avLst/>
          </a:prstGeom>
          <a:solidFill>
            <a:srgbClr val="FFFFFF"/>
          </a:solidFill>
          <a:ln w="6350">
            <a:solidFill>
              <a:srgbClr val="D5E8D8"/>
            </a:solidFill>
            <a:prstDash val="solid"/>
          </a:ln>
        </p:spPr>
      </p:sp>
      <p:sp>
        <p:nvSpPr>
          <p:cNvPr id="36" name="Text 34"/>
          <p:cNvSpPr/>
          <p:nvPr/>
        </p:nvSpPr>
        <p:spPr>
          <a:xfrm>
            <a:off x="4818888" y="3127248"/>
            <a:ext cx="1325880" cy="384048"/>
          </a:xfrm>
          <a:prstGeom prst="rect">
            <a:avLst/>
          </a:prstGeom>
          <a:noFill/>
        </p:spPr>
        <p:txBody>
          <a:bodyPr wrap="square" rtlCol="0" anchor="ctr"/>
          <a:lstStyle/>
          <a:p>
            <a:pPr marL="0" indent="0" algn="ctr">
              <a:buNone/>
            </a:pPr>
            <a:r>
              <a:rPr lang="en-US" sz="1000" dirty="0">
                <a:solidFill>
                  <a:srgbClr val="1C2C24"/>
                </a:solidFill>
                <a:latin typeface="Consolas" panose="020B0609020204030204" pitchFamily="34" charset="0"/>
                <a:ea typeface="Consolas" panose="020B0609020204030204" pitchFamily="34" charset="-122"/>
                <a:cs typeface="Consolas" panose="020B0609020204030204" pitchFamily="34" charset="-120"/>
              </a:rPr>
              <a:t>min_samples_leaf</a:t>
            </a:r>
            <a:endParaRPr lang="en-US" sz="1000" dirty="0"/>
          </a:p>
        </p:txBody>
      </p:sp>
      <p:sp>
        <p:nvSpPr>
          <p:cNvPr id="37" name="Shape 35"/>
          <p:cNvSpPr/>
          <p:nvPr/>
        </p:nvSpPr>
        <p:spPr>
          <a:xfrm>
            <a:off x="6190488" y="3090672"/>
            <a:ext cx="1417320" cy="457200"/>
          </a:xfrm>
          <a:prstGeom prst="rect">
            <a:avLst/>
          </a:prstGeom>
          <a:solidFill>
            <a:srgbClr val="FFFFFF"/>
          </a:solidFill>
          <a:ln w="6350">
            <a:solidFill>
              <a:srgbClr val="D5E8D8"/>
            </a:solidFill>
            <a:prstDash val="solid"/>
          </a:ln>
        </p:spPr>
      </p:sp>
      <p:sp>
        <p:nvSpPr>
          <p:cNvPr id="38" name="Text 36"/>
          <p:cNvSpPr/>
          <p:nvPr/>
        </p:nvSpPr>
        <p:spPr>
          <a:xfrm>
            <a:off x="6236208" y="3127248"/>
            <a:ext cx="1325880" cy="384048"/>
          </a:xfrm>
          <a:prstGeom prst="rect">
            <a:avLst/>
          </a:prstGeom>
          <a:noFill/>
        </p:spPr>
        <p:txBody>
          <a:bodyPr wrap="square" rtlCol="0" anchor="ctr"/>
          <a:lstStyle/>
          <a:p>
            <a:pPr marL="0" indent="0" algn="ctr">
              <a:buNone/>
            </a:pPr>
            <a:r>
              <a:rPr lang="en-US" sz="1000" dirty="0">
                <a:solidFill>
                  <a:srgbClr val="1C2C24"/>
                </a:solidFill>
                <a:latin typeface="Consolas" panose="020B0609020204030204" pitchFamily="34" charset="0"/>
                <a:ea typeface="Consolas" panose="020B0609020204030204" pitchFamily="34" charset="-122"/>
                <a:cs typeface="Consolas" panose="020B0609020204030204" pitchFamily="34" charset="-120"/>
              </a:rPr>
              <a:t>1, 2, 4</a:t>
            </a:r>
            <a:endParaRPr lang="en-US" sz="1000" dirty="0"/>
          </a:p>
        </p:txBody>
      </p:sp>
      <p:sp>
        <p:nvSpPr>
          <p:cNvPr id="39" name="Shape 37"/>
          <p:cNvSpPr/>
          <p:nvPr/>
        </p:nvSpPr>
        <p:spPr>
          <a:xfrm>
            <a:off x="7607808" y="3090672"/>
            <a:ext cx="1115568" cy="457200"/>
          </a:xfrm>
          <a:prstGeom prst="rect">
            <a:avLst/>
          </a:prstGeom>
          <a:solidFill>
            <a:srgbClr val="E8B84B"/>
          </a:solidFill>
          <a:ln w="6350">
            <a:solidFill>
              <a:srgbClr val="D5E8D8"/>
            </a:solidFill>
            <a:prstDash val="solid"/>
          </a:ln>
        </p:spPr>
      </p:sp>
      <p:sp>
        <p:nvSpPr>
          <p:cNvPr id="40" name="Text 38"/>
          <p:cNvSpPr/>
          <p:nvPr/>
        </p:nvSpPr>
        <p:spPr>
          <a:xfrm>
            <a:off x="7653528" y="3127248"/>
            <a:ext cx="1024128" cy="384048"/>
          </a:xfrm>
          <a:prstGeom prst="rect">
            <a:avLst/>
          </a:prstGeom>
          <a:noFill/>
        </p:spPr>
        <p:txBody>
          <a:bodyPr wrap="square" rtlCol="0" anchor="ctr"/>
          <a:lstStyle/>
          <a:p>
            <a:pPr marL="0" indent="0" algn="ctr">
              <a:buNone/>
            </a:pPr>
            <a:r>
              <a:rPr lang="en-US" sz="1100" b="1" dirty="0">
                <a:solidFill>
                  <a:srgbClr val="1A4731"/>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41" name="Shape 39"/>
          <p:cNvSpPr/>
          <p:nvPr/>
        </p:nvSpPr>
        <p:spPr>
          <a:xfrm>
            <a:off x="4773168" y="3685032"/>
            <a:ext cx="3950208" cy="1188720"/>
          </a:xfrm>
          <a:prstGeom prst="rect">
            <a:avLst/>
          </a:prstGeom>
          <a:solidFill>
            <a:srgbClr val="EDF7F1"/>
          </a:solidFill>
          <a:ln w="12700">
            <a:solidFill>
              <a:srgbClr val="4CAF7A"/>
            </a:solidFill>
            <a:prstDash val="solid"/>
          </a:ln>
        </p:spPr>
      </p:sp>
      <p:sp>
        <p:nvSpPr>
          <p:cNvPr id="42" name="Text 40"/>
          <p:cNvSpPr/>
          <p:nvPr/>
        </p:nvSpPr>
        <p:spPr>
          <a:xfrm>
            <a:off x="4864608" y="3712464"/>
            <a:ext cx="3767328" cy="237744"/>
          </a:xfrm>
          <a:prstGeom prst="rect">
            <a:avLst/>
          </a:prstGeom>
          <a:noFill/>
        </p:spPr>
        <p:txBody>
          <a:bodyPr wrap="square" rtlCol="0" anchor="ctr"/>
          <a:lstStyle/>
          <a:p>
            <a:pPr marL="0" indent="0">
              <a:buNone/>
            </a:pPr>
            <a:r>
              <a:rPr lang="en-US" sz="1000" b="1" dirty="0">
                <a:solidFill>
                  <a:srgbClr val="276749"/>
                </a:solidFill>
                <a:latin typeface="Calibri" panose="020F0502020204030204" pitchFamily="34" charset="0"/>
                <a:ea typeface="Calibri" panose="020F0502020204030204" pitchFamily="34" charset="-122"/>
                <a:cs typeface="Calibri" panose="020F0502020204030204" pitchFamily="34" charset="-120"/>
              </a:rPr>
              <a:t>Insight</a:t>
            </a:r>
            <a:endParaRPr lang="en-US" sz="1000" dirty="0"/>
          </a:p>
        </p:txBody>
      </p:sp>
      <p:sp>
        <p:nvSpPr>
          <p:cNvPr id="43" name="Text 41"/>
          <p:cNvSpPr/>
          <p:nvPr/>
        </p:nvSpPr>
        <p:spPr>
          <a:xfrm>
            <a:off x="4864608" y="3950208"/>
            <a:ext cx="3767328" cy="868680"/>
          </a:xfrm>
          <a:prstGeom prst="rect">
            <a:avLst/>
          </a:prstGeom>
          <a:noFill/>
        </p:spPr>
        <p:txBody>
          <a:bodyPr wrap="square" rtlCol="0" anchor="t"/>
          <a:lstStyle/>
          <a:p>
            <a:pPr marL="0" indent="0">
              <a:buNone/>
            </a:pPr>
            <a:r>
              <a:rPr lang="en-US" sz="950" dirty="0">
                <a:solidFill>
                  <a:srgbClr val="1C2C24"/>
                </a:solidFill>
                <a:latin typeface="Calibri" panose="020F0502020204030204" pitchFamily="34" charset="0"/>
                <a:ea typeface="Calibri" panose="020F0502020204030204" pitchFamily="34" charset="-122"/>
                <a:cs typeface="Calibri" panose="020F0502020204030204" pitchFamily="34" charset="-120"/>
              </a:rPr>
              <a:t>Although the tuned model achieved 98.20% cross-validation accuracy, the original Decision Tree (92.11% test) slightly outperformed it on unseen data, indicating the tuned model overfit the CV folds. Original model recommended for production.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9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76749"/>
          </a:solidFill>
        </p:spPr>
      </p:sp>
      <p:sp>
        <p:nvSpPr>
          <p:cNvPr id="3" name="Text 1"/>
          <p:cNvSpPr/>
          <p:nvPr/>
        </p:nvSpPr>
        <p:spPr>
          <a:xfrm>
            <a:off x="320040" y="0"/>
            <a:ext cx="8229600" cy="658368"/>
          </a:xfrm>
          <a:prstGeom prst="rect">
            <a:avLst/>
          </a:prstGeom>
          <a:noFill/>
        </p:spPr>
        <p:txBody>
          <a:bodyPr wrap="square" lIns="0" tIns="0" rIns="0" bIns="0"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Chapter 11 &amp; 12: Limitations &amp; Conclusion</a:t>
            </a:r>
            <a:endParaRPr lang="en-US" sz="2200" dirty="0"/>
          </a:p>
        </p:txBody>
      </p:sp>
      <p:sp>
        <p:nvSpPr>
          <p:cNvPr id="4" name="Shape 2"/>
          <p:cNvSpPr/>
          <p:nvPr/>
        </p:nvSpPr>
        <p:spPr>
          <a:xfrm>
            <a:off x="0" y="4983480"/>
            <a:ext cx="9144000" cy="164592"/>
          </a:xfrm>
          <a:prstGeom prst="rect">
            <a:avLst/>
          </a:prstGeom>
          <a:solidFill>
            <a:srgbClr val="1A4731"/>
          </a:solidFill>
        </p:spPr>
      </p:sp>
      <p:sp>
        <p:nvSpPr>
          <p:cNvPr id="5" name="Text 3"/>
          <p:cNvSpPr/>
          <p:nvPr/>
        </p:nvSpPr>
        <p:spPr>
          <a:xfrm>
            <a:off x="182880" y="4974336"/>
            <a:ext cx="8778240" cy="164592"/>
          </a:xfrm>
          <a:prstGeom prst="rect">
            <a:avLst/>
          </a:prstGeom>
          <a:noFill/>
        </p:spPr>
        <p:txBody>
          <a:bodyPr wrap="square" rtlCol="0" anchor="ctr"/>
          <a:lstStyle/>
          <a:p>
            <a:pPr marL="0" indent="0">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EAI421 – Application of AI &amp; ML  |  UAS Bangalore-560065</a:t>
            </a:r>
            <a:endParaRPr lang="en-US" sz="800" dirty="0"/>
          </a:p>
        </p:txBody>
      </p:sp>
      <p:sp>
        <p:nvSpPr>
          <p:cNvPr id="6" name="Shape 4"/>
          <p:cNvSpPr/>
          <p:nvPr/>
        </p:nvSpPr>
        <p:spPr>
          <a:xfrm>
            <a:off x="320040" y="1005840"/>
            <a:ext cx="3840480" cy="3675888"/>
          </a:xfrm>
          <a:prstGeom prst="rect">
            <a:avLst/>
          </a:prstGeom>
          <a:solidFill>
            <a:srgbClr val="FFFFFF"/>
          </a:solidFill>
          <a:effectLst>
            <a:outerShdw blurRad="101600" dist="38100" dir="8100000" algn="bl" rotWithShape="0">
              <a:srgbClr val="000000">
                <a:alpha val="12000"/>
              </a:srgbClr>
            </a:outerShdw>
          </a:effectLst>
        </p:spPr>
      </p:sp>
      <p:sp>
        <p:nvSpPr>
          <p:cNvPr id="7" name="Shape 5"/>
          <p:cNvSpPr/>
          <p:nvPr/>
        </p:nvSpPr>
        <p:spPr>
          <a:xfrm>
            <a:off x="320040" y="1005840"/>
            <a:ext cx="3840480" cy="347472"/>
          </a:xfrm>
          <a:prstGeom prst="rect">
            <a:avLst/>
          </a:prstGeom>
          <a:solidFill>
            <a:srgbClr val="CC3333"/>
          </a:solidFill>
        </p:spPr>
      </p:sp>
      <p:sp>
        <p:nvSpPr>
          <p:cNvPr id="8" name="Text 6"/>
          <p:cNvSpPr/>
          <p:nvPr/>
        </p:nvSpPr>
        <p:spPr>
          <a:xfrm>
            <a:off x="320040" y="1005840"/>
            <a:ext cx="3840480" cy="347472"/>
          </a:xfrm>
          <a:prstGeom prst="rect">
            <a:avLst/>
          </a:prstGeom>
          <a:noFill/>
        </p:spPr>
        <p:txBody>
          <a:bodyPr wrap="square" rtlCol="0" anchor="ctr"/>
          <a:lstStyle/>
          <a:p>
            <a:pPr marL="0" indent="0" algn="ctr">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Limitations</a:t>
            </a:r>
            <a:endParaRPr lang="en-US" sz="1400" dirty="0"/>
          </a:p>
        </p:txBody>
      </p:sp>
      <p:sp>
        <p:nvSpPr>
          <p:cNvPr id="9" name="Text 7"/>
          <p:cNvSpPr/>
          <p:nvPr/>
        </p:nvSpPr>
        <p:spPr>
          <a:xfrm>
            <a:off x="457200" y="1426464"/>
            <a:ext cx="3611880" cy="3154680"/>
          </a:xfrm>
          <a:prstGeom prst="rect">
            <a:avLst/>
          </a:prstGeom>
          <a:noFill/>
        </p:spPr>
        <p:txBody>
          <a:bodyPr wrap="square" rtlCol="0" anchor="t"/>
          <a:lstStyle/>
          <a:p>
            <a:pPr marL="342900" indent="-342900">
              <a:buSzPct val="100000"/>
              <a:buChar char="•"/>
            </a:pPr>
            <a:r>
              <a:rPr lang="en-US" sz="1150" dirty="0">
                <a:solidFill>
                  <a:srgbClr val="1C2C24"/>
                </a:solidFill>
                <a:latin typeface="Calibri" panose="020F0502020204030204" pitchFamily="34" charset="0"/>
                <a:ea typeface="Calibri" panose="020F0502020204030204" pitchFamily="34" charset="-122"/>
                <a:cs typeface="Calibri" panose="020F0502020204030204" pitchFamily="34" charset="-120"/>
              </a:rPr>
              <a:t>Kaggle dataset may not fully represent real-world geographic diversity.</a:t>
            </a:r>
            <a:endParaRPr lang="en-US" sz="1150" dirty="0"/>
          </a:p>
          <a:p>
            <a:pPr marL="342900" indent="-342900">
              <a:buSzPct val="100000"/>
              <a:buChar char="•"/>
            </a:pPr>
            <a:r>
              <a:rPr lang="en-US" sz="1150" dirty="0">
                <a:solidFill>
                  <a:srgbClr val="1C2C24"/>
                </a:solidFill>
                <a:latin typeface="Calibri" panose="020F0502020204030204" pitchFamily="34" charset="0"/>
                <a:ea typeface="Calibri" panose="020F0502020204030204" pitchFamily="34" charset="-122"/>
                <a:cs typeface="Calibri" panose="020F0502020204030204" pitchFamily="34" charset="-120"/>
              </a:rPr>
              <a:t>Small test set (25%) affects statistical reliability of metrics.</a:t>
            </a:r>
            <a:endParaRPr lang="en-US" sz="1150" dirty="0"/>
          </a:p>
          <a:p>
            <a:pPr marL="342900" indent="-342900">
              <a:buSzPct val="100000"/>
              <a:buChar char="•"/>
            </a:pPr>
            <a:r>
              <a:rPr lang="en-US" sz="1150" dirty="0">
                <a:solidFill>
                  <a:srgbClr val="1C2C24"/>
                </a:solidFill>
                <a:latin typeface="Calibri" panose="020F0502020204030204" pitchFamily="34" charset="0"/>
                <a:ea typeface="Calibri" panose="020F0502020204030204" pitchFamily="34" charset="-122"/>
                <a:cs typeface="Calibri" panose="020F0502020204030204" pitchFamily="34" charset="-120"/>
              </a:rPr>
              <a:t>ANN (MLP) failed to converge within 1,000 iterations — needs more data/epochs.</a:t>
            </a:r>
            <a:endParaRPr lang="en-US" sz="1150" dirty="0"/>
          </a:p>
          <a:p>
            <a:pPr marL="342900" indent="-342900">
              <a:buSzPct val="100000"/>
              <a:buChar char="•"/>
            </a:pPr>
            <a:r>
              <a:rPr lang="en-US" sz="1150" dirty="0">
                <a:solidFill>
                  <a:srgbClr val="1C2C24"/>
                </a:solidFill>
                <a:latin typeface="Calibri" panose="020F0502020204030204" pitchFamily="34" charset="0"/>
                <a:ea typeface="Calibri" panose="020F0502020204030204" pitchFamily="34" charset="-122"/>
                <a:cs typeface="Calibri" panose="020F0502020204030204" pitchFamily="34" charset="-120"/>
              </a:rPr>
              <a:t>No dynamic / real-time IoT or satellite data integration.</a:t>
            </a:r>
            <a:endParaRPr lang="en-US" sz="1150" dirty="0"/>
          </a:p>
          <a:p>
            <a:pPr marL="342900" indent="-342900">
              <a:buSzPct val="100000"/>
              <a:buChar char="•"/>
            </a:pPr>
            <a:r>
              <a:rPr lang="en-US" sz="1150" dirty="0" smtClean="0">
                <a:solidFill>
                  <a:srgbClr val="1C2C24"/>
                </a:solidFill>
                <a:latin typeface="Calibri" panose="020F0502020204030204" pitchFamily="34" charset="0"/>
                <a:ea typeface="Calibri" panose="020F0502020204030204" pitchFamily="34" charset="-122"/>
                <a:cs typeface="Calibri" panose="020F0502020204030204" pitchFamily="34" charset="-120"/>
              </a:rPr>
              <a:t>Fixed </a:t>
            </a:r>
            <a:r>
              <a:rPr lang="en-US" sz="1150" dirty="0">
                <a:solidFill>
                  <a:srgbClr val="1C2C24"/>
                </a:solidFill>
                <a:latin typeface="Calibri" panose="020F0502020204030204" pitchFamily="34" charset="0"/>
                <a:ea typeface="Calibri" panose="020F0502020204030204" pitchFamily="34" charset="-122"/>
                <a:cs typeface="Calibri" panose="020F0502020204030204" pitchFamily="34" charset="-120"/>
              </a:rPr>
              <a:t>5 fertilizer classes — cannot recommend custom blends or dosage amounts.</a:t>
            </a:r>
            <a:endParaRPr lang="en-US" sz="1150" dirty="0"/>
          </a:p>
        </p:txBody>
      </p:sp>
      <p:sp>
        <p:nvSpPr>
          <p:cNvPr id="10" name="Shape 8"/>
          <p:cNvSpPr/>
          <p:nvPr/>
        </p:nvSpPr>
        <p:spPr>
          <a:xfrm>
            <a:off x="4343400" y="1005840"/>
            <a:ext cx="4480560" cy="3675888"/>
          </a:xfrm>
          <a:prstGeom prst="rect">
            <a:avLst/>
          </a:prstGeom>
          <a:solidFill>
            <a:srgbClr val="FFFFFF"/>
          </a:solidFill>
          <a:effectLst>
            <a:outerShdw blurRad="101600" dist="38100" dir="8100000" algn="bl" rotWithShape="0">
              <a:srgbClr val="000000">
                <a:alpha val="12000"/>
              </a:srgbClr>
            </a:outerShdw>
          </a:effectLst>
        </p:spPr>
      </p:sp>
      <p:sp>
        <p:nvSpPr>
          <p:cNvPr id="11" name="Shape 9"/>
          <p:cNvSpPr/>
          <p:nvPr/>
        </p:nvSpPr>
        <p:spPr>
          <a:xfrm>
            <a:off x="4343400" y="1005840"/>
            <a:ext cx="4480560" cy="347472"/>
          </a:xfrm>
          <a:prstGeom prst="rect">
            <a:avLst/>
          </a:prstGeom>
          <a:solidFill>
            <a:srgbClr val="1A4731"/>
          </a:solidFill>
        </p:spPr>
      </p:sp>
      <p:sp>
        <p:nvSpPr>
          <p:cNvPr id="12" name="Text 10"/>
          <p:cNvSpPr/>
          <p:nvPr/>
        </p:nvSpPr>
        <p:spPr>
          <a:xfrm>
            <a:off x="4343400" y="1005840"/>
            <a:ext cx="4480560" cy="347472"/>
          </a:xfrm>
          <a:prstGeom prst="rect">
            <a:avLst/>
          </a:prstGeom>
          <a:noFill/>
        </p:spPr>
        <p:txBody>
          <a:bodyPr wrap="square" rtlCol="0" anchor="ctr"/>
          <a:lstStyle/>
          <a:p>
            <a:pPr marL="0" indent="0" algn="ctr">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Conclusion</a:t>
            </a:r>
            <a:endParaRPr lang="en-US" sz="1400" dirty="0"/>
          </a:p>
        </p:txBody>
      </p:sp>
      <p:sp>
        <p:nvSpPr>
          <p:cNvPr id="13" name="Shape 11"/>
          <p:cNvSpPr/>
          <p:nvPr/>
        </p:nvSpPr>
        <p:spPr>
          <a:xfrm>
            <a:off x="4462272" y="1426464"/>
            <a:ext cx="4251960" cy="685800"/>
          </a:xfrm>
          <a:prstGeom prst="rect">
            <a:avLst/>
          </a:prstGeom>
          <a:solidFill>
            <a:srgbClr val="1A4731"/>
          </a:solidFill>
          <a:effectLst>
            <a:outerShdw blurRad="101600" dist="38100" dir="8100000" algn="bl" rotWithShape="0">
              <a:srgbClr val="000000">
                <a:alpha val="12000"/>
              </a:srgbClr>
            </a:outerShdw>
          </a:effectLst>
        </p:spPr>
      </p:sp>
      <p:sp>
        <p:nvSpPr>
          <p:cNvPr id="14" name="Text 12"/>
          <p:cNvSpPr/>
          <p:nvPr/>
        </p:nvSpPr>
        <p:spPr>
          <a:xfrm>
            <a:off x="4462272" y="1426464"/>
            <a:ext cx="4251960" cy="685800"/>
          </a:xfrm>
          <a:prstGeom prst="rect">
            <a:avLst/>
          </a:prstGeom>
          <a:noFill/>
        </p:spPr>
        <p:txBody>
          <a:bodyPr wrap="square" rtlCol="0" anchor="ctr"/>
          <a:lstStyle/>
          <a:p>
            <a:pPr marL="0" indent="0" algn="ctr">
              <a:buNone/>
            </a:pPr>
            <a:r>
              <a:rPr lang="en-US" sz="1200" b="1" dirty="0">
                <a:solidFill>
                  <a:srgbClr val="E8B84B"/>
                </a:solidFill>
                <a:latin typeface="Georgia" panose="02040502050405020303" pitchFamily="34" charset="0"/>
                <a:ea typeface="Georgia" panose="02040502050405020303" pitchFamily="34" charset="-122"/>
                <a:cs typeface="Georgia" panose="02040502050405020303" pitchFamily="34" charset="-120"/>
              </a:rPr>
              <a:t>Best Model: Decision Tree (Original) — 92.11% Test Accuracy</a:t>
            </a:r>
            <a:endParaRPr lang="en-US" sz="1200" dirty="0"/>
          </a:p>
          <a:p>
            <a:pPr marL="0" indent="0" algn="ctr">
              <a:buNone/>
            </a:pPr>
            <a:r>
              <a:rPr lang="en-US" sz="1200" b="1" dirty="0">
                <a:solidFill>
                  <a:srgbClr val="E8B84B"/>
                </a:solidFill>
                <a:latin typeface="Georgia" panose="02040502050405020303" pitchFamily="34" charset="0"/>
                <a:ea typeface="Georgia" panose="02040502050405020303" pitchFamily="34" charset="-122"/>
                <a:cs typeface="Georgia" panose="02040502050405020303" pitchFamily="34" charset="-120"/>
              </a:rPr>
              <a:t>GridSearchCV CV Accuracy: 98.20%</a:t>
            </a:r>
            <a:endParaRPr lang="en-US" sz="1200" dirty="0"/>
          </a:p>
        </p:txBody>
      </p:sp>
      <p:sp>
        <p:nvSpPr>
          <p:cNvPr id="15" name="Text 13"/>
          <p:cNvSpPr/>
          <p:nvPr/>
        </p:nvSpPr>
        <p:spPr>
          <a:xfrm>
            <a:off x="4480560" y="2194560"/>
            <a:ext cx="4206240" cy="1097280"/>
          </a:xfrm>
          <a:prstGeom prst="rect">
            <a:avLst/>
          </a:prstGeom>
          <a:noFill/>
        </p:spPr>
        <p:txBody>
          <a:bodyPr wrap="square" rtlCol="0" anchor="t"/>
          <a:lstStyle/>
          <a:p>
            <a:pPr marL="342900" indent="-342900">
              <a:buSzPct val="100000"/>
              <a:buChar char="•"/>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Label Encoding + StandardScaler are essential for fair evaluation.</a:t>
            </a:r>
            <a:endParaRPr lang="en-US" sz="1100" dirty="0"/>
          </a:p>
          <a:p>
            <a:pPr marL="342900" indent="-342900">
              <a:buSzPct val="100000"/>
              <a:buChar char="•"/>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Decision Tree provides interpretability valuable for agricultural advisory systems.</a:t>
            </a:r>
            <a:endParaRPr lang="en-US" sz="1100" dirty="0"/>
          </a:p>
          <a:p>
            <a:pPr marL="342900" indent="-342900">
              <a:buSzPct val="100000"/>
              <a:buChar char="•"/>
            </a:pPr>
            <a:r>
              <a:rPr lang="en-US" sz="1100" dirty="0">
                <a:solidFill>
                  <a:srgbClr val="1C2C24"/>
                </a:solidFill>
                <a:latin typeface="Calibri" panose="020F0502020204030204" pitchFamily="34" charset="0"/>
                <a:ea typeface="Calibri" panose="020F0502020204030204" pitchFamily="34" charset="-122"/>
                <a:cs typeface="Calibri" panose="020F0502020204030204" pitchFamily="34" charset="-120"/>
              </a:rPr>
              <a:t>System offers scalable, data-driven precision agriculture with evidence-based decisions.</a:t>
            </a:r>
            <a:endParaRPr lang="en-US" sz="1100" dirty="0"/>
          </a:p>
        </p:txBody>
      </p:sp>
      <p:sp>
        <p:nvSpPr>
          <p:cNvPr id="16" name="Shape 14"/>
          <p:cNvSpPr/>
          <p:nvPr/>
        </p:nvSpPr>
        <p:spPr>
          <a:xfrm>
            <a:off x="4462272" y="3364992"/>
            <a:ext cx="4251960" cy="1170432"/>
          </a:xfrm>
          <a:prstGeom prst="rect">
            <a:avLst/>
          </a:prstGeom>
          <a:solidFill>
            <a:srgbClr val="F5F9F6"/>
          </a:solidFill>
          <a:ln w="12700">
            <a:solidFill>
              <a:srgbClr val="A8D5B5"/>
            </a:solidFill>
            <a:prstDash val="solid"/>
          </a:ln>
        </p:spPr>
      </p:sp>
      <p:sp>
        <p:nvSpPr>
          <p:cNvPr id="17" name="Text 15"/>
          <p:cNvSpPr/>
          <p:nvPr/>
        </p:nvSpPr>
        <p:spPr>
          <a:xfrm>
            <a:off x="4526280" y="3401568"/>
            <a:ext cx="4114800" cy="274320"/>
          </a:xfrm>
          <a:prstGeom prst="rect">
            <a:avLst/>
          </a:prstGeom>
          <a:noFill/>
        </p:spPr>
        <p:txBody>
          <a:bodyPr wrap="square" rtlCol="0" anchor="ctr"/>
          <a:lstStyle/>
          <a:p>
            <a:pPr marL="0" indent="0">
              <a:buNone/>
            </a:pPr>
            <a:r>
              <a:rPr lang="en-US" sz="1100" b="1" dirty="0">
                <a:solidFill>
                  <a:srgbClr val="276749"/>
                </a:solidFill>
                <a:latin typeface="Calibri" panose="020F0502020204030204" pitchFamily="34" charset="0"/>
                <a:ea typeface="Calibri" panose="020F0502020204030204" pitchFamily="34" charset="-122"/>
                <a:cs typeface="Calibri" panose="020F0502020204030204" pitchFamily="34" charset="-120"/>
              </a:rPr>
              <a:t>Future Work</a:t>
            </a:r>
            <a:endParaRPr lang="en-US" sz="1100" dirty="0"/>
          </a:p>
        </p:txBody>
      </p:sp>
      <p:sp>
        <p:nvSpPr>
          <p:cNvPr id="18" name="Text 16"/>
          <p:cNvSpPr/>
          <p:nvPr/>
        </p:nvSpPr>
        <p:spPr>
          <a:xfrm>
            <a:off x="4526280" y="3694176"/>
            <a:ext cx="4114800" cy="804672"/>
          </a:xfrm>
          <a:prstGeom prst="rect">
            <a:avLst/>
          </a:prstGeom>
          <a:noFill/>
        </p:spPr>
        <p:txBody>
          <a:bodyPr wrap="square" rtlCol="0" anchor="t"/>
          <a:lstStyle/>
          <a:p>
            <a:pPr marL="342900" indent="-342900">
              <a:buSzPct val="100000"/>
              <a:buChar char="•"/>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Expand dataset with diverse geographical/seasonal records</a:t>
            </a:r>
            <a:endParaRPr lang="en-US" sz="1000" dirty="0"/>
          </a:p>
          <a:p>
            <a:pPr marL="342900" indent="-342900">
              <a:buSzPct val="100000"/>
              <a:buChar char="•"/>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Integrate IoT/satellite data for real-time inputs</a:t>
            </a:r>
            <a:endParaRPr lang="en-US" sz="1000" dirty="0"/>
          </a:p>
          <a:p>
            <a:pPr marL="342900" indent="-342900">
              <a:buSzPct val="100000"/>
              <a:buChar char="•"/>
            </a:pPr>
            <a:r>
              <a:rPr lang="en-US" sz="1000" dirty="0">
                <a:solidFill>
                  <a:srgbClr val="1C2C24"/>
                </a:solidFill>
                <a:latin typeface="Calibri" panose="020F0502020204030204" pitchFamily="34" charset="0"/>
                <a:ea typeface="Calibri" panose="020F0502020204030204" pitchFamily="34" charset="-122"/>
                <a:cs typeface="Calibri" panose="020F0502020204030204" pitchFamily="34" charset="-120"/>
              </a:rPr>
              <a:t>Deploy as mobile/web app for farmers</a:t>
            </a:r>
            <a:endParaRPr lang="en-US" sz="1000" dirty="0"/>
          </a:p>
          <a:p>
            <a:pPr marL="342900" indent="-342900">
              <a:buSzPct val="100000"/>
            </a:pP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457200" y="3200400"/>
            <a:ext cx="3200400" cy="3200400"/>
          </a:xfrm>
          <a:prstGeom prst="ellipse">
            <a:avLst/>
          </a:prstGeom>
          <a:solidFill>
            <a:srgbClr val="276749">
              <a:alpha val="45000"/>
            </a:srgbClr>
          </a:solidFill>
        </p:spPr>
      </p:sp>
      <p:sp>
        <p:nvSpPr>
          <p:cNvPr id="3" name="Shape 1"/>
          <p:cNvSpPr/>
          <p:nvPr/>
        </p:nvSpPr>
        <p:spPr>
          <a:xfrm>
            <a:off x="7315200" y="-731520"/>
            <a:ext cx="2743200" cy="2743200"/>
          </a:xfrm>
          <a:prstGeom prst="ellipse">
            <a:avLst/>
          </a:prstGeom>
          <a:solidFill>
            <a:srgbClr val="276749">
              <a:alpha val="50000"/>
            </a:srgbClr>
          </a:solidFill>
        </p:spPr>
      </p:sp>
      <p:sp>
        <p:nvSpPr>
          <p:cNvPr id="4" name="Shape 2"/>
          <p:cNvSpPr/>
          <p:nvPr/>
        </p:nvSpPr>
        <p:spPr>
          <a:xfrm>
            <a:off x="0" y="0"/>
            <a:ext cx="9144000" cy="457200"/>
          </a:xfrm>
          <a:prstGeom prst="rect">
            <a:avLst/>
          </a:prstGeom>
          <a:solidFill>
            <a:srgbClr val="276749"/>
          </a:solidFill>
        </p:spPr>
      </p:sp>
      <p:sp>
        <p:nvSpPr>
          <p:cNvPr id="5" name="Text 3"/>
          <p:cNvSpPr/>
          <p:nvPr/>
        </p:nvSpPr>
        <p:spPr>
          <a:xfrm>
            <a:off x="182880" y="0"/>
            <a:ext cx="8778240" cy="457200"/>
          </a:xfrm>
          <a:prstGeom prst="rect">
            <a:avLst/>
          </a:prstGeom>
          <a:noFill/>
        </p:spPr>
        <p:txBody>
          <a:bodyPr wrap="square" rtlCol="0" anchor="ctr"/>
          <a:lstStyle/>
          <a:p>
            <a:pPr marL="0" indent="0" algn="ctr">
              <a:buNone/>
            </a:pPr>
            <a:r>
              <a:rPr lang="en-US" sz="900" b="1" dirty="0">
                <a:solidFill>
                  <a:srgbClr val="A8D5B5"/>
                </a:solidFill>
                <a:latin typeface="Calibri" panose="020F0502020204030204" pitchFamily="34" charset="0"/>
                <a:ea typeface="Calibri" panose="020F0502020204030204" pitchFamily="34" charset="-122"/>
                <a:cs typeface="Calibri" panose="020F0502020204030204" pitchFamily="34" charset="-120"/>
              </a:rPr>
              <a:t>EAI421 — APPLICATION OF ARTIFICIAL INTELLIGENCE AND MACHINE LEARNING</a:t>
            </a:r>
            <a:endParaRPr lang="en-US" sz="900" dirty="0"/>
          </a:p>
        </p:txBody>
      </p:sp>
      <p:sp>
        <p:nvSpPr>
          <p:cNvPr id="6" name="Text 4"/>
          <p:cNvSpPr/>
          <p:nvPr/>
        </p:nvSpPr>
        <p:spPr>
          <a:xfrm>
            <a:off x="914400" y="914400"/>
            <a:ext cx="7315200" cy="1097280"/>
          </a:xfrm>
          <a:prstGeom prst="rect">
            <a:avLst/>
          </a:prstGeom>
          <a:noFill/>
        </p:spPr>
        <p:txBody>
          <a:bodyPr wrap="square" rtlCol="0" anchor="ctr"/>
          <a:lstStyle/>
          <a:p>
            <a:pPr marL="0" indent="0" algn="ctr">
              <a:buNone/>
            </a:pPr>
            <a:r>
              <a:rPr lang="en-US" sz="5200" b="1" dirty="0">
                <a:solidFill>
                  <a:srgbClr val="FFFFFF"/>
                </a:solidFill>
                <a:latin typeface="Georgia" panose="02040502050405020303" pitchFamily="34" charset="0"/>
                <a:ea typeface="Georgia" panose="02040502050405020303" pitchFamily="34" charset="-122"/>
                <a:cs typeface="Georgia" panose="02040502050405020303" pitchFamily="34" charset="-120"/>
              </a:rPr>
              <a:t>Thank You!</a:t>
            </a:r>
            <a:endParaRPr lang="en-US" sz="5200" dirty="0"/>
          </a:p>
        </p:txBody>
      </p:sp>
      <p:sp>
        <p:nvSpPr>
          <p:cNvPr id="7" name="Shape 5"/>
          <p:cNvSpPr/>
          <p:nvPr/>
        </p:nvSpPr>
        <p:spPr>
          <a:xfrm>
            <a:off x="3200400" y="2011680"/>
            <a:ext cx="2743200" cy="64008"/>
          </a:xfrm>
          <a:prstGeom prst="rect">
            <a:avLst/>
          </a:prstGeom>
          <a:solidFill>
            <a:srgbClr val="E8B84B"/>
          </a:solidFill>
        </p:spPr>
      </p:sp>
      <p:sp>
        <p:nvSpPr>
          <p:cNvPr id="8" name="Text 6"/>
          <p:cNvSpPr/>
          <p:nvPr/>
        </p:nvSpPr>
        <p:spPr>
          <a:xfrm>
            <a:off x="914400" y="2194560"/>
            <a:ext cx="7315200" cy="685800"/>
          </a:xfrm>
          <a:prstGeom prst="rect">
            <a:avLst/>
          </a:prstGeom>
          <a:noFill/>
        </p:spPr>
        <p:txBody>
          <a:bodyPr wrap="square" rtlCol="0" anchor="ctr"/>
          <a:lstStyle/>
          <a:p>
            <a:pPr marL="0" indent="0" algn="ctr">
              <a:buNone/>
            </a:pPr>
            <a:r>
              <a:rPr lang="en-US" sz="1300" dirty="0">
                <a:solidFill>
                  <a:srgbClr val="A8D5B5"/>
                </a:solidFill>
                <a:latin typeface="Calibri" panose="020F0502020204030204" pitchFamily="34" charset="0"/>
                <a:ea typeface="Calibri" panose="020F0502020204030204" pitchFamily="34" charset="-122"/>
                <a:cs typeface="Calibri" panose="020F0502020204030204" pitchFamily="34" charset="-120"/>
              </a:rPr>
              <a:t>Fertilizer Recommendation Based on Temperature, Rainfall,</a:t>
            </a:r>
            <a:endParaRPr lang="en-US" sz="1300" dirty="0"/>
          </a:p>
          <a:p>
            <a:pPr marL="0" indent="0" algn="ctr">
              <a:buNone/>
            </a:pPr>
            <a:r>
              <a:rPr lang="en-US" sz="1300" dirty="0">
                <a:solidFill>
                  <a:srgbClr val="A8D5B5"/>
                </a:solidFill>
                <a:latin typeface="Calibri" panose="020F0502020204030204" pitchFamily="34" charset="0"/>
                <a:ea typeface="Calibri" panose="020F0502020204030204" pitchFamily="34" charset="-122"/>
                <a:cs typeface="Calibri" panose="020F0502020204030204" pitchFamily="34" charset="-120"/>
              </a:rPr>
              <a:t>Humidity, Soil Type, Crop Type and NPK</a:t>
            </a:r>
            <a:endParaRPr lang="en-US" sz="1300" dirty="0"/>
          </a:p>
        </p:txBody>
      </p:sp>
      <p:sp>
        <p:nvSpPr>
          <p:cNvPr id="9" name="Text 7"/>
          <p:cNvSpPr/>
          <p:nvPr/>
        </p:nvSpPr>
        <p:spPr>
          <a:xfrm>
            <a:off x="1371600" y="2999232"/>
            <a:ext cx="6400800" cy="640080"/>
          </a:xfrm>
          <a:prstGeom prst="rect">
            <a:avLst/>
          </a:prstGeom>
          <a:noFill/>
        </p:spPr>
        <p:txBody>
          <a:bodyPr wrap="square" rtlCol="0" anchor="ctr"/>
          <a:lstStyle/>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Sindhushree K  (AMB2250)   |   Suma K M  (AMB2271)</a:t>
            </a:r>
            <a:endParaRPr lang="en-US" sz="12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VI B.Sc. (Hons.) Agriculture  —  COA, GKVK, Bangalore-65</a:t>
            </a:r>
            <a:endParaRPr lang="en-US" sz="1200" dirty="0"/>
          </a:p>
        </p:txBody>
      </p:sp>
      <p:sp>
        <p:nvSpPr>
          <p:cNvPr id="10" name="Shape 8"/>
          <p:cNvSpPr/>
          <p:nvPr/>
        </p:nvSpPr>
        <p:spPr>
          <a:xfrm>
            <a:off x="2011680" y="3749040"/>
            <a:ext cx="5120640" cy="804672"/>
          </a:xfrm>
          <a:prstGeom prst="rect">
            <a:avLst/>
          </a:prstGeom>
          <a:solidFill>
            <a:srgbClr val="276749"/>
          </a:solidFill>
          <a:effectLst>
            <a:outerShdw blurRad="101600" dist="38100" dir="8100000" algn="bl" rotWithShape="0">
              <a:srgbClr val="000000">
                <a:alpha val="12000"/>
              </a:srgbClr>
            </a:outerShdw>
          </a:effectLst>
        </p:spPr>
      </p:sp>
      <p:sp>
        <p:nvSpPr>
          <p:cNvPr id="11" name="Text 9"/>
          <p:cNvSpPr/>
          <p:nvPr/>
        </p:nvSpPr>
        <p:spPr>
          <a:xfrm>
            <a:off x="2011680" y="3749040"/>
            <a:ext cx="5120640" cy="804672"/>
          </a:xfrm>
          <a:prstGeom prst="rect">
            <a:avLst/>
          </a:prstGeom>
          <a:noFill/>
        </p:spPr>
        <p:txBody>
          <a:bodyPr wrap="square" rtlCol="0" anchor="ctr"/>
          <a:lstStyle/>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Guide: Dr. Sailaja Thota</a:t>
            </a:r>
            <a:endParaRPr lang="en-US" sz="1100" dirty="0"/>
          </a:p>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Course Teacher — Application of AI &amp; ML, COA, GKVK</a:t>
            </a:r>
            <a:endParaRPr lang="en-US" sz="1100" dirty="0"/>
          </a:p>
        </p:txBody>
      </p:sp>
      <p:sp>
        <p:nvSpPr>
          <p:cNvPr id="12" name="Shape 10"/>
          <p:cNvSpPr/>
          <p:nvPr/>
        </p:nvSpPr>
        <p:spPr>
          <a:xfrm>
            <a:off x="0" y="4846320"/>
            <a:ext cx="9144000" cy="292608"/>
          </a:xfrm>
          <a:prstGeom prst="rect">
            <a:avLst/>
          </a:prstGeom>
          <a:solidFill>
            <a:srgbClr val="276749"/>
          </a:solidFill>
        </p:spPr>
      </p:sp>
      <p:sp>
        <p:nvSpPr>
          <p:cNvPr id="13" name="Text 11"/>
          <p:cNvSpPr/>
          <p:nvPr/>
        </p:nvSpPr>
        <p:spPr>
          <a:xfrm>
            <a:off x="182880" y="4846320"/>
            <a:ext cx="8778240" cy="292608"/>
          </a:xfrm>
          <a:prstGeom prst="rect">
            <a:avLst/>
          </a:prstGeom>
          <a:noFill/>
        </p:spPr>
        <p:txBody>
          <a:bodyPr wrap="square" rtlCol="0" anchor="ctr"/>
          <a:lstStyle/>
          <a:p>
            <a:pPr marL="0" indent="0" algn="ctr">
              <a:buNone/>
            </a:pPr>
            <a:r>
              <a:rPr lang="en-US" sz="900" dirty="0">
                <a:solidFill>
                  <a:srgbClr val="A8D5B5"/>
                </a:solidFill>
                <a:latin typeface="Calibri" panose="020F0502020204030204" pitchFamily="34" charset="0"/>
                <a:ea typeface="Calibri" panose="020F0502020204030204" pitchFamily="34" charset="-122"/>
                <a:cs typeface="Calibri" panose="020F0502020204030204" pitchFamily="34" charset="-120"/>
              </a:rPr>
              <a:t>University of Agricultural Sciences, Bangalore-560065  |  Date: 15-04-2026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1840</Words>
  <Application>Microsoft Office PowerPoint</Application>
  <PresentationFormat>On-screen Show (16:9)</PresentationFormat>
  <Paragraphs>403</Paragraphs>
  <Slides>17</Slides>
  <Notes>14</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Fertilizer Recommendation System</dc:title>
  <dc:subject>PptxGenJS Presentation</dc:subject>
  <dc:creator>PptxGenJS</dc:creator>
  <cp:lastModifiedBy>CSL--33</cp:lastModifiedBy>
  <cp:revision>20</cp:revision>
  <dcterms:created xsi:type="dcterms:W3CDTF">2026-04-15T12:47:00Z</dcterms:created>
  <dcterms:modified xsi:type="dcterms:W3CDTF">2026-04-16T05:56:21Z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91175137A14B4D0CA919588064E13353_13</vt:lpwstr>
  </property>
</Properties>
</file>